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A Team, and this is our capstone project, Komunitas. This short deck covers how we set up our new workspace, secured and checked the app, and put the latest version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Komunitas is a mobile-first web app for local social activities: running, reading, cycling, badminton, basketball and community gatherings. Location privacy is built in; live GPS is only used at request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update in four steps. We'll go through each one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new device we installed Git and Node.js, connected GitHub and Vercel, and pulled the project's settings securely. Secret keys stay on this machine and on Vercel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upgraded Next.js from 16.2.6 to 16.3.6, which cleared the critical and high security warnings. Two moderate warnings remain inside a spreadsheet library and don't affect how we use it. We also restored code checks, which the framework upgrade had broken, and fixed the two real errors they found. Then we built and tested the full site before deploying.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version is live on komunitasa.vercel.app. Scan the QR code to try it on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are welcome, and please give Komunitas a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31520" y="731520"/>
            <a:ext cx="1005840" cy="1005840"/>
          </a:xfrm>
          <a:prstGeom prst="rect">
            <a:avLst/>
          </a:prstGeom>
        </p:spPr>
      </p:pic>
      <p:sp>
        <p:nvSpPr>
          <p:cNvPr id="3" name="Text 0"/>
          <p:cNvSpPr txBox="1"/>
          <p:nvPr/>
        </p:nvSpPr>
        <p:spPr>
          <a:xfrm>
            <a:off x="731520" y="2331720"/>
            <a:ext cx="9144000" cy="457200"/>
          </a:xfrm>
          <a:prstGeom prst="rect">
            <a:avLst/>
          </a:prstGeom>
          <a:noFill/>
          <a:ln/>
        </p:spPr>
        <p:txBody>
          <a:bodyPr wrap="square" lIns="0" tIns="0" rIns="0" bIns="0" rtlCol="0" anchor="ctr"/>
          <a:lstStyle/>
          <a:p>
            <a:pPr indent="0" marL="0">
              <a:buNone/>
            </a:pPr>
            <a:r>
              <a:rPr lang="en-US" sz="2000" b="1" spc="600" kern="0" dirty="0">
                <a:solidFill>
                  <a:srgbClr val="FED7AA"/>
                </a:solidFill>
                <a:latin typeface="Arial" pitchFamily="34" charset="0"/>
                <a:ea typeface="Arial" pitchFamily="34" charset="-122"/>
                <a:cs typeface="Arial" pitchFamily="34" charset="-120"/>
              </a:rPr>
              <a:t>CAPSTONE PROJECT</a:t>
            </a:r>
            <a:endParaRPr lang="en-US" sz="2000" dirty="0"/>
          </a:p>
        </p:txBody>
      </p:sp>
      <p:sp>
        <p:nvSpPr>
          <p:cNvPr id="4" name="Text 1"/>
          <p:cNvSpPr txBox="1"/>
          <p:nvPr/>
        </p:nvSpPr>
        <p:spPr>
          <a:xfrm>
            <a:off x="731520" y="2743200"/>
            <a:ext cx="10058400" cy="1463040"/>
          </a:xfrm>
          <a:prstGeom prst="rect">
            <a:avLst/>
          </a:prstGeom>
          <a:noFill/>
          <a:ln/>
        </p:spPr>
        <p:txBody>
          <a:bodyPr wrap="square" lIns="0" tIns="0" rIns="0" bIns="0" rtlCol="0" anchor="ctr"/>
          <a:lstStyle/>
          <a:p>
            <a:pPr indent="0" marL="0">
              <a:buNone/>
            </a:pPr>
            <a:r>
              <a:rPr lang="en-US" sz="9600" b="1" dirty="0">
                <a:solidFill>
                  <a:srgbClr val="FFF8ED"/>
                </a:solidFill>
                <a:latin typeface="Arial" pitchFamily="34" charset="0"/>
                <a:ea typeface="Arial" pitchFamily="34" charset="-122"/>
                <a:cs typeface="Arial" pitchFamily="34" charset="-120"/>
              </a:rPr>
              <a:t>A Team</a:t>
            </a:r>
            <a:endParaRPr lang="en-US" sz="9600" dirty="0"/>
          </a:p>
        </p:txBody>
      </p:sp>
      <p:sp>
        <p:nvSpPr>
          <p:cNvPr id="5" name="Text 2"/>
          <p:cNvSpPr txBox="1"/>
          <p:nvPr/>
        </p:nvSpPr>
        <p:spPr>
          <a:xfrm>
            <a:off x="731520" y="4297680"/>
            <a:ext cx="9601200" cy="548640"/>
          </a:xfrm>
          <a:prstGeom prst="rect">
            <a:avLst/>
          </a:prstGeom>
          <a:noFill/>
          <a:ln/>
        </p:spPr>
        <p:txBody>
          <a:bodyPr wrap="square" lIns="0" tIns="0" rIns="0" bIns="0" rtlCol="0" anchor="ctr"/>
          <a:lstStyle/>
          <a:p>
            <a:pPr indent="0" marL="0">
              <a:buNone/>
            </a:pPr>
            <a:r>
              <a:rPr lang="en-US" sz="2200" dirty="0">
                <a:solidFill>
                  <a:srgbClr val="FFF8ED"/>
                </a:solidFill>
                <a:latin typeface="Arial" pitchFamily="34" charset="0"/>
                <a:ea typeface="Arial" pitchFamily="34" charset="-122"/>
                <a:cs typeface="Arial" pitchFamily="34" charset="-120"/>
              </a:rPr>
              <a:t>Komunitas: our community activity platform is set up, secured and live.</a:t>
            </a:r>
            <a:endParaRPr lang="en-US" sz="2200" dirty="0"/>
          </a:p>
        </p:txBody>
      </p:sp>
      <p:sp>
        <p:nvSpPr>
          <p:cNvPr id="6" name="Text 3"/>
          <p:cNvSpPr txBox="1"/>
          <p:nvPr/>
        </p:nvSpPr>
        <p:spPr>
          <a:xfrm>
            <a:off x="731520" y="5897880"/>
            <a:ext cx="9144000" cy="365760"/>
          </a:xfrm>
          <a:prstGeom prst="rect">
            <a:avLst/>
          </a:prstGeom>
          <a:noFill/>
          <a:ln/>
        </p:spPr>
        <p:txBody>
          <a:bodyPr wrap="square" lIns="0" tIns="0" rIns="0" bIns="0" rtlCol="0" anchor="ctr"/>
          <a:lstStyle/>
          <a:p>
            <a:pPr indent="0" marL="0">
              <a:buNone/>
            </a:pPr>
            <a:r>
              <a:rPr lang="en-US" sz="1600" b="1" dirty="0">
                <a:solidFill>
                  <a:srgbClr val="FED7AA"/>
                </a:solidFill>
                <a:latin typeface="Arial" pitchFamily="34" charset="0"/>
                <a:ea typeface="Arial" pitchFamily="34" charset="-122"/>
                <a:cs typeface="Arial" pitchFamily="34" charset="-120"/>
              </a:rPr>
              <a:t>komunitasa.vercel.app   ·   28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MEET KOMUNITAS</a:t>
            </a:r>
            <a:endParaRPr lang="en-US" sz="1300" dirty="0"/>
          </a:p>
        </p:txBody>
      </p:sp>
      <p:sp>
        <p:nvSpPr>
          <p:cNvPr id="3" name="Text 1"/>
          <p:cNvSpPr txBox="1"/>
          <p:nvPr/>
        </p:nvSpPr>
        <p:spPr>
          <a:xfrm>
            <a:off x="640080" y="822960"/>
            <a:ext cx="10881360" cy="731520"/>
          </a:xfrm>
          <a:prstGeom prst="rect">
            <a:avLst/>
          </a:prstGeom>
          <a:noFill/>
          <a:ln/>
        </p:spPr>
        <p:txBody>
          <a:bodyPr wrap="square" lIns="0" tIns="0" rIns="0" bIns="0" rtlCol="0" anchor="ctr"/>
          <a:lstStyle/>
          <a:p>
            <a:pPr indent="0" marL="0">
              <a:buNone/>
            </a:pPr>
            <a:r>
              <a:rPr lang="en-US" sz="3600" b="1" dirty="0">
                <a:solidFill>
                  <a:srgbClr val="292524"/>
                </a:solidFill>
                <a:latin typeface="Arial" pitchFamily="34" charset="0"/>
                <a:ea typeface="Arial" pitchFamily="34" charset="-122"/>
                <a:cs typeface="Arial" pitchFamily="34" charset="-120"/>
              </a:rPr>
              <a:t>Find, create and join local activities</a:t>
            </a:r>
            <a:endParaRPr lang="en-US" sz="3600" dirty="0"/>
          </a:p>
        </p:txBody>
      </p:sp>
      <p:sp>
        <p:nvSpPr>
          <p:cNvPr id="4" name="Text 2"/>
          <p:cNvSpPr txBox="1"/>
          <p:nvPr/>
        </p:nvSpPr>
        <p:spPr>
          <a:xfrm>
            <a:off x="640080" y="1828800"/>
            <a:ext cx="4937760" cy="3291840"/>
          </a:xfrm>
          <a:prstGeom prst="rect">
            <a:avLst/>
          </a:prstGeom>
          <a:noFill/>
          <a:ln/>
        </p:spPr>
        <p:txBody>
          <a:bodyPr wrap="square" lIns="0" tIns="0" rIns="0" bIns="0" rtlCol="0" anchor="t"/>
          <a:lstStyle/>
          <a:p>
            <a:pPr indent="0" marL="0">
              <a:lnSpc>
                <a:spcPct val="115000"/>
              </a:lnSpc>
              <a:spcAft>
                <a:spcPts val="1400"/>
              </a:spcAft>
              <a:buNone/>
            </a:pPr>
            <a:r>
              <a:rPr lang="en-US" sz="1800" dirty="0">
                <a:solidFill>
                  <a:srgbClr val="44403C"/>
                </a:solidFill>
                <a:latin typeface="Arial" pitchFamily="34" charset="0"/>
                <a:ea typeface="Arial" pitchFamily="34" charset="-122"/>
                <a:cs typeface="Arial" pitchFamily="34" charset="-120"/>
              </a:rPr>
              <a:t>Komunitas helps people discover social activities happening near them, or start their own.</a:t>
            </a:r>
            <a:endParaRPr lang="en-US" sz="1800" dirty="0"/>
          </a:p>
          <a:p>
            <a:pPr indent="0" marL="0">
              <a:lnSpc>
                <a:spcPct val="115000"/>
              </a:lnSpc>
              <a:spcAft>
                <a:spcPts val="1400"/>
              </a:spcAft>
              <a:buNone/>
            </a:pPr>
            <a:r>
              <a:rPr lang="en-US" sz="1800" dirty="0">
                <a:solidFill>
                  <a:srgbClr val="44403C"/>
                </a:solidFill>
                <a:latin typeface="Arial" pitchFamily="34" charset="0"/>
                <a:ea typeface="Arial" pitchFamily="34" charset="-122"/>
                <a:cs typeface="Arial" pitchFamily="34" charset="-120"/>
              </a:rPr>
              <a:t>Browse what's on within 20 km, join in one tap, and share events by link, WhatsApp or QR code.</a:t>
            </a:r>
            <a:endParaRPr lang="en-US" sz="1800" dirty="0"/>
          </a:p>
          <a:p>
            <a:pPr indent="0" marL="0">
              <a:lnSpc>
                <a:spcPct val="115000"/>
              </a:lnSpc>
              <a:buNone/>
            </a:pPr>
            <a:r>
              <a:rPr lang="en-US" sz="1800" b="1" dirty="0">
                <a:solidFill>
                  <a:srgbClr val="C2410C"/>
                </a:solidFill>
                <a:latin typeface="Arial" pitchFamily="34" charset="0"/>
                <a:ea typeface="Arial" pitchFamily="34" charset="-122"/>
                <a:cs typeface="Arial" pitchFamily="34" charset="-120"/>
              </a:rPr>
              <a:t>Your exact location is used only in the moment. It is never stored.</a:t>
            </a:r>
            <a:endParaRPr lang="en-US" sz="1800" dirty="0"/>
          </a:p>
        </p:txBody>
      </p:sp>
      <p:sp>
        <p:nvSpPr>
          <p:cNvPr id="5" name="Shape 3"/>
          <p:cNvSpPr/>
          <p:nvPr/>
        </p:nvSpPr>
        <p:spPr>
          <a:xfrm>
            <a:off x="6172200" y="182880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6" name="Shape 4"/>
          <p:cNvSpPr/>
          <p:nvPr/>
        </p:nvSpPr>
        <p:spPr>
          <a:xfrm>
            <a:off x="6652260" y="2103120"/>
            <a:ext cx="731520" cy="731520"/>
          </a:xfrm>
          <a:prstGeom prst="roundRect">
            <a:avLst>
              <a:gd name="adj" fmla="val 27000"/>
            </a:avLst>
          </a:prstGeom>
          <a:solidFill>
            <a:srgbClr val="F8E8D0"/>
          </a:solidFill>
          <a:ln/>
        </p:spPr>
      </p:sp>
      <p:pic>
        <p:nvPicPr>
          <p:cNvPr id="7" name="Image 0" descr="preencoded.png">    </p:cNvPr>
          <p:cNvPicPr>
            <a:picLocks noChangeAspect="1"/>
          </p:cNvPicPr>
          <p:nvPr/>
        </p:nvPicPr>
        <p:blipFill>
          <a:blip r:embed="rId1"/>
          <a:stretch>
            <a:fillRect/>
          </a:stretch>
        </p:blipFill>
        <p:spPr>
          <a:xfrm>
            <a:off x="6807708" y="2258568"/>
            <a:ext cx="420624" cy="420624"/>
          </a:xfrm>
          <a:prstGeom prst="rect">
            <a:avLst/>
          </a:prstGeom>
        </p:spPr>
      </p:pic>
      <p:sp>
        <p:nvSpPr>
          <p:cNvPr id="8" name="Text 5"/>
          <p:cNvSpPr txBox="1"/>
          <p:nvPr/>
        </p:nvSpPr>
        <p:spPr>
          <a:xfrm>
            <a:off x="6172200" y="297180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Running</a:t>
            </a:r>
            <a:endParaRPr lang="en-US" sz="1500" dirty="0"/>
          </a:p>
        </p:txBody>
      </p:sp>
      <p:sp>
        <p:nvSpPr>
          <p:cNvPr id="9" name="Shape 6"/>
          <p:cNvSpPr/>
          <p:nvPr/>
        </p:nvSpPr>
        <p:spPr>
          <a:xfrm>
            <a:off x="8046720" y="182880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0" name="Shape 7"/>
          <p:cNvSpPr/>
          <p:nvPr/>
        </p:nvSpPr>
        <p:spPr>
          <a:xfrm>
            <a:off x="8526780" y="2103120"/>
            <a:ext cx="731520" cy="731520"/>
          </a:xfrm>
          <a:prstGeom prst="roundRect">
            <a:avLst>
              <a:gd name="adj" fmla="val 27000"/>
            </a:avLst>
          </a:prstGeom>
          <a:solidFill>
            <a:srgbClr val="F8E8D0"/>
          </a:solidFill>
          <a:ln/>
        </p:spPr>
      </p:sp>
      <p:pic>
        <p:nvPicPr>
          <p:cNvPr id="11" name="Image 1" descr="preencoded.png">    </p:cNvPr>
          <p:cNvPicPr>
            <a:picLocks noChangeAspect="1"/>
          </p:cNvPicPr>
          <p:nvPr/>
        </p:nvPicPr>
        <p:blipFill>
          <a:blip r:embed="rId2"/>
          <a:stretch>
            <a:fillRect/>
          </a:stretch>
        </p:blipFill>
        <p:spPr>
          <a:xfrm>
            <a:off x="8682228" y="2258568"/>
            <a:ext cx="420624" cy="420624"/>
          </a:xfrm>
          <a:prstGeom prst="rect">
            <a:avLst/>
          </a:prstGeom>
        </p:spPr>
      </p:pic>
      <p:sp>
        <p:nvSpPr>
          <p:cNvPr id="12" name="Text 8"/>
          <p:cNvSpPr txBox="1"/>
          <p:nvPr/>
        </p:nvSpPr>
        <p:spPr>
          <a:xfrm>
            <a:off x="8046720" y="297180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Reading</a:t>
            </a:r>
            <a:endParaRPr lang="en-US" sz="1500" dirty="0"/>
          </a:p>
        </p:txBody>
      </p:sp>
      <p:sp>
        <p:nvSpPr>
          <p:cNvPr id="13" name="Shape 9"/>
          <p:cNvSpPr/>
          <p:nvPr/>
        </p:nvSpPr>
        <p:spPr>
          <a:xfrm>
            <a:off x="9921240" y="182880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4" name="Shape 10"/>
          <p:cNvSpPr/>
          <p:nvPr/>
        </p:nvSpPr>
        <p:spPr>
          <a:xfrm>
            <a:off x="10401300" y="2103120"/>
            <a:ext cx="731520" cy="731520"/>
          </a:xfrm>
          <a:prstGeom prst="roundRect">
            <a:avLst>
              <a:gd name="adj" fmla="val 27000"/>
            </a:avLst>
          </a:prstGeom>
          <a:solidFill>
            <a:srgbClr val="F8E8D0"/>
          </a:solidFill>
          <a:ln/>
        </p:spPr>
      </p:sp>
      <p:pic>
        <p:nvPicPr>
          <p:cNvPr id="15" name="Image 2" descr="preencoded.png">    </p:cNvPr>
          <p:cNvPicPr>
            <a:picLocks noChangeAspect="1"/>
          </p:cNvPicPr>
          <p:nvPr/>
        </p:nvPicPr>
        <p:blipFill>
          <a:blip r:embed="rId3"/>
          <a:stretch>
            <a:fillRect/>
          </a:stretch>
        </p:blipFill>
        <p:spPr>
          <a:xfrm>
            <a:off x="10556748" y="2258568"/>
            <a:ext cx="420624" cy="420624"/>
          </a:xfrm>
          <a:prstGeom prst="rect">
            <a:avLst/>
          </a:prstGeom>
        </p:spPr>
      </p:pic>
      <p:sp>
        <p:nvSpPr>
          <p:cNvPr id="16" name="Text 11"/>
          <p:cNvSpPr txBox="1"/>
          <p:nvPr/>
        </p:nvSpPr>
        <p:spPr>
          <a:xfrm>
            <a:off x="9921240" y="297180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Cycling</a:t>
            </a:r>
            <a:endParaRPr lang="en-US" sz="1500" dirty="0"/>
          </a:p>
        </p:txBody>
      </p:sp>
      <p:sp>
        <p:nvSpPr>
          <p:cNvPr id="17" name="Shape 12"/>
          <p:cNvSpPr/>
          <p:nvPr/>
        </p:nvSpPr>
        <p:spPr>
          <a:xfrm>
            <a:off x="6172200" y="374904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8" name="Shape 13"/>
          <p:cNvSpPr/>
          <p:nvPr/>
        </p:nvSpPr>
        <p:spPr>
          <a:xfrm>
            <a:off x="6652260" y="4023360"/>
            <a:ext cx="731520" cy="731520"/>
          </a:xfrm>
          <a:prstGeom prst="roundRect">
            <a:avLst>
              <a:gd name="adj" fmla="val 27000"/>
            </a:avLst>
          </a:prstGeom>
          <a:solidFill>
            <a:srgbClr val="F8E8D0"/>
          </a:solidFill>
          <a:ln/>
        </p:spPr>
      </p:sp>
      <p:pic>
        <p:nvPicPr>
          <p:cNvPr id="19" name="Image 3" descr="preencoded.png">    </p:cNvPr>
          <p:cNvPicPr>
            <a:picLocks noChangeAspect="1"/>
          </p:cNvPicPr>
          <p:nvPr/>
        </p:nvPicPr>
        <p:blipFill>
          <a:blip r:embed="rId4"/>
          <a:stretch>
            <a:fillRect/>
          </a:stretch>
        </p:blipFill>
        <p:spPr>
          <a:xfrm>
            <a:off x="6807708" y="4178808"/>
            <a:ext cx="420624" cy="420624"/>
          </a:xfrm>
          <a:prstGeom prst="rect">
            <a:avLst/>
          </a:prstGeom>
        </p:spPr>
      </p:pic>
      <p:sp>
        <p:nvSpPr>
          <p:cNvPr id="20" name="Text 14"/>
          <p:cNvSpPr txBox="1"/>
          <p:nvPr/>
        </p:nvSpPr>
        <p:spPr>
          <a:xfrm>
            <a:off x="6172200" y="489204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Badminton</a:t>
            </a:r>
            <a:endParaRPr lang="en-US" sz="1500" dirty="0"/>
          </a:p>
        </p:txBody>
      </p:sp>
      <p:sp>
        <p:nvSpPr>
          <p:cNvPr id="21" name="Shape 15"/>
          <p:cNvSpPr/>
          <p:nvPr/>
        </p:nvSpPr>
        <p:spPr>
          <a:xfrm>
            <a:off x="8046720" y="374904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2" name="Shape 16"/>
          <p:cNvSpPr/>
          <p:nvPr/>
        </p:nvSpPr>
        <p:spPr>
          <a:xfrm>
            <a:off x="8526780" y="4023360"/>
            <a:ext cx="731520" cy="731520"/>
          </a:xfrm>
          <a:prstGeom prst="roundRect">
            <a:avLst>
              <a:gd name="adj" fmla="val 27000"/>
            </a:avLst>
          </a:prstGeom>
          <a:solidFill>
            <a:srgbClr val="F8E8D0"/>
          </a:solidFill>
          <a:ln/>
        </p:spPr>
      </p:sp>
      <p:pic>
        <p:nvPicPr>
          <p:cNvPr id="23" name="Image 4" descr="preencoded.png">    </p:cNvPr>
          <p:cNvPicPr>
            <a:picLocks noChangeAspect="1"/>
          </p:cNvPicPr>
          <p:nvPr/>
        </p:nvPicPr>
        <p:blipFill>
          <a:blip r:embed="rId5"/>
          <a:stretch>
            <a:fillRect/>
          </a:stretch>
        </p:blipFill>
        <p:spPr>
          <a:xfrm>
            <a:off x="8682228" y="4178808"/>
            <a:ext cx="420624" cy="420624"/>
          </a:xfrm>
          <a:prstGeom prst="rect">
            <a:avLst/>
          </a:prstGeom>
        </p:spPr>
      </p:pic>
      <p:sp>
        <p:nvSpPr>
          <p:cNvPr id="24" name="Text 17"/>
          <p:cNvSpPr txBox="1"/>
          <p:nvPr/>
        </p:nvSpPr>
        <p:spPr>
          <a:xfrm>
            <a:off x="8046720" y="489204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Basketball</a:t>
            </a:r>
            <a:endParaRPr lang="en-US" sz="1500" dirty="0"/>
          </a:p>
        </p:txBody>
      </p:sp>
      <p:sp>
        <p:nvSpPr>
          <p:cNvPr id="25" name="Shape 18"/>
          <p:cNvSpPr/>
          <p:nvPr/>
        </p:nvSpPr>
        <p:spPr>
          <a:xfrm>
            <a:off x="9921240" y="3749040"/>
            <a:ext cx="1691640" cy="1737360"/>
          </a:xfrm>
          <a:prstGeom prst="roundRect">
            <a:avLst>
              <a:gd name="adj" fmla="val 1189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9"/>
          <p:cNvSpPr/>
          <p:nvPr/>
        </p:nvSpPr>
        <p:spPr>
          <a:xfrm>
            <a:off x="10401300" y="4023360"/>
            <a:ext cx="731520" cy="731520"/>
          </a:xfrm>
          <a:prstGeom prst="roundRect">
            <a:avLst>
              <a:gd name="adj" fmla="val 27000"/>
            </a:avLst>
          </a:prstGeom>
          <a:solidFill>
            <a:srgbClr val="F8E8D0"/>
          </a:solidFill>
          <a:ln/>
        </p:spPr>
      </p:sp>
      <p:pic>
        <p:nvPicPr>
          <p:cNvPr id="27" name="Image 5" descr="preencoded.png">    </p:cNvPr>
          <p:cNvPicPr>
            <a:picLocks noChangeAspect="1"/>
          </p:cNvPicPr>
          <p:nvPr/>
        </p:nvPicPr>
        <p:blipFill>
          <a:blip r:embed="rId6"/>
          <a:stretch>
            <a:fillRect/>
          </a:stretch>
        </p:blipFill>
        <p:spPr>
          <a:xfrm>
            <a:off x="10556748" y="4178808"/>
            <a:ext cx="420624" cy="420624"/>
          </a:xfrm>
          <a:prstGeom prst="rect">
            <a:avLst/>
          </a:prstGeom>
        </p:spPr>
      </p:pic>
      <p:sp>
        <p:nvSpPr>
          <p:cNvPr id="28" name="Text 20"/>
          <p:cNvSpPr txBox="1"/>
          <p:nvPr/>
        </p:nvSpPr>
        <p:spPr>
          <a:xfrm>
            <a:off x="9921240" y="4892040"/>
            <a:ext cx="1691640" cy="36576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Gatherings</a:t>
            </a:r>
            <a:endParaRPr lang="en-US" sz="1500" dirty="0"/>
          </a:p>
        </p:txBody>
      </p:sp>
      <p:pic>
        <p:nvPicPr>
          <p:cNvPr id="29" name="Image 6" descr="/Users/gerejastanislaus/Capstone Project/flyer/a-team-logo.png">    </p:cNvPr>
          <p:cNvPicPr>
            <a:picLocks noChangeAspect="1"/>
          </p:cNvPicPr>
          <p:nvPr/>
        </p:nvPicPr>
        <p:blipFill>
          <a:blip r:embed="rId7"/>
          <a:stretch>
            <a:fillRect/>
          </a:stretch>
        </p:blipFill>
        <p:spPr>
          <a:xfrm>
            <a:off x="640080" y="6236208"/>
            <a:ext cx="292608" cy="292608"/>
          </a:xfrm>
          <a:prstGeom prst="rect">
            <a:avLst/>
          </a:prstGeom>
        </p:spPr>
      </p:pic>
      <p:sp>
        <p:nvSpPr>
          <p:cNvPr id="30" name="Text 21"/>
          <p:cNvSpPr txBox="1"/>
          <p:nvPr/>
        </p:nvSpPr>
        <p:spPr>
          <a:xfrm>
            <a:off x="1024128" y="6236208"/>
            <a:ext cx="4572000" cy="292608"/>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Capstone Project · A Team</a:t>
            </a:r>
            <a:endParaRPr lang="en-US" sz="1100" dirty="0"/>
          </a:p>
        </p:txBody>
      </p:sp>
      <p:sp>
        <p:nvSpPr>
          <p:cNvPr id="31" name="Text 22"/>
          <p:cNvSpPr txBox="1"/>
          <p:nvPr/>
        </p:nvSpPr>
        <p:spPr>
          <a:xfrm>
            <a:off x="11094415" y="6236208"/>
            <a:ext cx="457200" cy="292608"/>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THE UPDATE AT A GLANCE</a:t>
            </a:r>
            <a:endParaRPr lang="en-US" sz="1300" dirty="0"/>
          </a:p>
        </p:txBody>
      </p:sp>
      <p:sp>
        <p:nvSpPr>
          <p:cNvPr id="3" name="Text 1"/>
          <p:cNvSpPr txBox="1"/>
          <p:nvPr/>
        </p:nvSpPr>
        <p:spPr>
          <a:xfrm>
            <a:off x="640080" y="822960"/>
            <a:ext cx="10881360" cy="731520"/>
          </a:xfrm>
          <a:prstGeom prst="rect">
            <a:avLst/>
          </a:prstGeom>
          <a:noFill/>
          <a:ln/>
        </p:spPr>
        <p:txBody>
          <a:bodyPr wrap="square" lIns="0" tIns="0" rIns="0" bIns="0" rtlCol="0" anchor="ctr"/>
          <a:lstStyle/>
          <a:p>
            <a:pPr indent="0" marL="0">
              <a:buNone/>
            </a:pPr>
            <a:r>
              <a:rPr lang="en-US" sz="3600" b="1" dirty="0">
                <a:solidFill>
                  <a:srgbClr val="292524"/>
                </a:solidFill>
                <a:latin typeface="Arial" pitchFamily="34" charset="0"/>
                <a:ea typeface="Arial" pitchFamily="34" charset="-122"/>
                <a:cs typeface="Arial" pitchFamily="34" charset="-120"/>
              </a:rPr>
              <a:t>Four steps from a new laptop to a live site</a:t>
            </a:r>
            <a:endParaRPr lang="en-US" sz="3600" dirty="0"/>
          </a:p>
        </p:txBody>
      </p:sp>
      <p:sp>
        <p:nvSpPr>
          <p:cNvPr id="4" name="Shape 2"/>
          <p:cNvSpPr/>
          <p:nvPr/>
        </p:nvSpPr>
        <p:spPr>
          <a:xfrm>
            <a:off x="640080" y="2103120"/>
            <a:ext cx="2423160" cy="2971800"/>
          </a:xfrm>
          <a:prstGeom prst="roundRect">
            <a:avLst>
              <a:gd name="adj" fmla="val 8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5" name="Shape 3"/>
          <p:cNvSpPr/>
          <p:nvPr/>
        </p:nvSpPr>
        <p:spPr>
          <a:xfrm>
            <a:off x="960120" y="2468880"/>
            <a:ext cx="777240" cy="777240"/>
          </a:xfrm>
          <a:prstGeom prst="roundRect">
            <a:avLst>
              <a:gd name="adj" fmla="val 27000"/>
            </a:avLst>
          </a:prstGeom>
          <a:solidFill>
            <a:srgbClr val="F97316"/>
          </a:solidFill>
          <a:ln/>
        </p:spPr>
      </p:sp>
      <p:pic>
        <p:nvPicPr>
          <p:cNvPr id="6" name="Image 0" descr="preencoded.png">    </p:cNvPr>
          <p:cNvPicPr>
            <a:picLocks noChangeAspect="1"/>
          </p:cNvPicPr>
          <p:nvPr/>
        </p:nvPicPr>
        <p:blipFill>
          <a:blip r:embed="rId1"/>
          <a:stretch>
            <a:fillRect/>
          </a:stretch>
        </p:blipFill>
        <p:spPr>
          <a:xfrm>
            <a:off x="1143000" y="2651760"/>
            <a:ext cx="411480" cy="411480"/>
          </a:xfrm>
          <a:prstGeom prst="rect">
            <a:avLst/>
          </a:prstGeom>
        </p:spPr>
      </p:pic>
      <p:sp>
        <p:nvSpPr>
          <p:cNvPr id="7" name="Text 4"/>
          <p:cNvSpPr txBox="1"/>
          <p:nvPr/>
        </p:nvSpPr>
        <p:spPr>
          <a:xfrm>
            <a:off x="1920240" y="2606040"/>
            <a:ext cx="914400" cy="457200"/>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01</a:t>
            </a:r>
            <a:endParaRPr lang="en-US" sz="2200" dirty="0"/>
          </a:p>
        </p:txBody>
      </p:sp>
      <p:sp>
        <p:nvSpPr>
          <p:cNvPr id="8" name="Text 5"/>
          <p:cNvSpPr txBox="1"/>
          <p:nvPr/>
        </p:nvSpPr>
        <p:spPr>
          <a:xfrm>
            <a:off x="960120" y="3520440"/>
            <a:ext cx="1783080" cy="457200"/>
          </a:xfrm>
          <a:prstGeom prst="rect">
            <a:avLst/>
          </a:prstGeom>
          <a:noFill/>
          <a:ln/>
        </p:spPr>
        <p:txBody>
          <a:bodyPr wrap="square" lIns="0" tIns="0" rIns="0" bIns="0" rtlCol="0" anchor="ctr"/>
          <a:lstStyle/>
          <a:p>
            <a:pPr indent="0" marL="0">
              <a:buNone/>
            </a:pPr>
            <a:r>
              <a:rPr lang="en-US" sz="2400" b="1" dirty="0">
                <a:solidFill>
                  <a:srgbClr val="292524"/>
                </a:solidFill>
                <a:latin typeface="Arial" pitchFamily="34" charset="0"/>
                <a:ea typeface="Arial" pitchFamily="34" charset="-122"/>
                <a:cs typeface="Arial" pitchFamily="34" charset="-120"/>
              </a:rPr>
              <a:t>Set up</a:t>
            </a:r>
            <a:endParaRPr lang="en-US" sz="2400" dirty="0"/>
          </a:p>
        </p:txBody>
      </p:sp>
      <p:sp>
        <p:nvSpPr>
          <p:cNvPr id="9" name="Text 6"/>
          <p:cNvSpPr txBox="1"/>
          <p:nvPr/>
        </p:nvSpPr>
        <p:spPr>
          <a:xfrm>
            <a:off x="960120" y="4023360"/>
            <a:ext cx="1783080" cy="1097280"/>
          </a:xfrm>
          <a:prstGeom prst="rect">
            <a:avLst/>
          </a:prstGeom>
          <a:noFill/>
          <a:ln/>
        </p:spPr>
        <p:txBody>
          <a:bodyPr wrap="square" lIns="0" tIns="0" rIns="0" bIns="0" rtlCol="0" anchor="t"/>
          <a:lstStyle/>
          <a:p>
            <a:pPr indent="0" marL="0">
              <a:buNone/>
            </a:pPr>
            <a:r>
              <a:rPr lang="en-US" sz="1500" dirty="0">
                <a:solidFill>
                  <a:srgbClr val="78716C"/>
                </a:solidFill>
                <a:latin typeface="Arial" pitchFamily="34" charset="0"/>
                <a:ea typeface="Arial" pitchFamily="34" charset="-122"/>
                <a:cs typeface="Arial" pitchFamily="34" charset="-120"/>
              </a:rPr>
              <a:t>A fresh workspace, connected to GitHub and Vercel.</a:t>
            </a:r>
            <a:endParaRPr lang="en-US" sz="1500" dirty="0"/>
          </a:p>
        </p:txBody>
      </p:sp>
      <p:pic>
        <p:nvPicPr>
          <p:cNvPr id="10" name="Image 1" descr="preencoded.png">    </p:cNvPr>
          <p:cNvPicPr>
            <a:picLocks noChangeAspect="1"/>
          </p:cNvPicPr>
          <p:nvPr/>
        </p:nvPicPr>
        <p:blipFill>
          <a:blip r:embed="rId2"/>
          <a:stretch>
            <a:fillRect/>
          </a:stretch>
        </p:blipFill>
        <p:spPr>
          <a:xfrm>
            <a:off x="3172968" y="3497580"/>
            <a:ext cx="182880" cy="182880"/>
          </a:xfrm>
          <a:prstGeom prst="rect">
            <a:avLst/>
          </a:prstGeom>
        </p:spPr>
      </p:pic>
      <p:sp>
        <p:nvSpPr>
          <p:cNvPr id="11" name="Shape 7"/>
          <p:cNvSpPr/>
          <p:nvPr/>
        </p:nvSpPr>
        <p:spPr>
          <a:xfrm>
            <a:off x="3474720" y="2103120"/>
            <a:ext cx="2423160" cy="2971800"/>
          </a:xfrm>
          <a:prstGeom prst="roundRect">
            <a:avLst>
              <a:gd name="adj" fmla="val 8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2" name="Shape 8"/>
          <p:cNvSpPr/>
          <p:nvPr/>
        </p:nvSpPr>
        <p:spPr>
          <a:xfrm>
            <a:off x="3794760" y="2468880"/>
            <a:ext cx="777240" cy="777240"/>
          </a:xfrm>
          <a:prstGeom prst="roundRect">
            <a:avLst>
              <a:gd name="adj" fmla="val 27000"/>
            </a:avLst>
          </a:prstGeom>
          <a:solidFill>
            <a:srgbClr val="F97316"/>
          </a:solidFill>
          <a:ln/>
        </p:spPr>
      </p:sp>
      <p:pic>
        <p:nvPicPr>
          <p:cNvPr id="13" name="Image 2" descr="preencoded.png">    </p:cNvPr>
          <p:cNvPicPr>
            <a:picLocks noChangeAspect="1"/>
          </p:cNvPicPr>
          <p:nvPr/>
        </p:nvPicPr>
        <p:blipFill>
          <a:blip r:embed="rId3"/>
          <a:stretch>
            <a:fillRect/>
          </a:stretch>
        </p:blipFill>
        <p:spPr>
          <a:xfrm>
            <a:off x="3977640" y="2651760"/>
            <a:ext cx="411480" cy="411480"/>
          </a:xfrm>
          <a:prstGeom prst="rect">
            <a:avLst/>
          </a:prstGeom>
        </p:spPr>
      </p:pic>
      <p:sp>
        <p:nvSpPr>
          <p:cNvPr id="14" name="Text 9"/>
          <p:cNvSpPr txBox="1"/>
          <p:nvPr/>
        </p:nvSpPr>
        <p:spPr>
          <a:xfrm>
            <a:off x="4754880" y="2606040"/>
            <a:ext cx="914400" cy="457200"/>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02</a:t>
            </a:r>
            <a:endParaRPr lang="en-US" sz="2200" dirty="0"/>
          </a:p>
        </p:txBody>
      </p:sp>
      <p:sp>
        <p:nvSpPr>
          <p:cNvPr id="15" name="Text 10"/>
          <p:cNvSpPr txBox="1"/>
          <p:nvPr/>
        </p:nvSpPr>
        <p:spPr>
          <a:xfrm>
            <a:off x="3794760" y="3520440"/>
            <a:ext cx="1783080" cy="457200"/>
          </a:xfrm>
          <a:prstGeom prst="rect">
            <a:avLst/>
          </a:prstGeom>
          <a:noFill/>
          <a:ln/>
        </p:spPr>
        <p:txBody>
          <a:bodyPr wrap="square" lIns="0" tIns="0" rIns="0" bIns="0" rtlCol="0" anchor="ctr"/>
          <a:lstStyle/>
          <a:p>
            <a:pPr indent="0" marL="0">
              <a:buNone/>
            </a:pPr>
            <a:r>
              <a:rPr lang="en-US" sz="2400" b="1" dirty="0">
                <a:solidFill>
                  <a:srgbClr val="292524"/>
                </a:solidFill>
                <a:latin typeface="Arial" pitchFamily="34" charset="0"/>
                <a:ea typeface="Arial" pitchFamily="34" charset="-122"/>
                <a:cs typeface="Arial" pitchFamily="34" charset="-120"/>
              </a:rPr>
              <a:t>Secured</a:t>
            </a:r>
            <a:endParaRPr lang="en-US" sz="2400" dirty="0"/>
          </a:p>
        </p:txBody>
      </p:sp>
      <p:sp>
        <p:nvSpPr>
          <p:cNvPr id="16" name="Text 11"/>
          <p:cNvSpPr txBox="1"/>
          <p:nvPr/>
        </p:nvSpPr>
        <p:spPr>
          <a:xfrm>
            <a:off x="3794760" y="4023360"/>
            <a:ext cx="1783080" cy="1097280"/>
          </a:xfrm>
          <a:prstGeom prst="rect">
            <a:avLst/>
          </a:prstGeom>
          <a:noFill/>
          <a:ln/>
        </p:spPr>
        <p:txBody>
          <a:bodyPr wrap="square" lIns="0" tIns="0" rIns="0" bIns="0" rtlCol="0" anchor="t"/>
          <a:lstStyle/>
          <a:p>
            <a:pPr indent="0" marL="0">
              <a:buNone/>
            </a:pPr>
            <a:r>
              <a:rPr lang="en-US" sz="1500" dirty="0">
                <a:solidFill>
                  <a:srgbClr val="78716C"/>
                </a:solidFill>
                <a:latin typeface="Arial" pitchFamily="34" charset="0"/>
                <a:ea typeface="Arial" pitchFamily="34" charset="-122"/>
                <a:cs typeface="Arial" pitchFamily="34" charset="-120"/>
              </a:rPr>
              <a:t>Latest Next.js with its security fixes applied.</a:t>
            </a:r>
            <a:endParaRPr lang="en-US" sz="1500" dirty="0"/>
          </a:p>
        </p:txBody>
      </p:sp>
      <p:pic>
        <p:nvPicPr>
          <p:cNvPr id="17" name="Image 3" descr="preencoded.png">    </p:cNvPr>
          <p:cNvPicPr>
            <a:picLocks noChangeAspect="1"/>
          </p:cNvPicPr>
          <p:nvPr/>
        </p:nvPicPr>
        <p:blipFill>
          <a:blip r:embed="rId4"/>
          <a:stretch>
            <a:fillRect/>
          </a:stretch>
        </p:blipFill>
        <p:spPr>
          <a:xfrm>
            <a:off x="6007608" y="3497580"/>
            <a:ext cx="182880" cy="182880"/>
          </a:xfrm>
          <a:prstGeom prst="rect">
            <a:avLst/>
          </a:prstGeom>
        </p:spPr>
      </p:pic>
      <p:sp>
        <p:nvSpPr>
          <p:cNvPr id="18" name="Shape 12"/>
          <p:cNvSpPr/>
          <p:nvPr/>
        </p:nvSpPr>
        <p:spPr>
          <a:xfrm>
            <a:off x="6309360" y="2103120"/>
            <a:ext cx="2423160" cy="2971800"/>
          </a:xfrm>
          <a:prstGeom prst="roundRect">
            <a:avLst>
              <a:gd name="adj" fmla="val 8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9" name="Shape 13"/>
          <p:cNvSpPr/>
          <p:nvPr/>
        </p:nvSpPr>
        <p:spPr>
          <a:xfrm>
            <a:off x="6629400" y="2468880"/>
            <a:ext cx="777240" cy="777240"/>
          </a:xfrm>
          <a:prstGeom prst="roundRect">
            <a:avLst>
              <a:gd name="adj" fmla="val 27000"/>
            </a:avLst>
          </a:prstGeom>
          <a:solidFill>
            <a:srgbClr val="F97316"/>
          </a:solidFill>
          <a:ln/>
        </p:spPr>
      </p:sp>
      <p:pic>
        <p:nvPicPr>
          <p:cNvPr id="20" name="Image 4" descr="preencoded.png">    </p:cNvPr>
          <p:cNvPicPr>
            <a:picLocks noChangeAspect="1"/>
          </p:cNvPicPr>
          <p:nvPr/>
        </p:nvPicPr>
        <p:blipFill>
          <a:blip r:embed="rId5"/>
          <a:stretch>
            <a:fillRect/>
          </a:stretch>
        </p:blipFill>
        <p:spPr>
          <a:xfrm>
            <a:off x="6812280" y="2651760"/>
            <a:ext cx="411480" cy="411480"/>
          </a:xfrm>
          <a:prstGeom prst="rect">
            <a:avLst/>
          </a:prstGeom>
        </p:spPr>
      </p:pic>
      <p:sp>
        <p:nvSpPr>
          <p:cNvPr id="21" name="Text 14"/>
          <p:cNvSpPr txBox="1"/>
          <p:nvPr/>
        </p:nvSpPr>
        <p:spPr>
          <a:xfrm>
            <a:off x="7589520" y="2606040"/>
            <a:ext cx="914400" cy="457200"/>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03</a:t>
            </a:r>
            <a:endParaRPr lang="en-US" sz="2200" dirty="0"/>
          </a:p>
        </p:txBody>
      </p:sp>
      <p:sp>
        <p:nvSpPr>
          <p:cNvPr id="22" name="Text 15"/>
          <p:cNvSpPr txBox="1"/>
          <p:nvPr/>
        </p:nvSpPr>
        <p:spPr>
          <a:xfrm>
            <a:off x="6629400" y="3520440"/>
            <a:ext cx="1783080" cy="457200"/>
          </a:xfrm>
          <a:prstGeom prst="rect">
            <a:avLst/>
          </a:prstGeom>
          <a:noFill/>
          <a:ln/>
        </p:spPr>
        <p:txBody>
          <a:bodyPr wrap="square" lIns="0" tIns="0" rIns="0" bIns="0" rtlCol="0" anchor="ctr"/>
          <a:lstStyle/>
          <a:p>
            <a:pPr indent="0" marL="0">
              <a:buNone/>
            </a:pPr>
            <a:r>
              <a:rPr lang="en-US" sz="2400" b="1" dirty="0">
                <a:solidFill>
                  <a:srgbClr val="292524"/>
                </a:solidFill>
                <a:latin typeface="Arial" pitchFamily="34" charset="0"/>
                <a:ea typeface="Arial" pitchFamily="34" charset="-122"/>
                <a:cs typeface="Arial" pitchFamily="34" charset="-120"/>
              </a:rPr>
              <a:t>Checked</a:t>
            </a:r>
            <a:endParaRPr lang="en-US" sz="2400" dirty="0"/>
          </a:p>
        </p:txBody>
      </p:sp>
      <p:sp>
        <p:nvSpPr>
          <p:cNvPr id="23" name="Text 16"/>
          <p:cNvSpPr txBox="1"/>
          <p:nvPr/>
        </p:nvSpPr>
        <p:spPr>
          <a:xfrm>
            <a:off x="6629400" y="4023360"/>
            <a:ext cx="1783080" cy="1097280"/>
          </a:xfrm>
          <a:prstGeom prst="rect">
            <a:avLst/>
          </a:prstGeom>
          <a:noFill/>
          <a:ln/>
        </p:spPr>
        <p:txBody>
          <a:bodyPr wrap="square" lIns="0" tIns="0" rIns="0" bIns="0" rtlCol="0" anchor="t"/>
          <a:lstStyle/>
          <a:p>
            <a:pPr indent="0" marL="0">
              <a:buNone/>
            </a:pPr>
            <a:r>
              <a:rPr lang="en-US" sz="1500" dirty="0">
                <a:solidFill>
                  <a:srgbClr val="78716C"/>
                </a:solidFill>
                <a:latin typeface="Arial" pitchFamily="34" charset="0"/>
                <a:ea typeface="Arial" pitchFamily="34" charset="-122"/>
                <a:cs typeface="Arial" pitchFamily="34" charset="-120"/>
              </a:rPr>
              <a:t>Code checks, type checks and a full build, all passing.</a:t>
            </a:r>
            <a:endParaRPr lang="en-US" sz="1500" dirty="0"/>
          </a:p>
        </p:txBody>
      </p:sp>
      <p:pic>
        <p:nvPicPr>
          <p:cNvPr id="24" name="Image 5" descr="preencoded.png">    </p:cNvPr>
          <p:cNvPicPr>
            <a:picLocks noChangeAspect="1"/>
          </p:cNvPicPr>
          <p:nvPr/>
        </p:nvPicPr>
        <p:blipFill>
          <a:blip r:embed="rId6"/>
          <a:stretch>
            <a:fillRect/>
          </a:stretch>
        </p:blipFill>
        <p:spPr>
          <a:xfrm>
            <a:off x="8842248" y="3497580"/>
            <a:ext cx="182880" cy="182880"/>
          </a:xfrm>
          <a:prstGeom prst="rect">
            <a:avLst/>
          </a:prstGeom>
        </p:spPr>
      </p:pic>
      <p:sp>
        <p:nvSpPr>
          <p:cNvPr id="25" name="Shape 17"/>
          <p:cNvSpPr/>
          <p:nvPr/>
        </p:nvSpPr>
        <p:spPr>
          <a:xfrm>
            <a:off x="9144000" y="2103120"/>
            <a:ext cx="2423160" cy="2971800"/>
          </a:xfrm>
          <a:prstGeom prst="roundRect">
            <a:avLst>
              <a:gd name="adj" fmla="val 8302"/>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6" name="Shape 18"/>
          <p:cNvSpPr/>
          <p:nvPr/>
        </p:nvSpPr>
        <p:spPr>
          <a:xfrm>
            <a:off x="9464040" y="2468880"/>
            <a:ext cx="777240" cy="777240"/>
          </a:xfrm>
          <a:prstGeom prst="roundRect">
            <a:avLst>
              <a:gd name="adj" fmla="val 27000"/>
            </a:avLst>
          </a:prstGeom>
          <a:solidFill>
            <a:srgbClr val="F97316"/>
          </a:solidFill>
          <a:ln/>
        </p:spPr>
      </p:sp>
      <p:pic>
        <p:nvPicPr>
          <p:cNvPr id="27" name="Image 6" descr="preencoded.png">    </p:cNvPr>
          <p:cNvPicPr>
            <a:picLocks noChangeAspect="1"/>
          </p:cNvPicPr>
          <p:nvPr/>
        </p:nvPicPr>
        <p:blipFill>
          <a:blip r:embed="rId7"/>
          <a:stretch>
            <a:fillRect/>
          </a:stretch>
        </p:blipFill>
        <p:spPr>
          <a:xfrm>
            <a:off x="9646920" y="2651760"/>
            <a:ext cx="411480" cy="411480"/>
          </a:xfrm>
          <a:prstGeom prst="rect">
            <a:avLst/>
          </a:prstGeom>
        </p:spPr>
      </p:pic>
      <p:sp>
        <p:nvSpPr>
          <p:cNvPr id="28" name="Text 19"/>
          <p:cNvSpPr txBox="1"/>
          <p:nvPr/>
        </p:nvSpPr>
        <p:spPr>
          <a:xfrm>
            <a:off x="10424160" y="2606040"/>
            <a:ext cx="914400" cy="457200"/>
          </a:xfrm>
          <a:prstGeom prst="rect">
            <a:avLst/>
          </a:prstGeom>
          <a:noFill/>
          <a:ln/>
        </p:spPr>
        <p:txBody>
          <a:bodyPr wrap="square" lIns="0" tIns="0" rIns="0" bIns="0" rtlCol="0" anchor="ctr"/>
          <a:lstStyle/>
          <a:p>
            <a:pPr indent="0" marL="0">
              <a:buNone/>
            </a:pPr>
            <a:r>
              <a:rPr lang="en-US" sz="2200" b="1" dirty="0">
                <a:solidFill>
                  <a:srgbClr val="C2410C"/>
                </a:solidFill>
                <a:latin typeface="Arial" pitchFamily="34" charset="0"/>
                <a:ea typeface="Arial" pitchFamily="34" charset="-122"/>
                <a:cs typeface="Arial" pitchFamily="34" charset="-120"/>
              </a:rPr>
              <a:t>04</a:t>
            </a:r>
            <a:endParaRPr lang="en-US" sz="2200" dirty="0"/>
          </a:p>
        </p:txBody>
      </p:sp>
      <p:sp>
        <p:nvSpPr>
          <p:cNvPr id="29" name="Text 20"/>
          <p:cNvSpPr txBox="1"/>
          <p:nvPr/>
        </p:nvSpPr>
        <p:spPr>
          <a:xfrm>
            <a:off x="9464040" y="3520440"/>
            <a:ext cx="1783080" cy="457200"/>
          </a:xfrm>
          <a:prstGeom prst="rect">
            <a:avLst/>
          </a:prstGeom>
          <a:noFill/>
          <a:ln/>
        </p:spPr>
        <p:txBody>
          <a:bodyPr wrap="square" lIns="0" tIns="0" rIns="0" bIns="0" rtlCol="0" anchor="ctr"/>
          <a:lstStyle/>
          <a:p>
            <a:pPr indent="0" marL="0">
              <a:buNone/>
            </a:pPr>
            <a:r>
              <a:rPr lang="en-US" sz="2400" b="1" dirty="0">
                <a:solidFill>
                  <a:srgbClr val="292524"/>
                </a:solidFill>
                <a:latin typeface="Arial" pitchFamily="34" charset="0"/>
                <a:ea typeface="Arial" pitchFamily="34" charset="-122"/>
                <a:cs typeface="Arial" pitchFamily="34" charset="-120"/>
              </a:rPr>
              <a:t>Live</a:t>
            </a:r>
            <a:endParaRPr lang="en-US" sz="2400" dirty="0"/>
          </a:p>
        </p:txBody>
      </p:sp>
      <p:sp>
        <p:nvSpPr>
          <p:cNvPr id="30" name="Text 21"/>
          <p:cNvSpPr txBox="1"/>
          <p:nvPr/>
        </p:nvSpPr>
        <p:spPr>
          <a:xfrm>
            <a:off x="9464040" y="4023360"/>
            <a:ext cx="1783080" cy="1097280"/>
          </a:xfrm>
          <a:prstGeom prst="rect">
            <a:avLst/>
          </a:prstGeom>
          <a:noFill/>
          <a:ln/>
        </p:spPr>
        <p:txBody>
          <a:bodyPr wrap="square" lIns="0" tIns="0" rIns="0" bIns="0" rtlCol="0" anchor="t"/>
          <a:lstStyle/>
          <a:p>
            <a:pPr indent="0" marL="0">
              <a:buNone/>
            </a:pPr>
            <a:r>
              <a:rPr lang="en-US" sz="1500" dirty="0">
                <a:solidFill>
                  <a:srgbClr val="78716C"/>
                </a:solidFill>
                <a:latin typeface="Arial" pitchFamily="34" charset="0"/>
                <a:ea typeface="Arial" pitchFamily="34" charset="-122"/>
                <a:cs typeface="Arial" pitchFamily="34" charset="-120"/>
              </a:rPr>
              <a:t>Redeployed to production on 28 September 2026.</a:t>
            </a:r>
            <a:endParaRPr lang="en-US" sz="1500" dirty="0"/>
          </a:p>
        </p:txBody>
      </p:sp>
      <p:pic>
        <p:nvPicPr>
          <p:cNvPr id="31" name="Image 7" descr="/Users/gerejastanislaus/Capstone Project/flyer/a-team-logo.png">    </p:cNvPr>
          <p:cNvPicPr>
            <a:picLocks noChangeAspect="1"/>
          </p:cNvPicPr>
          <p:nvPr/>
        </p:nvPicPr>
        <p:blipFill>
          <a:blip r:embed="rId8"/>
          <a:stretch>
            <a:fillRect/>
          </a:stretch>
        </p:blipFill>
        <p:spPr>
          <a:xfrm>
            <a:off x="640080" y="6236208"/>
            <a:ext cx="292608" cy="292608"/>
          </a:xfrm>
          <a:prstGeom prst="rect">
            <a:avLst/>
          </a:prstGeom>
        </p:spPr>
      </p:pic>
      <p:sp>
        <p:nvSpPr>
          <p:cNvPr id="32" name="Text 22"/>
          <p:cNvSpPr txBox="1"/>
          <p:nvPr/>
        </p:nvSpPr>
        <p:spPr>
          <a:xfrm>
            <a:off x="1024128" y="6236208"/>
            <a:ext cx="4572000" cy="292608"/>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Capstone Project · A Team</a:t>
            </a:r>
            <a:endParaRPr lang="en-US" sz="1100" dirty="0"/>
          </a:p>
        </p:txBody>
      </p:sp>
      <p:sp>
        <p:nvSpPr>
          <p:cNvPr id="33" name="Text 23"/>
          <p:cNvSpPr txBox="1"/>
          <p:nvPr/>
        </p:nvSpPr>
        <p:spPr>
          <a:xfrm>
            <a:off x="11094415" y="6236208"/>
            <a:ext cx="457200" cy="292608"/>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01 · SET UP</a:t>
            </a:r>
            <a:endParaRPr lang="en-US" sz="1300" dirty="0"/>
          </a:p>
        </p:txBody>
      </p:sp>
      <p:sp>
        <p:nvSpPr>
          <p:cNvPr id="3" name="Text 1"/>
          <p:cNvSpPr txBox="1"/>
          <p:nvPr/>
        </p:nvSpPr>
        <p:spPr>
          <a:xfrm>
            <a:off x="640080" y="822960"/>
            <a:ext cx="10881360" cy="731520"/>
          </a:xfrm>
          <a:prstGeom prst="rect">
            <a:avLst/>
          </a:prstGeom>
          <a:noFill/>
          <a:ln/>
        </p:spPr>
        <p:txBody>
          <a:bodyPr wrap="square" lIns="0" tIns="0" rIns="0" bIns="0" rtlCol="0" anchor="ctr"/>
          <a:lstStyle/>
          <a:p>
            <a:pPr indent="0" marL="0">
              <a:buNone/>
            </a:pPr>
            <a:r>
              <a:rPr lang="en-US" sz="3600" b="1" dirty="0">
                <a:solidFill>
                  <a:srgbClr val="292524"/>
                </a:solidFill>
                <a:latin typeface="Arial" pitchFamily="34" charset="0"/>
                <a:ea typeface="Arial" pitchFamily="34" charset="-122"/>
                <a:cs typeface="Arial" pitchFamily="34" charset="-120"/>
              </a:rPr>
              <a:t>A new device, ready to build in one session</a:t>
            </a:r>
            <a:endParaRPr lang="en-US" sz="3600" dirty="0"/>
          </a:p>
        </p:txBody>
      </p:sp>
      <p:sp>
        <p:nvSpPr>
          <p:cNvPr id="4" name="Shape 2"/>
          <p:cNvSpPr/>
          <p:nvPr/>
        </p:nvSpPr>
        <p:spPr>
          <a:xfrm>
            <a:off x="640080" y="1828800"/>
            <a:ext cx="731520" cy="731520"/>
          </a:xfrm>
          <a:prstGeom prst="roundRect">
            <a:avLst>
              <a:gd name="adj" fmla="val 27000"/>
            </a:avLst>
          </a:prstGeom>
          <a:solidFill>
            <a:srgbClr val="F97316"/>
          </a:solidFill>
          <a:ln/>
        </p:spPr>
      </p:sp>
      <p:pic>
        <p:nvPicPr>
          <p:cNvPr id="5" name="Image 0" descr="preencoded.png">    </p:cNvPr>
          <p:cNvPicPr>
            <a:picLocks noChangeAspect="1"/>
          </p:cNvPicPr>
          <p:nvPr/>
        </p:nvPicPr>
        <p:blipFill>
          <a:blip r:embed="rId1"/>
          <a:stretch>
            <a:fillRect/>
          </a:stretch>
        </p:blipFill>
        <p:spPr>
          <a:xfrm>
            <a:off x="822960" y="2011680"/>
            <a:ext cx="365760" cy="365760"/>
          </a:xfrm>
          <a:prstGeom prst="rect">
            <a:avLst/>
          </a:prstGeom>
        </p:spPr>
      </p:pic>
      <p:sp>
        <p:nvSpPr>
          <p:cNvPr id="6" name="Text 3"/>
          <p:cNvSpPr txBox="1"/>
          <p:nvPr/>
        </p:nvSpPr>
        <p:spPr>
          <a:xfrm>
            <a:off x="1600200" y="1810512"/>
            <a:ext cx="5120640" cy="36576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Git + GitHub</a:t>
            </a:r>
            <a:endParaRPr lang="en-US" sz="1800" dirty="0"/>
          </a:p>
        </p:txBody>
      </p:sp>
      <p:sp>
        <p:nvSpPr>
          <p:cNvPr id="7" name="Text 4"/>
          <p:cNvSpPr txBox="1"/>
          <p:nvPr/>
        </p:nvSpPr>
        <p:spPr>
          <a:xfrm>
            <a:off x="1600200" y="2176272"/>
            <a:ext cx="5120640" cy="45720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Full project history on the new laptop, signed in and in sync with our GitHub repository.</a:t>
            </a:r>
            <a:endParaRPr lang="en-US" sz="1400" dirty="0"/>
          </a:p>
        </p:txBody>
      </p:sp>
      <p:sp>
        <p:nvSpPr>
          <p:cNvPr id="8" name="Shape 5"/>
          <p:cNvSpPr/>
          <p:nvPr/>
        </p:nvSpPr>
        <p:spPr>
          <a:xfrm>
            <a:off x="640080" y="2852928"/>
            <a:ext cx="731520" cy="731520"/>
          </a:xfrm>
          <a:prstGeom prst="roundRect">
            <a:avLst>
              <a:gd name="adj" fmla="val 27000"/>
            </a:avLst>
          </a:prstGeom>
          <a:solidFill>
            <a:srgbClr val="F97316"/>
          </a:solidFill>
          <a:ln/>
        </p:spPr>
      </p:sp>
      <p:pic>
        <p:nvPicPr>
          <p:cNvPr id="9" name="Image 1" descr="preencoded.png">    </p:cNvPr>
          <p:cNvPicPr>
            <a:picLocks noChangeAspect="1"/>
          </p:cNvPicPr>
          <p:nvPr/>
        </p:nvPicPr>
        <p:blipFill>
          <a:blip r:embed="rId2"/>
          <a:stretch>
            <a:fillRect/>
          </a:stretch>
        </p:blipFill>
        <p:spPr>
          <a:xfrm>
            <a:off x="822960" y="3035808"/>
            <a:ext cx="365760" cy="365760"/>
          </a:xfrm>
          <a:prstGeom prst="rect">
            <a:avLst/>
          </a:prstGeom>
        </p:spPr>
      </p:pic>
      <p:sp>
        <p:nvSpPr>
          <p:cNvPr id="10" name="Text 6"/>
          <p:cNvSpPr txBox="1"/>
          <p:nvPr/>
        </p:nvSpPr>
        <p:spPr>
          <a:xfrm>
            <a:off x="1600200" y="2834640"/>
            <a:ext cx="5120640" cy="36576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Node.js 24 (LTS)</a:t>
            </a:r>
            <a:endParaRPr lang="en-US" sz="1800" dirty="0"/>
          </a:p>
        </p:txBody>
      </p:sp>
      <p:sp>
        <p:nvSpPr>
          <p:cNvPr id="11" name="Text 7"/>
          <p:cNvSpPr txBox="1"/>
          <p:nvPr/>
        </p:nvSpPr>
        <p:spPr>
          <a:xfrm>
            <a:off x="1600200" y="3200400"/>
            <a:ext cx="5120640" cy="45720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The runtime that builds and runs the app locally, installed from the official release.</a:t>
            </a:r>
            <a:endParaRPr lang="en-US" sz="1400" dirty="0"/>
          </a:p>
        </p:txBody>
      </p:sp>
      <p:sp>
        <p:nvSpPr>
          <p:cNvPr id="12" name="Shape 8"/>
          <p:cNvSpPr/>
          <p:nvPr/>
        </p:nvSpPr>
        <p:spPr>
          <a:xfrm>
            <a:off x="640080" y="3877056"/>
            <a:ext cx="731520" cy="731520"/>
          </a:xfrm>
          <a:prstGeom prst="roundRect">
            <a:avLst>
              <a:gd name="adj" fmla="val 27000"/>
            </a:avLst>
          </a:prstGeom>
          <a:solidFill>
            <a:srgbClr val="F97316"/>
          </a:solidFill>
          <a:ln/>
        </p:spPr>
      </p:sp>
      <p:pic>
        <p:nvPicPr>
          <p:cNvPr id="13" name="Image 2" descr="preencoded.png">    </p:cNvPr>
          <p:cNvPicPr>
            <a:picLocks noChangeAspect="1"/>
          </p:cNvPicPr>
          <p:nvPr/>
        </p:nvPicPr>
        <p:blipFill>
          <a:blip r:embed="rId3"/>
          <a:stretch>
            <a:fillRect/>
          </a:stretch>
        </p:blipFill>
        <p:spPr>
          <a:xfrm>
            <a:off x="822960" y="4059936"/>
            <a:ext cx="365760" cy="365760"/>
          </a:xfrm>
          <a:prstGeom prst="rect">
            <a:avLst/>
          </a:prstGeom>
        </p:spPr>
      </p:pic>
      <p:sp>
        <p:nvSpPr>
          <p:cNvPr id="14" name="Text 9"/>
          <p:cNvSpPr txBox="1"/>
          <p:nvPr/>
        </p:nvSpPr>
        <p:spPr>
          <a:xfrm>
            <a:off x="1600200" y="3858768"/>
            <a:ext cx="5120640" cy="36576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Vercel</a:t>
            </a:r>
            <a:endParaRPr lang="en-US" sz="1800" dirty="0"/>
          </a:p>
        </p:txBody>
      </p:sp>
      <p:sp>
        <p:nvSpPr>
          <p:cNvPr id="15" name="Text 10"/>
          <p:cNvSpPr txBox="1"/>
          <p:nvPr/>
        </p:nvSpPr>
        <p:spPr>
          <a:xfrm>
            <a:off x="1600200" y="4224528"/>
            <a:ext cx="5120640" cy="45720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Linked to the live project, with its settings pulled down securely.</a:t>
            </a:r>
            <a:endParaRPr lang="en-US" sz="1400" dirty="0"/>
          </a:p>
        </p:txBody>
      </p:sp>
      <p:sp>
        <p:nvSpPr>
          <p:cNvPr id="16" name="Shape 11"/>
          <p:cNvSpPr/>
          <p:nvPr/>
        </p:nvSpPr>
        <p:spPr>
          <a:xfrm>
            <a:off x="640080" y="4901184"/>
            <a:ext cx="731520" cy="731520"/>
          </a:xfrm>
          <a:prstGeom prst="roundRect">
            <a:avLst>
              <a:gd name="adj" fmla="val 27000"/>
            </a:avLst>
          </a:prstGeom>
          <a:solidFill>
            <a:srgbClr val="F97316"/>
          </a:solidFill>
          <a:ln/>
        </p:spPr>
      </p:sp>
      <p:pic>
        <p:nvPicPr>
          <p:cNvPr id="17" name="Image 3" descr="preencoded.png">    </p:cNvPr>
          <p:cNvPicPr>
            <a:picLocks noChangeAspect="1"/>
          </p:cNvPicPr>
          <p:nvPr/>
        </p:nvPicPr>
        <p:blipFill>
          <a:blip r:embed="rId4"/>
          <a:stretch>
            <a:fillRect/>
          </a:stretch>
        </p:blipFill>
        <p:spPr>
          <a:xfrm>
            <a:off x="822960" y="5084064"/>
            <a:ext cx="365760" cy="365760"/>
          </a:xfrm>
          <a:prstGeom prst="rect">
            <a:avLst/>
          </a:prstGeom>
        </p:spPr>
      </p:pic>
      <p:sp>
        <p:nvSpPr>
          <p:cNvPr id="18" name="Text 12"/>
          <p:cNvSpPr txBox="1"/>
          <p:nvPr/>
        </p:nvSpPr>
        <p:spPr>
          <a:xfrm>
            <a:off x="1600200" y="4882896"/>
            <a:ext cx="5120640" cy="365760"/>
          </a:xfrm>
          <a:prstGeom prst="rect">
            <a:avLst/>
          </a:prstGeom>
          <a:noFill/>
          <a:ln/>
        </p:spPr>
        <p:txBody>
          <a:bodyPr wrap="square" lIns="0" tIns="0" rIns="0" bIns="0" rtlCol="0" anchor="ctr"/>
          <a:lstStyle/>
          <a:p>
            <a:pPr indent="0" marL="0">
              <a:buNone/>
            </a:pPr>
            <a:r>
              <a:rPr lang="en-US" sz="1800" b="1" dirty="0">
                <a:solidFill>
                  <a:srgbClr val="292524"/>
                </a:solidFill>
                <a:latin typeface="Arial" pitchFamily="34" charset="0"/>
                <a:ea typeface="Arial" pitchFamily="34" charset="-122"/>
                <a:cs typeface="Arial" pitchFamily="34" charset="-120"/>
              </a:rPr>
              <a:t>Private keys</a:t>
            </a:r>
            <a:endParaRPr lang="en-US" sz="1800" dirty="0"/>
          </a:p>
        </p:txBody>
      </p:sp>
      <p:sp>
        <p:nvSpPr>
          <p:cNvPr id="19" name="Text 13"/>
          <p:cNvSpPr txBox="1"/>
          <p:nvPr/>
        </p:nvSpPr>
        <p:spPr>
          <a:xfrm>
            <a:off x="1600200" y="5248656"/>
            <a:ext cx="5120640" cy="45720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Stored only on this machine and on Vercel. Never committed to GitHub.</a:t>
            </a:r>
            <a:endParaRPr lang="en-US" sz="1400" dirty="0"/>
          </a:p>
        </p:txBody>
      </p:sp>
      <p:sp>
        <p:nvSpPr>
          <p:cNvPr id="20" name="Shape 14"/>
          <p:cNvSpPr/>
          <p:nvPr/>
        </p:nvSpPr>
        <p:spPr>
          <a:xfrm>
            <a:off x="7406640" y="1828800"/>
            <a:ext cx="4114800" cy="3840480"/>
          </a:xfrm>
          <a:prstGeom prst="roundRect">
            <a:avLst>
              <a:gd name="adj" fmla="val 5238"/>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21" name="Text 15"/>
          <p:cNvSpPr txBox="1"/>
          <p:nvPr/>
        </p:nvSpPr>
        <p:spPr>
          <a:xfrm>
            <a:off x="7406640" y="2240280"/>
            <a:ext cx="4114800" cy="1463040"/>
          </a:xfrm>
          <a:prstGeom prst="rect">
            <a:avLst/>
          </a:prstGeom>
          <a:noFill/>
          <a:ln/>
        </p:spPr>
        <p:txBody>
          <a:bodyPr wrap="square" lIns="0" tIns="0" rIns="0" bIns="0" rtlCol="0" anchor="ctr"/>
          <a:lstStyle/>
          <a:p>
            <a:pPr algn="ctr" indent="0" marL="0">
              <a:buNone/>
            </a:pPr>
            <a:r>
              <a:rPr lang="en-US" sz="11000" b="1" dirty="0">
                <a:solidFill>
                  <a:srgbClr val="F97316"/>
                </a:solidFill>
                <a:latin typeface="Arial" pitchFamily="34" charset="0"/>
                <a:ea typeface="Arial" pitchFamily="34" charset="-122"/>
                <a:cs typeface="Arial" pitchFamily="34" charset="-120"/>
              </a:rPr>
              <a:t>4</a:t>
            </a:r>
            <a:endParaRPr lang="en-US" sz="11000" dirty="0"/>
          </a:p>
        </p:txBody>
      </p:sp>
      <p:sp>
        <p:nvSpPr>
          <p:cNvPr id="22" name="Text 16"/>
          <p:cNvSpPr txBox="1"/>
          <p:nvPr/>
        </p:nvSpPr>
        <p:spPr>
          <a:xfrm>
            <a:off x="7406640" y="3749040"/>
            <a:ext cx="4114800" cy="457200"/>
          </a:xfrm>
          <a:prstGeom prst="rect">
            <a:avLst/>
          </a:prstGeom>
          <a:noFill/>
          <a:ln/>
        </p:spPr>
        <p:txBody>
          <a:bodyPr wrap="square" lIns="0" tIns="0" rIns="0" bIns="0" rtlCol="0" anchor="ctr"/>
          <a:lstStyle/>
          <a:p>
            <a:pPr algn="ctr" indent="0" marL="0">
              <a:buNone/>
            </a:pPr>
            <a:r>
              <a:rPr lang="en-US" sz="2200" b="1" dirty="0">
                <a:solidFill>
                  <a:srgbClr val="292524"/>
                </a:solidFill>
                <a:latin typeface="Arial" pitchFamily="34" charset="0"/>
                <a:ea typeface="Arial" pitchFamily="34" charset="-122"/>
                <a:cs typeface="Arial" pitchFamily="34" charset="-120"/>
              </a:rPr>
              <a:t>tools connected</a:t>
            </a:r>
            <a:endParaRPr lang="en-US" sz="2200" dirty="0"/>
          </a:p>
        </p:txBody>
      </p:sp>
      <p:sp>
        <p:nvSpPr>
          <p:cNvPr id="23" name="Text 17"/>
          <p:cNvSpPr txBox="1"/>
          <p:nvPr/>
        </p:nvSpPr>
        <p:spPr>
          <a:xfrm>
            <a:off x="7818120" y="4343400"/>
            <a:ext cx="3291840" cy="914400"/>
          </a:xfrm>
          <a:prstGeom prst="rect">
            <a:avLst/>
          </a:prstGeom>
          <a:noFill/>
          <a:ln/>
        </p:spPr>
        <p:txBody>
          <a:bodyPr wrap="square" lIns="0" tIns="0" rIns="0" bIns="0" rtlCol="0" anchor="t"/>
          <a:lstStyle/>
          <a:p>
            <a:pPr algn="ctr" indent="0" marL="0">
              <a:buNone/>
            </a:pPr>
            <a:r>
              <a:rPr lang="en-US" sz="1400" dirty="0">
                <a:solidFill>
                  <a:srgbClr val="78716C"/>
                </a:solidFill>
                <a:latin typeface="Arial" pitchFamily="34" charset="0"/>
                <a:ea typeface="Arial" pitchFamily="34" charset="-122"/>
                <a:cs typeface="Arial" pitchFamily="34" charset="-120"/>
              </a:rPr>
              <a:t>From an empty laptop to a working copy of the live app, checked end to end.</a:t>
            </a:r>
            <a:endParaRPr lang="en-US" sz="1400" dirty="0"/>
          </a:p>
        </p:txBody>
      </p:sp>
      <p:pic>
        <p:nvPicPr>
          <p:cNvPr id="24" name="Image 4" descr="/Users/gerejastanislaus/Capstone Project/flyer/a-team-logo.png">    </p:cNvPr>
          <p:cNvPicPr>
            <a:picLocks noChangeAspect="1"/>
          </p:cNvPicPr>
          <p:nvPr/>
        </p:nvPicPr>
        <p:blipFill>
          <a:blip r:embed="rId5"/>
          <a:stretch>
            <a:fillRect/>
          </a:stretch>
        </p:blipFill>
        <p:spPr>
          <a:xfrm>
            <a:off x="640080" y="6236208"/>
            <a:ext cx="292608" cy="292608"/>
          </a:xfrm>
          <a:prstGeom prst="rect">
            <a:avLst/>
          </a:prstGeom>
        </p:spPr>
      </p:pic>
      <p:sp>
        <p:nvSpPr>
          <p:cNvPr id="25" name="Text 18"/>
          <p:cNvSpPr txBox="1"/>
          <p:nvPr/>
        </p:nvSpPr>
        <p:spPr>
          <a:xfrm>
            <a:off x="1024128" y="6236208"/>
            <a:ext cx="4572000" cy="292608"/>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Capstone Project · A Team</a:t>
            </a:r>
            <a:endParaRPr lang="en-US" sz="1100" dirty="0"/>
          </a:p>
        </p:txBody>
      </p:sp>
      <p:sp>
        <p:nvSpPr>
          <p:cNvPr id="26" name="Text 19"/>
          <p:cNvSpPr txBox="1"/>
          <p:nvPr/>
        </p:nvSpPr>
        <p:spPr>
          <a:xfrm>
            <a:off x="11094415" y="6236208"/>
            <a:ext cx="457200" cy="292608"/>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02 · SECURED   ·   03 · CHECKED</a:t>
            </a:r>
            <a:endParaRPr lang="en-US" sz="1300" dirty="0"/>
          </a:p>
        </p:txBody>
      </p:sp>
      <p:sp>
        <p:nvSpPr>
          <p:cNvPr id="3" name="Text 1"/>
          <p:cNvSpPr txBox="1"/>
          <p:nvPr/>
        </p:nvSpPr>
        <p:spPr>
          <a:xfrm>
            <a:off x="640080" y="822960"/>
            <a:ext cx="10881360" cy="731520"/>
          </a:xfrm>
          <a:prstGeom prst="rect">
            <a:avLst/>
          </a:prstGeom>
          <a:noFill/>
          <a:ln/>
        </p:spPr>
        <p:txBody>
          <a:bodyPr wrap="square" lIns="0" tIns="0" rIns="0" bIns="0" rtlCol="0" anchor="ctr"/>
          <a:lstStyle/>
          <a:p>
            <a:pPr indent="0" marL="0">
              <a:buNone/>
            </a:pPr>
            <a:r>
              <a:rPr lang="en-US" sz="3600" b="1" dirty="0">
                <a:solidFill>
                  <a:srgbClr val="292524"/>
                </a:solidFill>
                <a:latin typeface="Arial" pitchFamily="34" charset="0"/>
                <a:ea typeface="Arial" pitchFamily="34" charset="-122"/>
                <a:cs typeface="Arial" pitchFamily="34" charset="-120"/>
              </a:rPr>
              <a:t>Safer and verified before release</a:t>
            </a:r>
            <a:endParaRPr lang="en-US" sz="3600" dirty="0"/>
          </a:p>
        </p:txBody>
      </p:sp>
      <p:sp>
        <p:nvSpPr>
          <p:cNvPr id="4" name="Shape 2"/>
          <p:cNvSpPr/>
          <p:nvPr/>
        </p:nvSpPr>
        <p:spPr>
          <a:xfrm>
            <a:off x="640080" y="1920240"/>
            <a:ext cx="2560320" cy="3566160"/>
          </a:xfrm>
          <a:prstGeom prst="roundRect">
            <a:avLst>
              <a:gd name="adj" fmla="val 7857"/>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5" name="Text 3"/>
          <p:cNvSpPr txBox="1"/>
          <p:nvPr/>
        </p:nvSpPr>
        <p:spPr>
          <a:xfrm>
            <a:off x="914400" y="2286000"/>
            <a:ext cx="2011680" cy="1097280"/>
          </a:xfrm>
          <a:prstGeom prst="rect">
            <a:avLst/>
          </a:prstGeom>
          <a:noFill/>
          <a:ln/>
        </p:spPr>
        <p:txBody>
          <a:bodyPr wrap="square" lIns="0" tIns="0" rIns="0" bIns="0" rtlCol="0" anchor="ctr"/>
          <a:lstStyle/>
          <a:p>
            <a:pPr indent="0" marL="0">
              <a:buNone/>
            </a:pPr>
            <a:r>
              <a:rPr lang="en-US" sz="4800" b="1" dirty="0">
                <a:solidFill>
                  <a:srgbClr val="F97316"/>
                </a:solidFill>
                <a:latin typeface="Arial" pitchFamily="34" charset="0"/>
                <a:ea typeface="Arial" pitchFamily="34" charset="-122"/>
                <a:cs typeface="Arial" pitchFamily="34" charset="-120"/>
              </a:rPr>
              <a:t>16.3.6</a:t>
            </a:r>
            <a:endParaRPr lang="en-US" sz="4800" dirty="0"/>
          </a:p>
        </p:txBody>
      </p:sp>
      <p:sp>
        <p:nvSpPr>
          <p:cNvPr id="6" name="Text 4"/>
          <p:cNvSpPr txBox="1"/>
          <p:nvPr/>
        </p:nvSpPr>
        <p:spPr>
          <a:xfrm>
            <a:off x="914400" y="3520440"/>
            <a:ext cx="2011680" cy="685800"/>
          </a:xfrm>
          <a:prstGeom prst="rect">
            <a:avLst/>
          </a:prstGeom>
          <a:noFill/>
          <a:ln/>
        </p:spPr>
        <p:txBody>
          <a:bodyPr wrap="square" lIns="0" tIns="0" rIns="0" bIns="0" rtlCol="0" anchor="t"/>
          <a:lstStyle/>
          <a:p>
            <a:pPr indent="0" marL="0">
              <a:buNone/>
            </a:pPr>
            <a:r>
              <a:rPr lang="en-US" sz="1800" b="1" dirty="0">
                <a:solidFill>
                  <a:srgbClr val="292524"/>
                </a:solidFill>
                <a:latin typeface="Arial" pitchFamily="34" charset="0"/>
                <a:ea typeface="Arial" pitchFamily="34" charset="-122"/>
                <a:cs typeface="Arial" pitchFamily="34" charset="-120"/>
              </a:rPr>
              <a:t>Next.js version</a:t>
            </a:r>
            <a:endParaRPr lang="en-US" sz="1800" dirty="0"/>
          </a:p>
        </p:txBody>
      </p:sp>
      <p:sp>
        <p:nvSpPr>
          <p:cNvPr id="7" name="Text 5"/>
          <p:cNvSpPr txBox="1"/>
          <p:nvPr/>
        </p:nvSpPr>
        <p:spPr>
          <a:xfrm>
            <a:off x="914400" y="4251960"/>
            <a:ext cx="2011680" cy="100584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Upgraded from 16.2.6 to pick up the latest security fixes.</a:t>
            </a:r>
            <a:endParaRPr lang="en-US" sz="1400" dirty="0"/>
          </a:p>
        </p:txBody>
      </p:sp>
      <p:sp>
        <p:nvSpPr>
          <p:cNvPr id="8" name="Shape 6"/>
          <p:cNvSpPr/>
          <p:nvPr/>
        </p:nvSpPr>
        <p:spPr>
          <a:xfrm>
            <a:off x="3474720" y="1920240"/>
            <a:ext cx="2560320" cy="3566160"/>
          </a:xfrm>
          <a:prstGeom prst="roundRect">
            <a:avLst>
              <a:gd name="adj" fmla="val 7857"/>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9" name="Text 7"/>
          <p:cNvSpPr txBox="1"/>
          <p:nvPr/>
        </p:nvSpPr>
        <p:spPr>
          <a:xfrm>
            <a:off x="3749040" y="2286000"/>
            <a:ext cx="2011680" cy="1097280"/>
          </a:xfrm>
          <a:prstGeom prst="rect">
            <a:avLst/>
          </a:prstGeom>
          <a:noFill/>
          <a:ln/>
        </p:spPr>
        <p:txBody>
          <a:bodyPr wrap="square" lIns="0" tIns="0" rIns="0" bIns="0" rtlCol="0" anchor="ctr"/>
          <a:lstStyle/>
          <a:p>
            <a:pPr indent="0" marL="0">
              <a:buNone/>
            </a:pPr>
            <a:r>
              <a:rPr lang="en-US" sz="6600" b="1" dirty="0">
                <a:solidFill>
                  <a:srgbClr val="F97316"/>
                </a:solidFill>
                <a:latin typeface="Arial" pitchFamily="34" charset="0"/>
                <a:ea typeface="Arial" pitchFamily="34" charset="-122"/>
                <a:cs typeface="Arial" pitchFamily="34" charset="-120"/>
              </a:rPr>
              <a:t>0</a:t>
            </a:r>
            <a:endParaRPr lang="en-US" sz="6600" dirty="0"/>
          </a:p>
        </p:txBody>
      </p:sp>
      <p:sp>
        <p:nvSpPr>
          <p:cNvPr id="10" name="Text 8"/>
          <p:cNvSpPr txBox="1"/>
          <p:nvPr/>
        </p:nvSpPr>
        <p:spPr>
          <a:xfrm>
            <a:off x="3749040" y="3520440"/>
            <a:ext cx="2011680" cy="685800"/>
          </a:xfrm>
          <a:prstGeom prst="rect">
            <a:avLst/>
          </a:prstGeom>
          <a:noFill/>
          <a:ln/>
        </p:spPr>
        <p:txBody>
          <a:bodyPr wrap="square" lIns="0" tIns="0" rIns="0" bIns="0" rtlCol="0" anchor="t"/>
          <a:lstStyle/>
          <a:p>
            <a:pPr indent="0" marL="0">
              <a:buNone/>
            </a:pPr>
            <a:r>
              <a:rPr lang="en-US" sz="1800" b="1" dirty="0">
                <a:solidFill>
                  <a:srgbClr val="292524"/>
                </a:solidFill>
                <a:latin typeface="Arial" pitchFamily="34" charset="0"/>
                <a:ea typeface="Arial" pitchFamily="34" charset="-122"/>
                <a:cs typeface="Arial" pitchFamily="34" charset="-120"/>
              </a:rPr>
              <a:t>critical or high issues</a:t>
            </a:r>
            <a:endParaRPr lang="en-US" sz="1800" dirty="0"/>
          </a:p>
        </p:txBody>
      </p:sp>
      <p:sp>
        <p:nvSpPr>
          <p:cNvPr id="11" name="Text 9"/>
          <p:cNvSpPr txBox="1"/>
          <p:nvPr/>
        </p:nvSpPr>
        <p:spPr>
          <a:xfrm>
            <a:off x="3749040" y="4251960"/>
            <a:ext cx="2011680" cy="100584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All serious dependency warnings resolved.</a:t>
            </a:r>
            <a:endParaRPr lang="en-US" sz="1400" dirty="0"/>
          </a:p>
        </p:txBody>
      </p:sp>
      <p:sp>
        <p:nvSpPr>
          <p:cNvPr id="12" name="Shape 10"/>
          <p:cNvSpPr/>
          <p:nvPr/>
        </p:nvSpPr>
        <p:spPr>
          <a:xfrm>
            <a:off x="6309360" y="1920240"/>
            <a:ext cx="2560320" cy="3566160"/>
          </a:xfrm>
          <a:prstGeom prst="roundRect">
            <a:avLst>
              <a:gd name="adj" fmla="val 7857"/>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3" name="Text 11"/>
          <p:cNvSpPr txBox="1"/>
          <p:nvPr/>
        </p:nvSpPr>
        <p:spPr>
          <a:xfrm>
            <a:off x="6583680" y="2286000"/>
            <a:ext cx="2011680" cy="1097280"/>
          </a:xfrm>
          <a:prstGeom prst="rect">
            <a:avLst/>
          </a:prstGeom>
          <a:noFill/>
          <a:ln/>
        </p:spPr>
        <p:txBody>
          <a:bodyPr wrap="square" lIns="0" tIns="0" rIns="0" bIns="0" rtlCol="0" anchor="ctr"/>
          <a:lstStyle/>
          <a:p>
            <a:pPr indent="0" marL="0">
              <a:buNone/>
            </a:pPr>
            <a:r>
              <a:rPr lang="en-US" sz="6600" b="1" dirty="0">
                <a:solidFill>
                  <a:srgbClr val="F97316"/>
                </a:solidFill>
                <a:latin typeface="Arial" pitchFamily="34" charset="0"/>
                <a:ea typeface="Arial" pitchFamily="34" charset="-122"/>
                <a:cs typeface="Arial" pitchFamily="34" charset="-120"/>
              </a:rPr>
              <a:t>0</a:t>
            </a:r>
            <a:endParaRPr lang="en-US" sz="6600" dirty="0"/>
          </a:p>
        </p:txBody>
      </p:sp>
      <p:sp>
        <p:nvSpPr>
          <p:cNvPr id="14" name="Text 12"/>
          <p:cNvSpPr txBox="1"/>
          <p:nvPr/>
        </p:nvSpPr>
        <p:spPr>
          <a:xfrm>
            <a:off x="6583680" y="3520440"/>
            <a:ext cx="2011680" cy="685800"/>
          </a:xfrm>
          <a:prstGeom prst="rect">
            <a:avLst/>
          </a:prstGeom>
          <a:noFill/>
          <a:ln/>
        </p:spPr>
        <p:txBody>
          <a:bodyPr wrap="square" lIns="0" tIns="0" rIns="0" bIns="0" rtlCol="0" anchor="t"/>
          <a:lstStyle/>
          <a:p>
            <a:pPr indent="0" marL="0">
              <a:buNone/>
            </a:pPr>
            <a:r>
              <a:rPr lang="en-US" sz="1800" b="1" dirty="0">
                <a:solidFill>
                  <a:srgbClr val="292524"/>
                </a:solidFill>
                <a:latin typeface="Arial" pitchFamily="34" charset="0"/>
                <a:ea typeface="Arial" pitchFamily="34" charset="-122"/>
                <a:cs typeface="Arial" pitchFamily="34" charset="-120"/>
              </a:rPr>
              <a:t>code-check errors</a:t>
            </a:r>
            <a:endParaRPr lang="en-US" sz="1800" dirty="0"/>
          </a:p>
        </p:txBody>
      </p:sp>
      <p:sp>
        <p:nvSpPr>
          <p:cNvPr id="15" name="Text 13"/>
          <p:cNvSpPr txBox="1"/>
          <p:nvPr/>
        </p:nvSpPr>
        <p:spPr>
          <a:xfrm>
            <a:off x="6583680" y="4251960"/>
            <a:ext cx="2011680" cy="100584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Linting restored and its two real issues fixed.</a:t>
            </a:r>
            <a:endParaRPr lang="en-US" sz="1400" dirty="0"/>
          </a:p>
        </p:txBody>
      </p:sp>
      <p:sp>
        <p:nvSpPr>
          <p:cNvPr id="16" name="Shape 14"/>
          <p:cNvSpPr/>
          <p:nvPr/>
        </p:nvSpPr>
        <p:spPr>
          <a:xfrm>
            <a:off x="9144000" y="1920240"/>
            <a:ext cx="2560320" cy="3566160"/>
          </a:xfrm>
          <a:prstGeom prst="roundRect">
            <a:avLst>
              <a:gd name="adj" fmla="val 7857"/>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sp>
        <p:nvSpPr>
          <p:cNvPr id="17" name="Text 15"/>
          <p:cNvSpPr txBox="1"/>
          <p:nvPr/>
        </p:nvSpPr>
        <p:spPr>
          <a:xfrm>
            <a:off x="9418320" y="2286000"/>
            <a:ext cx="2011680" cy="1097280"/>
          </a:xfrm>
          <a:prstGeom prst="rect">
            <a:avLst/>
          </a:prstGeom>
          <a:noFill/>
          <a:ln/>
        </p:spPr>
        <p:txBody>
          <a:bodyPr wrap="square" lIns="0" tIns="0" rIns="0" bIns="0" rtlCol="0" anchor="ctr"/>
          <a:lstStyle/>
          <a:p>
            <a:pPr indent="0" marL="0">
              <a:buNone/>
            </a:pPr>
            <a:r>
              <a:rPr lang="en-US" sz="4800" b="1" dirty="0">
                <a:solidFill>
                  <a:srgbClr val="F97316"/>
                </a:solidFill>
                <a:latin typeface="Arial" pitchFamily="34" charset="0"/>
                <a:ea typeface="Arial" pitchFamily="34" charset="-122"/>
                <a:cs typeface="Arial" pitchFamily="34" charset="-120"/>
              </a:rPr>
              <a:t>100%</a:t>
            </a:r>
            <a:endParaRPr lang="en-US" sz="4800" dirty="0"/>
          </a:p>
        </p:txBody>
      </p:sp>
      <p:sp>
        <p:nvSpPr>
          <p:cNvPr id="18" name="Text 16"/>
          <p:cNvSpPr txBox="1"/>
          <p:nvPr/>
        </p:nvSpPr>
        <p:spPr>
          <a:xfrm>
            <a:off x="9418320" y="3520440"/>
            <a:ext cx="2011680" cy="685800"/>
          </a:xfrm>
          <a:prstGeom prst="rect">
            <a:avLst/>
          </a:prstGeom>
          <a:noFill/>
          <a:ln/>
        </p:spPr>
        <p:txBody>
          <a:bodyPr wrap="square" lIns="0" tIns="0" rIns="0" bIns="0" rtlCol="0" anchor="t"/>
          <a:lstStyle/>
          <a:p>
            <a:pPr indent="0" marL="0">
              <a:buNone/>
            </a:pPr>
            <a:r>
              <a:rPr lang="en-US" sz="1800" b="1" dirty="0">
                <a:solidFill>
                  <a:srgbClr val="292524"/>
                </a:solidFill>
                <a:latin typeface="Arial" pitchFamily="34" charset="0"/>
                <a:ea typeface="Arial" pitchFamily="34" charset="-122"/>
                <a:cs typeface="Arial" pitchFamily="34" charset="-120"/>
              </a:rPr>
              <a:t>of pages built</a:t>
            </a:r>
            <a:endParaRPr lang="en-US" sz="1800" dirty="0"/>
          </a:p>
        </p:txBody>
      </p:sp>
      <p:sp>
        <p:nvSpPr>
          <p:cNvPr id="19" name="Text 17"/>
          <p:cNvSpPr txBox="1"/>
          <p:nvPr/>
        </p:nvSpPr>
        <p:spPr>
          <a:xfrm>
            <a:off x="9418320" y="4251960"/>
            <a:ext cx="2011680" cy="1005840"/>
          </a:xfrm>
          <a:prstGeom prst="rect">
            <a:avLst/>
          </a:prstGeom>
          <a:noFill/>
          <a:ln/>
        </p:spPr>
        <p:txBody>
          <a:bodyPr wrap="square" lIns="0" tIns="0" rIns="0" bIns="0" rtlCol="0" anchor="t"/>
          <a:lstStyle/>
          <a:p>
            <a:pPr indent="0" marL="0">
              <a:buNone/>
            </a:pPr>
            <a:r>
              <a:rPr lang="en-US" sz="1400" dirty="0">
                <a:solidFill>
                  <a:srgbClr val="78716C"/>
                </a:solidFill>
                <a:latin typeface="Arial" pitchFamily="34" charset="0"/>
                <a:ea typeface="Arial" pitchFamily="34" charset="-122"/>
                <a:cs typeface="Arial" pitchFamily="34" charset="-120"/>
              </a:rPr>
              <a:t>Full production build tested before going live.</a:t>
            </a:r>
            <a:endParaRPr lang="en-US" sz="1400" dirty="0"/>
          </a:p>
        </p:txBody>
      </p:sp>
      <p:pic>
        <p:nvPicPr>
          <p:cNvPr id="20" name="Image 0" descr="/Users/gerejastanislaus/Capstone Project/flyer/a-team-logo.png">    </p:cNvPr>
          <p:cNvPicPr>
            <a:picLocks noChangeAspect="1"/>
          </p:cNvPicPr>
          <p:nvPr/>
        </p:nvPicPr>
        <p:blipFill>
          <a:blip r:embed="rId1"/>
          <a:stretch>
            <a:fillRect/>
          </a:stretch>
        </p:blipFill>
        <p:spPr>
          <a:xfrm>
            <a:off x="640080" y="6236208"/>
            <a:ext cx="292608" cy="292608"/>
          </a:xfrm>
          <a:prstGeom prst="rect">
            <a:avLst/>
          </a:prstGeom>
        </p:spPr>
      </p:pic>
      <p:sp>
        <p:nvSpPr>
          <p:cNvPr id="21" name="Text 18"/>
          <p:cNvSpPr txBox="1"/>
          <p:nvPr/>
        </p:nvSpPr>
        <p:spPr>
          <a:xfrm>
            <a:off x="1024128" y="6236208"/>
            <a:ext cx="4572000" cy="292608"/>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Capstone Project · A Team</a:t>
            </a:r>
            <a:endParaRPr lang="en-US" sz="1100" dirty="0"/>
          </a:p>
        </p:txBody>
      </p:sp>
      <p:sp>
        <p:nvSpPr>
          <p:cNvPr id="22" name="Text 19"/>
          <p:cNvSpPr txBox="1"/>
          <p:nvPr/>
        </p:nvSpPr>
        <p:spPr>
          <a:xfrm>
            <a:off x="11094415" y="6236208"/>
            <a:ext cx="457200" cy="292608"/>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D"/>
        </a:solidFill>
      </p:bgPr>
    </p:bg>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ctr"/>
          <a:lstStyle/>
          <a:p>
            <a:pPr indent="0" marL="0">
              <a:buNone/>
            </a:pPr>
            <a:r>
              <a:rPr lang="en-US" sz="1300" b="1" spc="300" kern="0" dirty="0">
                <a:solidFill>
                  <a:srgbClr val="C2410C"/>
                </a:solidFill>
                <a:latin typeface="Arial" pitchFamily="34" charset="0"/>
                <a:ea typeface="Arial" pitchFamily="34" charset="-122"/>
                <a:cs typeface="Arial" pitchFamily="34" charset="-120"/>
              </a:rPr>
              <a:t>04 · LIVE</a:t>
            </a:r>
            <a:endParaRPr lang="en-US" sz="1300" dirty="0"/>
          </a:p>
        </p:txBody>
      </p:sp>
      <p:sp>
        <p:nvSpPr>
          <p:cNvPr id="3" name="Text 1"/>
          <p:cNvSpPr txBox="1"/>
          <p:nvPr/>
        </p:nvSpPr>
        <p:spPr>
          <a:xfrm>
            <a:off x="640080" y="822960"/>
            <a:ext cx="10881360" cy="731520"/>
          </a:xfrm>
          <a:prstGeom prst="rect">
            <a:avLst/>
          </a:prstGeom>
          <a:noFill/>
          <a:ln/>
        </p:spPr>
        <p:txBody>
          <a:bodyPr wrap="square" lIns="0" tIns="0" rIns="0" bIns="0" rtlCol="0" anchor="ctr"/>
          <a:lstStyle/>
          <a:p>
            <a:pPr indent="0" marL="0">
              <a:buNone/>
            </a:pPr>
            <a:r>
              <a:rPr lang="en-US" sz="3600" b="1" dirty="0">
                <a:solidFill>
                  <a:srgbClr val="292524"/>
                </a:solidFill>
                <a:latin typeface="Arial" pitchFamily="34" charset="0"/>
                <a:ea typeface="Arial" pitchFamily="34" charset="-122"/>
                <a:cs typeface="Arial" pitchFamily="34" charset="-120"/>
              </a:rPr>
              <a:t>The latest version is live now</a:t>
            </a:r>
            <a:endParaRPr lang="en-US" sz="3600" dirty="0"/>
          </a:p>
        </p:txBody>
      </p:sp>
      <p:sp>
        <p:nvSpPr>
          <p:cNvPr id="4" name="Shape 2"/>
          <p:cNvSpPr/>
          <p:nvPr/>
        </p:nvSpPr>
        <p:spPr>
          <a:xfrm>
            <a:off x="640080" y="1920240"/>
            <a:ext cx="4023360" cy="502920"/>
          </a:xfrm>
          <a:prstGeom prst="roundRect">
            <a:avLst>
              <a:gd name="adj" fmla="val 49091"/>
            </a:avLst>
          </a:prstGeom>
          <a:solidFill>
            <a:srgbClr val="FFFFFF"/>
          </a:solidFill>
          <a:ln w="9525">
            <a:solidFill>
              <a:srgbClr val="EFE6DA"/>
            </a:solidFill>
            <a:prstDash val="solid"/>
          </a:ln>
        </p:spPr>
      </p:sp>
      <p:sp>
        <p:nvSpPr>
          <p:cNvPr id="5" name="Shape 3"/>
          <p:cNvSpPr/>
          <p:nvPr/>
        </p:nvSpPr>
        <p:spPr>
          <a:xfrm>
            <a:off x="841248" y="2084832"/>
            <a:ext cx="173736" cy="173736"/>
          </a:xfrm>
          <a:prstGeom prst="ellipse">
            <a:avLst/>
          </a:prstGeom>
          <a:solidFill>
            <a:srgbClr val="16A34A"/>
          </a:solidFill>
          <a:ln/>
        </p:spPr>
      </p:sp>
      <p:sp>
        <p:nvSpPr>
          <p:cNvPr id="6" name="Text 4"/>
          <p:cNvSpPr txBox="1"/>
          <p:nvPr/>
        </p:nvSpPr>
        <p:spPr>
          <a:xfrm>
            <a:off x="1143000" y="1920240"/>
            <a:ext cx="3474720" cy="502920"/>
          </a:xfrm>
          <a:prstGeom prst="rect">
            <a:avLst/>
          </a:prstGeom>
          <a:noFill/>
          <a:ln/>
        </p:spPr>
        <p:txBody>
          <a:bodyPr wrap="square" lIns="0" tIns="0" rIns="0" bIns="0" rtlCol="0" anchor="ctr"/>
          <a:lstStyle/>
          <a:p>
            <a:pPr indent="0" marL="0">
              <a:buNone/>
            </a:pPr>
            <a:r>
              <a:rPr lang="en-US" sz="1400" b="1" dirty="0">
                <a:solidFill>
                  <a:srgbClr val="292524"/>
                </a:solidFill>
                <a:latin typeface="Arial" pitchFamily="34" charset="0"/>
                <a:ea typeface="Arial" pitchFamily="34" charset="-122"/>
                <a:cs typeface="Arial" pitchFamily="34" charset="-120"/>
              </a:rPr>
              <a:t>Ready · Production · 28 Sep 2026</a:t>
            </a:r>
            <a:endParaRPr lang="en-US" sz="1400" dirty="0"/>
          </a:p>
        </p:txBody>
      </p:sp>
      <p:sp>
        <p:nvSpPr>
          <p:cNvPr id="7" name="Text 5"/>
          <p:cNvSpPr txBox="1"/>
          <p:nvPr/>
        </p:nvSpPr>
        <p:spPr>
          <a:xfrm>
            <a:off x="640080" y="2834640"/>
            <a:ext cx="5486400" cy="411480"/>
          </a:xfrm>
          <a:prstGeom prst="rect">
            <a:avLst/>
          </a:prstGeom>
          <a:noFill/>
          <a:ln/>
        </p:spPr>
        <p:txBody>
          <a:bodyPr wrap="square" lIns="0" tIns="0" rIns="0" bIns="0" rtlCol="0" anchor="ctr"/>
          <a:lstStyle/>
          <a:p>
            <a:pPr indent="0" marL="0">
              <a:buNone/>
            </a:pPr>
            <a:r>
              <a:rPr lang="en-US" sz="1800" dirty="0">
                <a:solidFill>
                  <a:srgbClr val="78716C"/>
                </a:solidFill>
                <a:latin typeface="Arial" pitchFamily="34" charset="0"/>
                <a:ea typeface="Arial" pitchFamily="34" charset="-122"/>
                <a:cs typeface="Arial" pitchFamily="34" charset="-120"/>
              </a:rPr>
              <a:t>Visit</a:t>
            </a:r>
            <a:endParaRPr lang="en-US" sz="1800" dirty="0"/>
          </a:p>
        </p:txBody>
      </p:sp>
      <p:sp>
        <p:nvSpPr>
          <p:cNvPr id="8" name="Text 6"/>
          <p:cNvSpPr txBox="1"/>
          <p:nvPr/>
        </p:nvSpPr>
        <p:spPr>
          <a:xfrm>
            <a:off x="640080" y="3200400"/>
            <a:ext cx="6583680" cy="822960"/>
          </a:xfrm>
          <a:prstGeom prst="rect">
            <a:avLst/>
          </a:prstGeom>
          <a:noFill/>
          <a:ln/>
        </p:spPr>
        <p:txBody>
          <a:bodyPr wrap="square" lIns="0" tIns="0" rIns="0" bIns="0" rtlCol="0" anchor="ctr"/>
          <a:lstStyle/>
          <a:p>
            <a:pPr indent="0" marL="0">
              <a:buNone/>
            </a:pPr>
            <a:r>
              <a:rPr lang="en-US" sz="4000" b="1" dirty="0">
                <a:solidFill>
                  <a:srgbClr val="C2410C"/>
                </a:solidFill>
                <a:latin typeface="Arial" pitchFamily="34" charset="0"/>
                <a:ea typeface="Arial" pitchFamily="34" charset="-122"/>
                <a:cs typeface="Arial" pitchFamily="34" charset="-120"/>
              </a:rPr>
              <a:t>komunitasa.vercel.app</a:t>
            </a:r>
            <a:endParaRPr lang="en-US" sz="4000" dirty="0"/>
          </a:p>
        </p:txBody>
      </p:sp>
      <p:sp>
        <p:nvSpPr>
          <p:cNvPr id="9" name="Text 7"/>
          <p:cNvSpPr txBox="1"/>
          <p:nvPr/>
        </p:nvSpPr>
        <p:spPr>
          <a:xfrm>
            <a:off x="640080" y="4206240"/>
            <a:ext cx="6035040" cy="1280160"/>
          </a:xfrm>
          <a:prstGeom prst="rect">
            <a:avLst/>
          </a:prstGeom>
          <a:noFill/>
          <a:ln/>
        </p:spPr>
        <p:txBody>
          <a:bodyPr wrap="square" lIns="0" tIns="0" rIns="0" bIns="0" rtlCol="0" anchor="t"/>
          <a:lstStyle/>
          <a:p>
            <a:pPr indent="0" marL="0">
              <a:spcAft>
                <a:spcPts val="1000"/>
              </a:spcAft>
              <a:buNone/>
            </a:pPr>
            <a:r>
              <a:rPr lang="en-US" sz="1600" dirty="0">
                <a:solidFill>
                  <a:srgbClr val="44403C"/>
                </a:solidFill>
                <a:latin typeface="Arial" pitchFamily="34" charset="0"/>
                <a:ea typeface="Arial" pitchFamily="34" charset="-122"/>
                <a:cs typeface="Arial" pitchFamily="34" charset="-120"/>
              </a:rPr>
              <a:t>Sign up with your email, pick your hobbies, and see what's happening near you.</a:t>
            </a:r>
            <a:endParaRPr lang="en-US" sz="1600" dirty="0"/>
          </a:p>
          <a:p>
            <a:pPr indent="0" marL="0">
              <a:buNone/>
            </a:pPr>
            <a:r>
              <a:rPr lang="en-US" sz="1600" dirty="0">
                <a:solidFill>
                  <a:srgbClr val="44403C"/>
                </a:solidFill>
                <a:latin typeface="Arial" pitchFamily="34" charset="0"/>
                <a:ea typeface="Arial" pitchFamily="34" charset="-122"/>
                <a:cs typeface="Arial" pitchFamily="34" charset="-120"/>
              </a:rPr>
              <a:t>Every new change now goes through the same checks before it reaches the live site.</a:t>
            </a:r>
            <a:endParaRPr lang="en-US" sz="1600" dirty="0"/>
          </a:p>
        </p:txBody>
      </p:sp>
      <p:sp>
        <p:nvSpPr>
          <p:cNvPr id="10" name="Shape 8"/>
          <p:cNvSpPr/>
          <p:nvPr/>
        </p:nvSpPr>
        <p:spPr>
          <a:xfrm>
            <a:off x="7863840" y="1783080"/>
            <a:ext cx="3657600" cy="4023360"/>
          </a:xfrm>
          <a:prstGeom prst="roundRect">
            <a:avLst>
              <a:gd name="adj" fmla="val 5500"/>
            </a:avLst>
          </a:prstGeom>
          <a:solidFill>
            <a:srgbClr val="FFFFFF"/>
          </a:solidFill>
          <a:ln w="9525">
            <a:solidFill>
              <a:srgbClr val="EFE6DA"/>
            </a:solidFill>
            <a:prstDash val="solid"/>
          </a:ln>
          <a:effectLst>
            <a:outerShdw sx="100000" sy="100000" kx="0" ky="0" algn="bl" rotWithShape="0" blurRad="177800" dist="38100" dir="5400000">
              <a:srgbClr val="C2410C">
                <a:alpha val="12000"/>
              </a:srgbClr>
            </a:outerShdw>
          </a:effectLst>
        </p:spPr>
      </p:sp>
      <p:pic>
        <p:nvPicPr>
          <p:cNvPr id="11" name="Image 0" descr="preencoded.png">    </p:cNvPr>
          <p:cNvPicPr>
            <a:picLocks noChangeAspect="1"/>
          </p:cNvPicPr>
          <p:nvPr/>
        </p:nvPicPr>
        <p:blipFill>
          <a:blip r:embed="rId1"/>
          <a:stretch>
            <a:fillRect/>
          </a:stretch>
        </p:blipFill>
        <p:spPr>
          <a:xfrm>
            <a:off x="8321040" y="2148840"/>
            <a:ext cx="2743200" cy="2743200"/>
          </a:xfrm>
          <a:prstGeom prst="rect">
            <a:avLst/>
          </a:prstGeom>
        </p:spPr>
      </p:pic>
      <p:sp>
        <p:nvSpPr>
          <p:cNvPr id="12" name="Text 9"/>
          <p:cNvSpPr txBox="1"/>
          <p:nvPr/>
        </p:nvSpPr>
        <p:spPr>
          <a:xfrm>
            <a:off x="7863840" y="5120640"/>
            <a:ext cx="3657600" cy="411480"/>
          </a:xfrm>
          <a:prstGeom prst="rect">
            <a:avLst/>
          </a:prstGeom>
          <a:noFill/>
          <a:ln/>
        </p:spPr>
        <p:txBody>
          <a:bodyPr wrap="square" lIns="0" tIns="0" rIns="0" bIns="0" rtlCol="0" anchor="ctr"/>
          <a:lstStyle/>
          <a:p>
            <a:pPr algn="ctr" indent="0" marL="0">
              <a:buNone/>
            </a:pPr>
            <a:r>
              <a:rPr lang="en-US" sz="1500" b="1" dirty="0">
                <a:solidFill>
                  <a:srgbClr val="292524"/>
                </a:solidFill>
                <a:latin typeface="Arial" pitchFamily="34" charset="0"/>
                <a:ea typeface="Arial" pitchFamily="34" charset="-122"/>
                <a:cs typeface="Arial" pitchFamily="34" charset="-120"/>
              </a:rPr>
              <a:t>Scan to open the app</a:t>
            </a:r>
            <a:endParaRPr lang="en-US" sz="1500" dirty="0"/>
          </a:p>
        </p:txBody>
      </p:sp>
      <p:pic>
        <p:nvPicPr>
          <p:cNvPr id="13" name="Image 1" descr="/Users/gerejastanislaus/Capstone Project/flyer/a-team-logo.png">    </p:cNvPr>
          <p:cNvPicPr>
            <a:picLocks noChangeAspect="1"/>
          </p:cNvPicPr>
          <p:nvPr/>
        </p:nvPicPr>
        <p:blipFill>
          <a:blip r:embed="rId2"/>
          <a:stretch>
            <a:fillRect/>
          </a:stretch>
        </p:blipFill>
        <p:spPr>
          <a:xfrm>
            <a:off x="640080" y="6236208"/>
            <a:ext cx="292608" cy="292608"/>
          </a:xfrm>
          <a:prstGeom prst="rect">
            <a:avLst/>
          </a:prstGeom>
        </p:spPr>
      </p:pic>
      <p:sp>
        <p:nvSpPr>
          <p:cNvPr id="14" name="Text 10"/>
          <p:cNvSpPr txBox="1"/>
          <p:nvPr/>
        </p:nvSpPr>
        <p:spPr>
          <a:xfrm>
            <a:off x="1024128" y="6236208"/>
            <a:ext cx="4572000" cy="292608"/>
          </a:xfrm>
          <a:prstGeom prst="rect">
            <a:avLst/>
          </a:prstGeom>
          <a:noFill/>
          <a:ln/>
        </p:spPr>
        <p:txBody>
          <a:bodyPr wrap="square" lIns="0" tIns="0" rIns="0" bIns="0" rtlCol="0" anchor="ctr"/>
          <a:lstStyle/>
          <a:p>
            <a:pPr indent="0" marL="0">
              <a:buNone/>
            </a:pPr>
            <a:r>
              <a:rPr lang="en-US" sz="1100" dirty="0">
                <a:solidFill>
                  <a:srgbClr val="78716C"/>
                </a:solidFill>
                <a:latin typeface="Arial" pitchFamily="34" charset="0"/>
                <a:ea typeface="Arial" pitchFamily="34" charset="-122"/>
                <a:cs typeface="Arial" pitchFamily="34" charset="-120"/>
              </a:rPr>
              <a:t>Capstone Project · A Team</a:t>
            </a:r>
            <a:endParaRPr lang="en-US" sz="1100" dirty="0"/>
          </a:p>
        </p:txBody>
      </p:sp>
      <p:sp>
        <p:nvSpPr>
          <p:cNvPr id="15" name="Text 11"/>
          <p:cNvSpPr txBox="1"/>
          <p:nvPr/>
        </p:nvSpPr>
        <p:spPr>
          <a:xfrm>
            <a:off x="11094415" y="6236208"/>
            <a:ext cx="457200" cy="292608"/>
          </a:xfrm>
          <a:prstGeom prst="rect">
            <a:avLst/>
          </a:prstGeom>
          <a:noFill/>
          <a:ln/>
        </p:spPr>
        <p:txBody>
          <a:bodyPr wrap="square" lIns="0" tIns="0" rIns="0" bIns="0" rtlCol="0" anchor="ctr"/>
          <a:lstStyle/>
          <a:p>
            <a:pPr algn="r" indent="0" marL="0">
              <a:buNone/>
            </a:pPr>
            <a:r>
              <a:rPr lang="en-US" sz="1100" dirty="0">
                <a:solidFill>
                  <a:srgbClr val="78716C"/>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5501488" y="1234440"/>
            <a:ext cx="1188720" cy="1188720"/>
          </a:xfrm>
          <a:prstGeom prst="rect">
            <a:avLst/>
          </a:prstGeom>
        </p:spPr>
      </p:pic>
      <p:sp>
        <p:nvSpPr>
          <p:cNvPr id="3" name="Text 0"/>
          <p:cNvSpPr txBox="1"/>
          <p:nvPr/>
        </p:nvSpPr>
        <p:spPr>
          <a:xfrm>
            <a:off x="640080" y="2697480"/>
            <a:ext cx="10911535" cy="914400"/>
          </a:xfrm>
          <a:prstGeom prst="rect">
            <a:avLst/>
          </a:prstGeom>
          <a:noFill/>
          <a:ln/>
        </p:spPr>
        <p:txBody>
          <a:bodyPr wrap="square" lIns="0" tIns="0" rIns="0" bIns="0" rtlCol="0" anchor="ctr"/>
          <a:lstStyle/>
          <a:p>
            <a:pPr algn="ctr" indent="0" marL="0">
              <a:buNone/>
            </a:pPr>
            <a:r>
              <a:rPr lang="en-US" sz="4800" b="1" dirty="0">
                <a:solidFill>
                  <a:srgbClr val="FFF8ED"/>
                </a:solidFill>
                <a:latin typeface="Arial" pitchFamily="34" charset="0"/>
                <a:ea typeface="Arial" pitchFamily="34" charset="-122"/>
                <a:cs typeface="Arial" pitchFamily="34" charset="-120"/>
              </a:rPr>
              <a:t>Ready for what's next</a:t>
            </a:r>
            <a:endParaRPr lang="en-US" sz="4800" dirty="0"/>
          </a:p>
        </p:txBody>
      </p:sp>
      <p:sp>
        <p:nvSpPr>
          <p:cNvPr id="4" name="Text 1"/>
          <p:cNvSpPr txBox="1"/>
          <p:nvPr/>
        </p:nvSpPr>
        <p:spPr>
          <a:xfrm>
            <a:off x="640080" y="3611880"/>
            <a:ext cx="10911535" cy="548640"/>
          </a:xfrm>
          <a:prstGeom prst="rect">
            <a:avLst/>
          </a:prstGeom>
          <a:noFill/>
          <a:ln/>
        </p:spPr>
        <p:txBody>
          <a:bodyPr wrap="square" lIns="0" tIns="0" rIns="0" bIns="0" rtlCol="0" anchor="ctr"/>
          <a:lstStyle/>
          <a:p>
            <a:pPr algn="ctr" indent="0" marL="0">
              <a:buNone/>
            </a:pPr>
            <a:r>
              <a:rPr lang="en-US" sz="2400" dirty="0">
                <a:solidFill>
                  <a:srgbClr val="FED7AA"/>
                </a:solidFill>
                <a:latin typeface="Arial" pitchFamily="34" charset="0"/>
                <a:ea typeface="Arial" pitchFamily="34" charset="-122"/>
                <a:cs typeface="Arial" pitchFamily="34" charset="-120"/>
              </a:rPr>
              <a:t>Thank you from A Team</a:t>
            </a:r>
            <a:endParaRPr lang="en-US" sz="2400" dirty="0"/>
          </a:p>
        </p:txBody>
      </p:sp>
      <p:sp>
        <p:nvSpPr>
          <p:cNvPr id="5" name="Shape 2"/>
          <p:cNvSpPr/>
          <p:nvPr/>
        </p:nvSpPr>
        <p:spPr>
          <a:xfrm>
            <a:off x="3718408" y="4617720"/>
            <a:ext cx="4754880" cy="685800"/>
          </a:xfrm>
          <a:prstGeom prst="roundRect">
            <a:avLst>
              <a:gd name="adj" fmla="val 49333"/>
            </a:avLst>
          </a:prstGeom>
          <a:solidFill>
            <a:srgbClr val="FFF8ED"/>
          </a:solidFill>
          <a:ln/>
        </p:spPr>
      </p:sp>
      <p:sp>
        <p:nvSpPr>
          <p:cNvPr id="6" name="Text 3"/>
          <p:cNvSpPr txBox="1"/>
          <p:nvPr/>
        </p:nvSpPr>
        <p:spPr>
          <a:xfrm>
            <a:off x="3718408" y="4617720"/>
            <a:ext cx="4754880" cy="685800"/>
          </a:xfrm>
          <a:prstGeom prst="rect">
            <a:avLst/>
          </a:prstGeom>
          <a:noFill/>
          <a:ln/>
        </p:spPr>
        <p:txBody>
          <a:bodyPr wrap="square" lIns="0" tIns="0" rIns="0" bIns="0" rtlCol="0" anchor="ctr"/>
          <a:lstStyle/>
          <a:p>
            <a:pPr algn="ctr" indent="0" marL="0">
              <a:buNone/>
            </a:pPr>
            <a:r>
              <a:rPr lang="en-US" sz="2400" b="1" dirty="0">
                <a:solidFill>
                  <a:srgbClr val="C2410C"/>
                </a:solidFill>
                <a:latin typeface="Arial" pitchFamily="34" charset="0"/>
                <a:ea typeface="Arial" pitchFamily="34" charset="-122"/>
                <a:cs typeface="Arial" pitchFamily="34" charset="-120"/>
              </a:rPr>
              <a:t>komunitasa.vercel.app</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A Team</dc:title>
  <dc:subject>PptxGenJS Presentation</dc:subject>
  <dc:creator>A Team</dc:creator>
  <cp:lastModifiedBy>A Team</cp:lastModifiedBy>
  <cp:revision>1</cp:revision>
  <dcterms:created xsi:type="dcterms:W3CDTF">2026-09-28T12:28:21Z</dcterms:created>
  <dcterms:modified xsi:type="dcterms:W3CDTF">2026-09-28T12:28:21Z</dcterms:modified>
</cp:coreProperties>
</file>