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Kami A Team, dan ini Komunitas, proyek capstone kami. Presentasi ini membahas seluruh proyek dari dasar: mengapa kami membangunnya, bagaimana orang memakainya, bagaimana aplikasinya dibangun, di mana datanya disimpan, dan apa hasil akhirnya.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lima bagian: tujuan dan sasaran, cara memakai aplikasi, cara aplikasinya dibangun, tempat data disimpan, dan hasil akhirnya.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pertama: mengapa kami membangun Komunitas.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ini aktivitas lokal ada di grup WhatsApp tertutup dan unggahan yang tersebar. Pendatang baru sulit menemukannya, dan penyelenggara mengerjakan semuanya secara manual. Tujuan kami adalah satu tempat untuk menemukan, membuat, dan mengikuti aktivitas terdekat sesuai minat dan lokasi, tanpa pernah menyimpan posisi persis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itu kami jabarkan menjadi lima sasaran: menampilkan aktivitas terdekat dalam radius 20 kilometer, bergabung dengan satu klik, empat cara berbagi, tidak ada posisi GPS yang disimpan, dan dukungan penuh bahasa Inggris dan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kedua: bagaimana orang memakai Komunitas.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halaman depan yang sedang aktif. Komunitas adalah aplikasi web, jadi tidak perlu diinstal. Aplikasinya dirancang untuk ponsel, punya tema terang dan gelap, dan semua layarnya tersedia dalam bahasa Inggris dan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lima peran. Peserta dan penyelenggara adalah orang yang sama: siapa pun yang membuat aktivitas menjadi penyelenggaranya. Moderator, admin, dan super admin bekerja di area admin, dengan wewenang yang makin besar di tiap tingkat. Hak akses ditegakkan di database, bukan hanya di tampilan.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Peserta mendaftar dengan email, kata sandi, dan kode yang dikirim lewat email, lalu membuat PIN untuk masuk cepat. Setelah memilih hobi, mereka membagikan lokasi atau memilih wilayah untuk melihat aktivitas dalam radius 20 kilometer. Mereka bisa langsung bergabung atau mengajukan permintaan, lalu terhubung lewat komentar, pesan pribadi, dan daftar teman.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Penyelenggara mengisi detail aktivitas, menandai lokasi di peta, dan memotong banner. Mereka memilih apakah aktivitasnya publik atau privat, dan apakah peserta perlu disetujui. Lalu aktivitas dibagikan lewat tautan, WhatsApp, kode QR, atau flyer, dan penyelenggara mengelola permintaan serta komentar. Statusnya berubah sendiri dari dibuka, hampir penuh, penuh, berlangsung, sampai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semua fitur aplikasi dalam satu slide: dasbor aktivitas terdekat, jelajahi dan cari, aktivitas saya dengan check-in dan penilaian, berbagi, komentar, pesan pribadi, profil komunitas, teman dan grup, notifikasi lewat email dan push di ponsel, serta tiket bantuan.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ketiga: bagaimana aplikasinya dibangun.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ini punya tiga lapisan. Browser menjalankan tampilan React, membaca GPS di perangkat, serta menggambar peta dan gambar. Vercel menjalankan Next.js: merender halaman di server, mengecek login di setiap permintaan, dan menampung lima rute API kecil. Supabase menyimpan database, proses masuk, file, dan pesan realtime. Di sekitarnya kami memakai OpenStreetMap untuk peta, layanan SMTP untuk email, dan GitHub untuk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Teknologinya: Next.js 16 dengan React 19 dan TypeScript, Tailwind untuk tampilan, Supabase untuk backend, Leaflet dan OpenStreetMap untuk peta, Recharts dan ExcelJS untuk laporan admin, serta qrcode.react dan html-to-image untuk kode QR dan flyer.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menulis kode di laptop, lalu menjalankan tiga pengecekan: lint, cek tipe, dan build produksi. Push ke branch main di GitHub membuat Vercel membangun dan menerbitkan aplikasi secara otomatis, jadi setiap push adalah rilis. Perubahan database terpisah: migrasi SQL bernomor yang aman dijalankan ulang, diterapkan secara manual di SQL Editor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keempat: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disimpan di lima tempat. Yang utama adalah database Postgres di Supabase dengan 41 tabel, semuanya dilindungi row-level security. Supabase Auth menyimpan akun dan sesi. Supabase Storage menyimpan gambar banner dan lampiran keluhan. Perangkat pengguna menyimpan pilihan bahasa dan lokasi; GPS langsung tidak pernah keluar dari perangkat. Dan Vercel menyimpan beberapa kunci rahasia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Ke-41 tabel terbagi dalam lima kelompok: pengguna dan pengaturannya, aktivitas beserta peserta, daftar tunggu, check-in, dan penilaian, grup dan pesan pribadi, bantuan dan notifikasi, serta catatan admin dan keamanan seperti log audit. View seperti my_profile hanya menampilkan data yang boleh dilihat tiap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ditegakkan di database. Setiap tabel memakai row-level security, dan lebih dari 190 fungsi SQL mengecek peran pemanggilnya. GPS tidak pernah disimpan. PIN di-hash dengan bcrypt dan dikunci setelah gagal berulang kali. Anggota lain tidak bisa membaca data profil pribadi. Tindakan admin dicatat di log audit, dan anggota bisa melapor, memblokir, dan mengirim keluhan.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kelima: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Dalam angka: 52 layar, 74 komponen, sekitar 25.600 baris TypeScript dengan 43 unit test, 5.900 baris SQL dalam 26 migrasi, 41 tabel database yang semuanya dilindungi row-level security, dan lebih dari 1.700 teks antarmuka dalam bahasa Inggris dan Indonesia.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terbaru: aktivitas yang penuh punya daftar tunggu yang maju otomatis, dan pengguna mendapat peringatan untuk aktivitas baru yang sesuai hobinya. Penyelenggara bisa mencatat kehadiran dengan kode QR, dan peserta menilai aktivitasnya setelah selesai. Pengingat dan permintaan penilaian dikirim lewat email dan push di ponsel. Penyelenggara juga mendapat alat praktis: duplikat, ubah seluruh seri mingguan, ekspor CSV, dan QR layar besar agar seisi ruangan bisa ikut langsung. Pindai kode ini untuk mencoba sekarang.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terbuka soal yang masih kurang: faktor masuk kedua yang lebih kuat, laporan admin terjadwal, pembayaran di aplikasi, penghapusan akun sepenuhnya, ekspor yang lebih besar, serta chat grup dan album foto per aktivitas.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dari A Team. Kami senang menjawab pertanyaan, dan silakan coba Komunitas di ponsel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1.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31520" y="731520"/>
            <a:ext cx="914400" cy="914400"/>
          </a:xfrm>
          <a:prstGeom prst="rect">
            <a:avLst/>
          </a:prstGeom>
        </p:spPr>
      </p:pic>
      <p:sp>
        <p:nvSpPr>
          <p:cNvPr id="3" name="Text 0"/>
          <p:cNvSpPr txBox="1"/>
          <p:nvPr/>
        </p:nvSpPr>
        <p:spPr>
          <a:xfrm>
            <a:off x="731520" y="2148840"/>
            <a:ext cx="9144000" cy="457200"/>
          </a:xfrm>
          <a:prstGeom prst="rect">
            <a:avLst/>
          </a:prstGeom>
          <a:noFill/>
          <a:ln/>
        </p:spPr>
        <p:txBody>
          <a:bodyPr wrap="square" lIns="0" tIns="0" rIns="0" bIns="0" rtlCol="0" anchor="ctr"/>
          <a:lstStyle/>
          <a:p>
            <a:pPr indent="0" marL="0">
              <a:buNone/>
            </a:pPr>
            <a:r>
              <a:rPr lang="en-US" sz="1800" b="1" spc="500" kern="0" dirty="0">
                <a:solidFill>
                  <a:srgbClr val="FED7AA"/>
                </a:solidFill>
                <a:latin typeface="Arial" pitchFamily="34" charset="0"/>
                <a:ea typeface="Arial" pitchFamily="34" charset="-122"/>
                <a:cs typeface="Arial" pitchFamily="34" charset="-120"/>
              </a:rPr>
              <a:t>PROYEK CAPSTONE · A TEAM</a:t>
            </a:r>
            <a:endParaRPr lang="en-US" sz="1800" dirty="0"/>
          </a:p>
        </p:txBody>
      </p:sp>
      <p:sp>
        <p:nvSpPr>
          <p:cNvPr id="4" name="Text 1"/>
          <p:cNvSpPr txBox="1"/>
          <p:nvPr/>
        </p:nvSpPr>
        <p:spPr>
          <a:xfrm>
            <a:off x="731520" y="2560320"/>
            <a:ext cx="10058400" cy="1371600"/>
          </a:xfrm>
          <a:prstGeom prst="rect">
            <a:avLst/>
          </a:prstGeom>
          <a:noFill/>
          <a:ln/>
        </p:spPr>
        <p:txBody>
          <a:bodyPr wrap="square" lIns="0" tIns="0" rIns="0" bIns="0" rtlCol="0" anchor="ctr"/>
          <a:lstStyle/>
          <a:p>
            <a:pPr indent="0" marL="0">
              <a:buNone/>
            </a:pPr>
            <a:r>
              <a:rPr lang="en-US" sz="8800" b="1" dirty="0">
                <a:solidFill>
                  <a:srgbClr val="FFF8ED"/>
                </a:solidFill>
                <a:latin typeface="Arial" pitchFamily="34" charset="0"/>
                <a:ea typeface="Arial" pitchFamily="34" charset="-122"/>
                <a:cs typeface="Arial" pitchFamily="34" charset="-120"/>
              </a:rPr>
              <a:t>Komunitas</a:t>
            </a:r>
            <a:endParaRPr lang="en-US" sz="8800" dirty="0"/>
          </a:p>
        </p:txBody>
      </p:sp>
      <p:sp>
        <p:nvSpPr>
          <p:cNvPr id="5" name="Text 2"/>
          <p:cNvSpPr txBox="1"/>
          <p:nvPr/>
        </p:nvSpPr>
        <p:spPr>
          <a:xfrm>
            <a:off x="731520" y="3977640"/>
            <a:ext cx="10515600" cy="548640"/>
          </a:xfrm>
          <a:prstGeom prst="rect">
            <a:avLst/>
          </a:prstGeom>
          <a:noFill/>
          <a:ln/>
        </p:spPr>
        <p:txBody>
          <a:bodyPr wrap="square" lIns="0" tIns="0" rIns="0" bIns="0" rtlCol="0" anchor="ctr"/>
          <a:lstStyle/>
          <a:p>
            <a:pPr indent="0" marL="0">
              <a:buNone/>
            </a:pPr>
            <a:r>
              <a:rPr lang="en-US" sz="2600" dirty="0">
                <a:solidFill>
                  <a:srgbClr val="FFF8ED"/>
                </a:solidFill>
                <a:latin typeface="Arial" pitchFamily="34" charset="0"/>
                <a:ea typeface="Arial" pitchFamily="34" charset="-122"/>
                <a:cs typeface="Arial" pitchFamily="34" charset="-120"/>
              </a:rPr>
              <a:t>Temukan aktivitas. Temui orang baru. Bangun komunitas.</a:t>
            </a:r>
            <a:endParaRPr lang="en-US" sz="2600" dirty="0"/>
          </a:p>
        </p:txBody>
      </p:sp>
      <p:sp>
        <p:nvSpPr>
          <p:cNvPr id="6" name="Text 3"/>
          <p:cNvSpPr txBox="1"/>
          <p:nvPr/>
        </p:nvSpPr>
        <p:spPr>
          <a:xfrm>
            <a:off x="731520" y="4572000"/>
            <a:ext cx="10058400" cy="457200"/>
          </a:xfrm>
          <a:prstGeom prst="rect">
            <a:avLst/>
          </a:prstGeom>
          <a:noFill/>
          <a:ln/>
        </p:spPr>
        <p:txBody>
          <a:bodyPr wrap="square" lIns="0" tIns="0" rIns="0" bIns="0" rtlCol="0" anchor="ctr"/>
          <a:lstStyle/>
          <a:p>
            <a:pPr indent="0" marL="0">
              <a:buNone/>
            </a:pPr>
            <a:r>
              <a:rPr lang="en-US" sz="1600" dirty="0">
                <a:solidFill>
                  <a:srgbClr val="FED7AA"/>
                </a:solidFill>
                <a:latin typeface="Arial" pitchFamily="34" charset="0"/>
                <a:ea typeface="Arial" pitchFamily="34" charset="-122"/>
                <a:cs typeface="Arial" pitchFamily="34" charset="-120"/>
              </a:rPr>
              <a:t>Seluruh proyek: tujuan, cara pakai, cara dibangun, tempat data disimpan, dan hasil akhirnya.</a:t>
            </a:r>
            <a:endParaRPr lang="en-US" sz="1600" dirty="0"/>
          </a:p>
        </p:txBody>
      </p:sp>
      <p:sp>
        <p:nvSpPr>
          <p:cNvPr id="7" name="Text 4"/>
          <p:cNvSpPr txBox="1"/>
          <p:nvPr/>
        </p:nvSpPr>
        <p:spPr>
          <a:xfrm>
            <a:off x="731520" y="5897880"/>
            <a:ext cx="10058400" cy="365760"/>
          </a:xfrm>
          <a:prstGeom prst="rect">
            <a:avLst/>
          </a:prstGeom>
          <a:noFill/>
          <a:ln/>
        </p:spPr>
        <p:txBody>
          <a:bodyPr wrap="square" lIns="0" tIns="0" rIns="0" bIns="0" rtlCol="0" anchor="ctr"/>
          <a:lstStyle/>
          <a:p>
            <a:pPr indent="0" marL="0">
              <a:buNone/>
            </a:pPr>
            <a:r>
              <a:rPr lang="en-US" sz="1500" b="1" dirty="0">
                <a:solidFill>
                  <a:srgbClr val="FED7AA"/>
                </a:solidFill>
                <a:latin typeface="Arial" pitchFamily="34" charset="0"/>
                <a:ea typeface="Arial" pitchFamily="34" charset="-122"/>
                <a:cs typeface="Arial" pitchFamily="34" charset="-120"/>
              </a:rPr>
              <a:t>komunitasa.vercel.app   ·   Universitas Terbuka   ·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AGENDA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Isi presentasi ini</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 / 24</a:t>
            </a:r>
            <a:endParaRPr lang="en-US" sz="1100" dirty="0"/>
          </a:p>
        </p:txBody>
      </p:sp>
      <p:sp>
        <p:nvSpPr>
          <p:cNvPr id="7" name="Shape 4"/>
          <p:cNvSpPr/>
          <p:nvPr/>
        </p:nvSpPr>
        <p:spPr>
          <a:xfrm>
            <a:off x="640080" y="1783080"/>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914400" y="1783080"/>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01</a:t>
            </a:r>
            <a:endParaRPr lang="en-US" sz="2400" dirty="0"/>
          </a:p>
        </p:txBody>
      </p:sp>
      <p:sp>
        <p:nvSpPr>
          <p:cNvPr id="9" name="Text 6"/>
          <p:cNvSpPr txBox="1"/>
          <p:nvPr/>
        </p:nvSpPr>
        <p:spPr>
          <a:xfrm>
            <a:off x="1828800" y="1783080"/>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Tujuan &amp; sasaran</a:t>
            </a:r>
            <a:endParaRPr lang="en-US" sz="2000" dirty="0"/>
          </a:p>
        </p:txBody>
      </p:sp>
      <p:sp>
        <p:nvSpPr>
          <p:cNvPr id="10" name="Text 7"/>
          <p:cNvSpPr txBox="1"/>
          <p:nvPr/>
        </p:nvSpPr>
        <p:spPr>
          <a:xfrm>
            <a:off x="5394960" y="1783080"/>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Masalahnya dan apa yang ingin kami capai</a:t>
            </a:r>
            <a:endParaRPr lang="en-US" sz="1500" dirty="0"/>
          </a:p>
        </p:txBody>
      </p:sp>
      <p:sp>
        <p:nvSpPr>
          <p:cNvPr id="11" name="Shape 8"/>
          <p:cNvSpPr/>
          <p:nvPr/>
        </p:nvSpPr>
        <p:spPr>
          <a:xfrm>
            <a:off x="640080" y="2633472"/>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914400" y="2633472"/>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02</a:t>
            </a:r>
            <a:endParaRPr lang="en-US" sz="2400" dirty="0"/>
          </a:p>
        </p:txBody>
      </p:sp>
      <p:sp>
        <p:nvSpPr>
          <p:cNvPr id="13" name="Text 10"/>
          <p:cNvSpPr txBox="1"/>
          <p:nvPr/>
        </p:nvSpPr>
        <p:spPr>
          <a:xfrm>
            <a:off x="1828800" y="2633472"/>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Cara pakai</a:t>
            </a:r>
            <a:endParaRPr lang="en-US" sz="2000" dirty="0"/>
          </a:p>
        </p:txBody>
      </p:sp>
      <p:sp>
        <p:nvSpPr>
          <p:cNvPr id="14" name="Text 11"/>
          <p:cNvSpPr txBox="1"/>
          <p:nvPr/>
        </p:nvSpPr>
        <p:spPr>
          <a:xfrm>
            <a:off x="5394960" y="2633472"/>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Peserta, penyelenggara, dan admin</a:t>
            </a:r>
            <a:endParaRPr lang="en-US" sz="1500" dirty="0"/>
          </a:p>
        </p:txBody>
      </p:sp>
      <p:sp>
        <p:nvSpPr>
          <p:cNvPr id="15" name="Shape 12"/>
          <p:cNvSpPr/>
          <p:nvPr/>
        </p:nvSpPr>
        <p:spPr>
          <a:xfrm>
            <a:off x="640080" y="3483864"/>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914400" y="3483864"/>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03</a:t>
            </a:r>
            <a:endParaRPr lang="en-US" sz="2400" dirty="0"/>
          </a:p>
        </p:txBody>
      </p:sp>
      <p:sp>
        <p:nvSpPr>
          <p:cNvPr id="17" name="Text 14"/>
          <p:cNvSpPr txBox="1"/>
          <p:nvPr/>
        </p:nvSpPr>
        <p:spPr>
          <a:xfrm>
            <a:off x="1828800" y="3483864"/>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Cara dibangun</a:t>
            </a:r>
            <a:endParaRPr lang="en-US" sz="2000" dirty="0"/>
          </a:p>
        </p:txBody>
      </p:sp>
      <p:sp>
        <p:nvSpPr>
          <p:cNvPr id="18" name="Text 15"/>
          <p:cNvSpPr txBox="1"/>
          <p:nvPr/>
        </p:nvSpPr>
        <p:spPr>
          <a:xfrm>
            <a:off x="5394960" y="3483864"/>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Arsitektur, teknologi, dan alur rilis</a:t>
            </a:r>
            <a:endParaRPr lang="en-US" sz="1500" dirty="0"/>
          </a:p>
        </p:txBody>
      </p:sp>
      <p:sp>
        <p:nvSpPr>
          <p:cNvPr id="19" name="Shape 16"/>
          <p:cNvSpPr/>
          <p:nvPr/>
        </p:nvSpPr>
        <p:spPr>
          <a:xfrm>
            <a:off x="640080" y="4334256"/>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914400" y="4334256"/>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04</a:t>
            </a:r>
            <a:endParaRPr lang="en-US" sz="2400" dirty="0"/>
          </a:p>
        </p:txBody>
      </p:sp>
      <p:sp>
        <p:nvSpPr>
          <p:cNvPr id="21" name="Text 18"/>
          <p:cNvSpPr txBox="1"/>
          <p:nvPr/>
        </p:nvSpPr>
        <p:spPr>
          <a:xfrm>
            <a:off x="1828800" y="4334256"/>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Penyimpanan data</a:t>
            </a:r>
            <a:endParaRPr lang="en-US" sz="2000" dirty="0"/>
          </a:p>
        </p:txBody>
      </p:sp>
      <p:sp>
        <p:nvSpPr>
          <p:cNvPr id="22" name="Text 19"/>
          <p:cNvSpPr txBox="1"/>
          <p:nvPr/>
        </p:nvSpPr>
        <p:spPr>
          <a:xfrm>
            <a:off x="5394960" y="4334256"/>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Di mana setiap data disimpan dan bagaimana dilindungi</a:t>
            </a:r>
            <a:endParaRPr lang="en-US" sz="1500" dirty="0"/>
          </a:p>
        </p:txBody>
      </p:sp>
      <p:sp>
        <p:nvSpPr>
          <p:cNvPr id="23" name="Shape 20"/>
          <p:cNvSpPr/>
          <p:nvPr/>
        </p:nvSpPr>
        <p:spPr>
          <a:xfrm>
            <a:off x="640080" y="5184648"/>
            <a:ext cx="10881360" cy="713232"/>
          </a:xfrm>
          <a:prstGeom prst="roundRect">
            <a:avLst>
              <a:gd name="adj" fmla="val 2564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914400" y="5184648"/>
            <a:ext cx="822960" cy="713232"/>
          </a:xfrm>
          <a:prstGeom prst="rect">
            <a:avLst/>
          </a:prstGeom>
          <a:noFill/>
          <a:ln/>
        </p:spPr>
        <p:txBody>
          <a:bodyPr wrap="square" lIns="0" tIns="0" rIns="0" bIns="0" rtlCol="0" anchor="ctr"/>
          <a:lstStyle/>
          <a:p>
            <a:pPr indent="0" marL="0">
              <a:buNone/>
            </a:pPr>
            <a:r>
              <a:rPr lang="en-US" sz="2400" b="1" dirty="0">
                <a:solidFill>
                  <a:srgbClr val="F97316"/>
                </a:solidFill>
                <a:latin typeface="Arial" pitchFamily="34" charset="0"/>
                <a:ea typeface="Arial" pitchFamily="34" charset="-122"/>
                <a:cs typeface="Arial" pitchFamily="34" charset="-120"/>
              </a:rPr>
              <a:t>05</a:t>
            </a:r>
            <a:endParaRPr lang="en-US" sz="2400" dirty="0"/>
          </a:p>
        </p:txBody>
      </p:sp>
      <p:sp>
        <p:nvSpPr>
          <p:cNvPr id="25" name="Text 22"/>
          <p:cNvSpPr txBox="1"/>
          <p:nvPr/>
        </p:nvSpPr>
        <p:spPr>
          <a:xfrm>
            <a:off x="1828800" y="5184648"/>
            <a:ext cx="3474720" cy="713232"/>
          </a:xfrm>
          <a:prstGeom prst="rect">
            <a:avLst/>
          </a:prstGeom>
          <a:noFill/>
          <a:ln/>
        </p:spPr>
        <p:txBody>
          <a:bodyPr wrap="square" lIns="0" tIns="0" rIns="0" bIns="0" rtlCol="0" anchor="ctr"/>
          <a:lstStyle/>
          <a:p>
            <a:pPr indent="0" marL="0">
              <a:buNone/>
            </a:pPr>
            <a:r>
              <a:rPr lang="en-US" sz="2000" b="1" dirty="0">
                <a:solidFill>
                  <a:srgbClr val="292524"/>
                </a:solidFill>
                <a:latin typeface="Arial" pitchFamily="34" charset="0"/>
                <a:ea typeface="Arial" pitchFamily="34" charset="-122"/>
                <a:cs typeface="Arial" pitchFamily="34" charset="-120"/>
              </a:rPr>
              <a:t>Hasil akhir</a:t>
            </a:r>
            <a:endParaRPr lang="en-US" sz="2000" dirty="0"/>
          </a:p>
        </p:txBody>
      </p:sp>
      <p:sp>
        <p:nvSpPr>
          <p:cNvPr id="26" name="Text 23"/>
          <p:cNvSpPr txBox="1"/>
          <p:nvPr/>
        </p:nvSpPr>
        <p:spPr>
          <a:xfrm>
            <a:off x="5394960" y="5184648"/>
            <a:ext cx="5943600" cy="713232"/>
          </a:xfrm>
          <a:prstGeom prst="rect">
            <a:avLst/>
          </a:prstGeom>
          <a:noFill/>
          <a:ln/>
        </p:spPr>
        <p:txBody>
          <a:bodyPr wrap="square" lIns="0" tIns="0" rIns="0" bIns="0" rtlCol="0" anchor="ctr"/>
          <a:lstStyle/>
          <a:p>
            <a:pPr indent="0" marL="0">
              <a:buNone/>
            </a:pPr>
            <a:r>
              <a:rPr lang="en-US" sz="1500" dirty="0">
                <a:solidFill>
                  <a:srgbClr val="78716C"/>
                </a:solidFill>
                <a:latin typeface="Arial" pitchFamily="34" charset="0"/>
                <a:ea typeface="Arial" pitchFamily="34" charset="-122"/>
                <a:cs typeface="Arial" pitchFamily="34" charset="-120"/>
              </a:rPr>
              <a:t>Apa yang kami rilis, angka-angkanya, dan langkah berikutnya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01</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Tujuan &amp; sasaran</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Mengapa Komunitas dibuat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MASALAHNYA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Aktivitas lokal sulit ditemukan dan sulit dikelola</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4 / 24</a:t>
            </a:r>
            <a:endParaRPr lang="en-US" sz="1100" dirty="0"/>
          </a:p>
        </p:txBody>
      </p:sp>
      <p:sp>
        <p:nvSpPr>
          <p:cNvPr id="7" name="Shape 4"/>
          <p:cNvSpPr/>
          <p:nvPr/>
        </p:nvSpPr>
        <p:spPr>
          <a:xfrm>
            <a:off x="640080" y="1828800"/>
            <a:ext cx="731520" cy="731520"/>
          </a:xfrm>
          <a:prstGeom prst="roundRect">
            <a:avLst>
              <a:gd name="adj" fmla="val 27000"/>
            </a:avLst>
          </a:prstGeom>
          <a:solidFill>
            <a:srgbClr val="F8E8D0"/>
          </a:solidFill>
          <a:ln/>
        </p:spPr>
      </p:sp>
      <p:pic>
        <p:nvPicPr>
          <p:cNvPr id="8" name="Image 1" descr="preencoded.png">    </p:cNvPr>
          <p:cNvPicPr>
            <a:picLocks noChangeAspect="1"/>
          </p:cNvPicPr>
          <p:nvPr/>
        </p:nvPicPr>
        <p:blipFill>
          <a:blip r:embed="rId2"/>
          <a:stretch>
            <a:fillRect/>
          </a:stretch>
        </p:blipFill>
        <p:spPr>
          <a:xfrm>
            <a:off x="815645" y="2004365"/>
            <a:ext cx="380390" cy="380390"/>
          </a:xfrm>
          <a:prstGeom prst="rect">
            <a:avLst/>
          </a:prstGeom>
        </p:spPr>
      </p:pic>
      <p:sp>
        <p:nvSpPr>
          <p:cNvPr id="9" name="Text 5"/>
          <p:cNvSpPr txBox="1"/>
          <p:nvPr/>
        </p:nvSpPr>
        <p:spPr>
          <a:xfrm>
            <a:off x="1600200" y="18105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Tersebar</a:t>
            </a:r>
            <a:endParaRPr lang="en-US" sz="1900" dirty="0"/>
          </a:p>
        </p:txBody>
      </p:sp>
      <p:sp>
        <p:nvSpPr>
          <p:cNvPr id="10" name="Text 6"/>
          <p:cNvSpPr txBox="1"/>
          <p:nvPr/>
        </p:nvSpPr>
        <p:spPr>
          <a:xfrm>
            <a:off x="1600200" y="22128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Lari bareng, klub buku, dan main bersama diumumkan di grup WhatsApp tertutup dan unggahan media sosial. Yang tidak ada di grup tidak pernah tahu.</a:t>
            </a:r>
            <a:endParaRPr lang="en-US" sz="1400" dirty="0"/>
          </a:p>
        </p:txBody>
      </p:sp>
      <p:sp>
        <p:nvSpPr>
          <p:cNvPr id="11" name="Shape 7"/>
          <p:cNvSpPr/>
          <p:nvPr/>
        </p:nvSpPr>
        <p:spPr>
          <a:xfrm>
            <a:off x="640080" y="3200400"/>
            <a:ext cx="731520" cy="731520"/>
          </a:xfrm>
          <a:prstGeom prst="roundRect">
            <a:avLst>
              <a:gd name="adj" fmla="val 27000"/>
            </a:avLst>
          </a:prstGeom>
          <a:solidFill>
            <a:srgbClr val="F8E8D0"/>
          </a:solidFill>
          <a:ln/>
        </p:spPr>
      </p:sp>
      <p:pic>
        <p:nvPicPr>
          <p:cNvPr id="12" name="Image 2" descr="preencoded.png">    </p:cNvPr>
          <p:cNvPicPr>
            <a:picLocks noChangeAspect="1"/>
          </p:cNvPicPr>
          <p:nvPr/>
        </p:nvPicPr>
        <p:blipFill>
          <a:blip r:embed="rId3"/>
          <a:stretch>
            <a:fillRect/>
          </a:stretch>
        </p:blipFill>
        <p:spPr>
          <a:xfrm>
            <a:off x="815645" y="3375965"/>
            <a:ext cx="380390" cy="380390"/>
          </a:xfrm>
          <a:prstGeom prst="rect">
            <a:avLst/>
          </a:prstGeom>
        </p:spPr>
      </p:pic>
      <p:sp>
        <p:nvSpPr>
          <p:cNvPr id="13" name="Text 8"/>
          <p:cNvSpPr txBox="1"/>
          <p:nvPr/>
        </p:nvSpPr>
        <p:spPr>
          <a:xfrm>
            <a:off x="1600200" y="31821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Sulit ikut</a:t>
            </a:r>
            <a:endParaRPr lang="en-US" sz="1900" dirty="0"/>
          </a:p>
        </p:txBody>
      </p:sp>
      <p:sp>
        <p:nvSpPr>
          <p:cNvPr id="14" name="Text 9"/>
          <p:cNvSpPr txBox="1"/>
          <p:nvPr/>
        </p:nvSpPr>
        <p:spPr>
          <a:xfrm>
            <a:off x="1600200" y="35844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Pendatang baru tidak tahu harus bertanya ke siapa, apakah masih ada tempat, atau apakah acaranya terbuka untuk umum.</a:t>
            </a:r>
            <a:endParaRPr lang="en-US" sz="1400" dirty="0"/>
          </a:p>
        </p:txBody>
      </p:sp>
      <p:sp>
        <p:nvSpPr>
          <p:cNvPr id="15" name="Shape 10"/>
          <p:cNvSpPr/>
          <p:nvPr/>
        </p:nvSpPr>
        <p:spPr>
          <a:xfrm>
            <a:off x="640080" y="4572000"/>
            <a:ext cx="731520" cy="731520"/>
          </a:xfrm>
          <a:prstGeom prst="roundRect">
            <a:avLst>
              <a:gd name="adj" fmla="val 27000"/>
            </a:avLst>
          </a:prstGeom>
          <a:solidFill>
            <a:srgbClr val="F8E8D0"/>
          </a:solidFill>
          <a:ln/>
        </p:spPr>
      </p:sp>
      <p:pic>
        <p:nvPicPr>
          <p:cNvPr id="16" name="Image 3" descr="preencoded.png">    </p:cNvPr>
          <p:cNvPicPr>
            <a:picLocks noChangeAspect="1"/>
          </p:cNvPicPr>
          <p:nvPr/>
        </p:nvPicPr>
        <p:blipFill>
          <a:blip r:embed="rId4"/>
          <a:stretch>
            <a:fillRect/>
          </a:stretch>
        </p:blipFill>
        <p:spPr>
          <a:xfrm>
            <a:off x="815645" y="4747565"/>
            <a:ext cx="380390" cy="380390"/>
          </a:xfrm>
          <a:prstGeom prst="rect">
            <a:avLst/>
          </a:prstGeom>
        </p:spPr>
      </p:pic>
      <p:sp>
        <p:nvSpPr>
          <p:cNvPr id="17" name="Text 11"/>
          <p:cNvSpPr txBox="1"/>
          <p:nvPr/>
        </p:nvSpPr>
        <p:spPr>
          <a:xfrm>
            <a:off x="1600200" y="4553712"/>
            <a:ext cx="4846320" cy="365760"/>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Serba manual</a:t>
            </a:r>
            <a:endParaRPr lang="en-US" sz="1900" dirty="0"/>
          </a:p>
        </p:txBody>
      </p:sp>
      <p:sp>
        <p:nvSpPr>
          <p:cNvPr id="18" name="Text 12"/>
          <p:cNvSpPr txBox="1"/>
          <p:nvPr/>
        </p:nvSpPr>
        <p:spPr>
          <a:xfrm>
            <a:off x="1600200" y="4956048"/>
            <a:ext cx="4846320" cy="86868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Penyelenggara mencatat pendaftar, kuota, dan nomor kontak secara manual lewat chat dan spreadsheet.</a:t>
            </a:r>
            <a:endParaRPr lang="en-US" sz="1400" dirty="0"/>
          </a:p>
        </p:txBody>
      </p:sp>
      <p:sp>
        <p:nvSpPr>
          <p:cNvPr id="19" name="Shape 13"/>
          <p:cNvSpPr/>
          <p:nvPr/>
        </p:nvSpPr>
        <p:spPr>
          <a:xfrm>
            <a:off x="6858000" y="1828800"/>
            <a:ext cx="4663440" cy="4023360"/>
          </a:xfrm>
          <a:prstGeom prst="roundRect">
            <a:avLst>
              <a:gd name="adj" fmla="val 454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4"/>
          <p:cNvSpPr/>
          <p:nvPr/>
        </p:nvSpPr>
        <p:spPr>
          <a:xfrm>
            <a:off x="7223760" y="2194560"/>
            <a:ext cx="731520" cy="731520"/>
          </a:xfrm>
          <a:prstGeom prst="roundRect">
            <a:avLst>
              <a:gd name="adj" fmla="val 27000"/>
            </a:avLst>
          </a:prstGeom>
          <a:solidFill>
            <a:srgbClr val="F97316"/>
          </a:solidFill>
          <a:ln/>
        </p:spPr>
      </p:sp>
      <p:pic>
        <p:nvPicPr>
          <p:cNvPr id="21" name="Image 4" descr="preencoded.png">    </p:cNvPr>
          <p:cNvPicPr>
            <a:picLocks noChangeAspect="1"/>
          </p:cNvPicPr>
          <p:nvPr/>
        </p:nvPicPr>
        <p:blipFill>
          <a:blip r:embed="rId5"/>
          <a:stretch>
            <a:fillRect/>
          </a:stretch>
        </p:blipFill>
        <p:spPr>
          <a:xfrm>
            <a:off x="7399325" y="2370125"/>
            <a:ext cx="380390" cy="380390"/>
          </a:xfrm>
          <a:prstGeom prst="rect">
            <a:avLst/>
          </a:prstGeom>
        </p:spPr>
      </p:pic>
      <p:sp>
        <p:nvSpPr>
          <p:cNvPr id="22" name="Text 15"/>
          <p:cNvSpPr txBox="1"/>
          <p:nvPr/>
        </p:nvSpPr>
        <p:spPr>
          <a:xfrm>
            <a:off x="7223760" y="3154680"/>
            <a:ext cx="393192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TUJUAN KAMI</a:t>
            </a:r>
            <a:endParaRPr lang="en-US" sz="1300" dirty="0"/>
          </a:p>
        </p:txBody>
      </p:sp>
      <p:sp>
        <p:nvSpPr>
          <p:cNvPr id="23" name="Text 16"/>
          <p:cNvSpPr txBox="1"/>
          <p:nvPr/>
        </p:nvSpPr>
        <p:spPr>
          <a:xfrm>
            <a:off x="7223760" y="3520440"/>
            <a:ext cx="3931920" cy="2103120"/>
          </a:xfrm>
          <a:prstGeom prst="rect">
            <a:avLst/>
          </a:prstGeom>
          <a:noFill/>
          <a:ln/>
        </p:spPr>
        <p:txBody>
          <a:bodyPr wrap="square" lIns="0" tIns="0" rIns="0" bIns="0" rtlCol="0" anchor="t"/>
          <a:lstStyle/>
          <a:p>
            <a:pPr indent="0" marL="0">
              <a:lnSpc>
                <a:spcPct val="110000"/>
              </a:lnSpc>
              <a:buNone/>
            </a:pPr>
            <a:r>
              <a:rPr lang="en-US" sz="1900" b="1" dirty="0">
                <a:solidFill>
                  <a:srgbClr val="292524"/>
                </a:solidFill>
                <a:latin typeface="Arial" pitchFamily="34" charset="0"/>
                <a:ea typeface="Arial" pitchFamily="34" charset="-122"/>
                <a:cs typeface="Arial" pitchFamily="34" charset="-120"/>
              </a:rPr>
              <a:t>Satu tempat untuk menemukan, membuat, dan mengikuti aktivitas sosial di sekitarmu, sesuai minat dan lokasimu, tanpa membuka lokasi persismu.</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SASARAN</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Lima sasaran yang harus dipenuhi</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5 / 24</a:t>
            </a:r>
            <a:endParaRPr lang="en-US" sz="1100" dirty="0"/>
          </a:p>
        </p:txBody>
      </p:sp>
      <p:sp>
        <p:nvSpPr>
          <p:cNvPr id="7" name="Shape 4"/>
          <p:cNvSpPr/>
          <p:nvPr/>
        </p:nvSpPr>
        <p:spPr>
          <a:xfrm>
            <a:off x="64008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868680" y="2194560"/>
            <a:ext cx="1554480" cy="868680"/>
          </a:xfrm>
          <a:prstGeom prst="rect">
            <a:avLst/>
          </a:prstGeom>
          <a:noFill/>
          <a:ln/>
        </p:spPr>
        <p:txBody>
          <a:bodyPr wrap="square" lIns="0" tIns="0" rIns="0" bIns="0" rtlCol="0" anchor="ctr"/>
          <a:lstStyle/>
          <a:p>
            <a:pPr indent="0" marL="0">
              <a:buNone/>
            </a:pPr>
            <a:r>
              <a:rPr lang="en-US" sz="4000" b="1" dirty="0">
                <a:solidFill>
                  <a:srgbClr val="F97316"/>
                </a:solidFill>
                <a:latin typeface="Arial" pitchFamily="34" charset="0"/>
                <a:ea typeface="Arial" pitchFamily="34" charset="-122"/>
                <a:cs typeface="Arial" pitchFamily="34" charset="-120"/>
              </a:rPr>
              <a:t>20 km</a:t>
            </a:r>
            <a:endParaRPr lang="en-US" sz="4000" dirty="0"/>
          </a:p>
        </p:txBody>
      </p:sp>
      <p:sp>
        <p:nvSpPr>
          <p:cNvPr id="9" name="Text 6"/>
          <p:cNvSpPr txBox="1"/>
          <p:nvPr/>
        </p:nvSpPr>
        <p:spPr>
          <a:xfrm>
            <a:off x="86868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Utamakan terdekat</a:t>
            </a:r>
            <a:endParaRPr lang="en-US" sz="1700" dirty="0"/>
          </a:p>
        </p:txBody>
      </p:sp>
      <p:sp>
        <p:nvSpPr>
          <p:cNvPr id="10" name="Text 7"/>
          <p:cNvSpPr txBox="1"/>
          <p:nvPr/>
        </p:nvSpPr>
        <p:spPr>
          <a:xfrm>
            <a:off x="86868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Dasbor menampilkan aktivitas dalam radius 20 km, sesuai hobimu.</a:t>
            </a:r>
            <a:endParaRPr lang="en-US" sz="1350" dirty="0"/>
          </a:p>
        </p:txBody>
      </p:sp>
      <p:sp>
        <p:nvSpPr>
          <p:cNvPr id="11" name="Shape 8"/>
          <p:cNvSpPr/>
          <p:nvPr/>
        </p:nvSpPr>
        <p:spPr>
          <a:xfrm>
            <a:off x="285750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3086100" y="2194560"/>
            <a:ext cx="1554480" cy="868680"/>
          </a:xfrm>
          <a:prstGeom prst="rect">
            <a:avLst/>
          </a:prstGeom>
          <a:noFill/>
          <a:ln/>
        </p:spPr>
        <p:txBody>
          <a:bodyPr wrap="square" lIns="0" tIns="0" rIns="0" bIns="0" rtlCol="0" anchor="ctr"/>
          <a:lstStyle/>
          <a:p>
            <a:pPr indent="0" marL="0">
              <a:buNone/>
            </a:pPr>
            <a:r>
              <a:rPr lang="en-US" sz="3000" b="1" dirty="0">
                <a:solidFill>
                  <a:srgbClr val="F97316"/>
                </a:solidFill>
                <a:latin typeface="Arial" pitchFamily="34" charset="0"/>
                <a:ea typeface="Arial" pitchFamily="34" charset="-122"/>
                <a:cs typeface="Arial" pitchFamily="34" charset="-120"/>
              </a:rPr>
              <a:t>1 klik</a:t>
            </a:r>
            <a:endParaRPr lang="en-US" sz="3000" dirty="0"/>
          </a:p>
        </p:txBody>
      </p:sp>
      <p:sp>
        <p:nvSpPr>
          <p:cNvPr id="13" name="Text 10"/>
          <p:cNvSpPr txBox="1"/>
          <p:nvPr/>
        </p:nvSpPr>
        <p:spPr>
          <a:xfrm>
            <a:off x="308610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Mudah ikut</a:t>
            </a:r>
            <a:endParaRPr lang="en-US" sz="1700" dirty="0"/>
          </a:p>
        </p:txBody>
      </p:sp>
      <p:sp>
        <p:nvSpPr>
          <p:cNvPr id="14" name="Text 11"/>
          <p:cNvSpPr txBox="1"/>
          <p:nvPr/>
        </p:nvSpPr>
        <p:spPr>
          <a:xfrm>
            <a:off x="308610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Langsung gabung ke aktivitas terbuka, atau ajukan permintaan jika perlu persetujuan.</a:t>
            </a:r>
            <a:endParaRPr lang="en-US" sz="1350" dirty="0"/>
          </a:p>
        </p:txBody>
      </p:sp>
      <p:sp>
        <p:nvSpPr>
          <p:cNvPr id="15" name="Shape 12"/>
          <p:cNvSpPr/>
          <p:nvPr/>
        </p:nvSpPr>
        <p:spPr>
          <a:xfrm>
            <a:off x="507492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5303520" y="2194560"/>
            <a:ext cx="1554480" cy="868680"/>
          </a:xfrm>
          <a:prstGeom prst="rect">
            <a:avLst/>
          </a:prstGeom>
          <a:noFill/>
          <a:ln/>
        </p:spPr>
        <p:txBody>
          <a:bodyPr wrap="square" lIns="0" tIns="0" rIns="0" bIns="0" rtlCol="0" anchor="ctr"/>
          <a:lstStyle/>
          <a:p>
            <a:pPr indent="0" marL="0">
              <a:buNone/>
            </a:pPr>
            <a:r>
              <a:rPr lang="en-US" sz="3000" b="1" dirty="0">
                <a:solidFill>
                  <a:srgbClr val="F97316"/>
                </a:solidFill>
                <a:latin typeface="Arial" pitchFamily="34" charset="0"/>
                <a:ea typeface="Arial" pitchFamily="34" charset="-122"/>
                <a:cs typeface="Arial" pitchFamily="34" charset="-120"/>
              </a:rPr>
              <a:t>4 cara</a:t>
            </a:r>
            <a:endParaRPr lang="en-US" sz="3000" dirty="0"/>
          </a:p>
        </p:txBody>
      </p:sp>
      <p:sp>
        <p:nvSpPr>
          <p:cNvPr id="17" name="Text 14"/>
          <p:cNvSpPr txBox="1"/>
          <p:nvPr/>
        </p:nvSpPr>
        <p:spPr>
          <a:xfrm>
            <a:off x="530352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Mudah dibagikan</a:t>
            </a:r>
            <a:endParaRPr lang="en-US" sz="1700" dirty="0"/>
          </a:p>
        </p:txBody>
      </p:sp>
      <p:sp>
        <p:nvSpPr>
          <p:cNvPr id="18" name="Text 15"/>
          <p:cNvSpPr txBox="1"/>
          <p:nvPr/>
        </p:nvSpPr>
        <p:spPr>
          <a:xfrm>
            <a:off x="530352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Tautan undangan, WhatsApp, kode QR, dan flyer siap pakai untuk tiap aktivitas.</a:t>
            </a:r>
            <a:endParaRPr lang="en-US" sz="1350" dirty="0"/>
          </a:p>
        </p:txBody>
      </p:sp>
      <p:sp>
        <p:nvSpPr>
          <p:cNvPr id="19" name="Shape 16"/>
          <p:cNvSpPr/>
          <p:nvPr/>
        </p:nvSpPr>
        <p:spPr>
          <a:xfrm>
            <a:off x="729234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7520940" y="2194560"/>
            <a:ext cx="1554480" cy="868680"/>
          </a:xfrm>
          <a:prstGeom prst="rect">
            <a:avLst/>
          </a:prstGeom>
          <a:noFill/>
          <a:ln/>
        </p:spPr>
        <p:txBody>
          <a:bodyPr wrap="square" lIns="0" tIns="0" rIns="0" bIns="0" rtlCol="0" anchor="ctr"/>
          <a:lstStyle/>
          <a:p>
            <a:pPr indent="0" marL="0">
              <a:buNone/>
            </a:pPr>
            <a:r>
              <a:rPr lang="en-US" sz="4000" b="1" dirty="0">
                <a:solidFill>
                  <a:srgbClr val="F97316"/>
                </a:solidFill>
                <a:latin typeface="Arial" pitchFamily="34" charset="0"/>
                <a:ea typeface="Arial" pitchFamily="34" charset="-122"/>
                <a:cs typeface="Arial" pitchFamily="34" charset="-120"/>
              </a:rPr>
              <a:t>0</a:t>
            </a:r>
            <a:endParaRPr lang="en-US" sz="4000" dirty="0"/>
          </a:p>
        </p:txBody>
      </p:sp>
      <p:sp>
        <p:nvSpPr>
          <p:cNvPr id="21" name="Text 18"/>
          <p:cNvSpPr txBox="1"/>
          <p:nvPr/>
        </p:nvSpPr>
        <p:spPr>
          <a:xfrm>
            <a:off x="752094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GPS disimpan</a:t>
            </a:r>
            <a:endParaRPr lang="en-US" sz="1700" dirty="0"/>
          </a:p>
        </p:txBody>
      </p:sp>
      <p:sp>
        <p:nvSpPr>
          <p:cNvPr id="22" name="Text 19"/>
          <p:cNvSpPr txBox="1"/>
          <p:nvPr/>
        </p:nvSpPr>
        <p:spPr>
          <a:xfrm>
            <a:off x="752094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Lokasi langsungmu hanya dipakai saat itu dan tidak pernah disimpan di database.</a:t>
            </a:r>
            <a:endParaRPr lang="en-US" sz="1350" dirty="0"/>
          </a:p>
        </p:txBody>
      </p:sp>
      <p:sp>
        <p:nvSpPr>
          <p:cNvPr id="23" name="Shape 20"/>
          <p:cNvSpPr/>
          <p:nvPr/>
        </p:nvSpPr>
        <p:spPr>
          <a:xfrm>
            <a:off x="9509760" y="1874520"/>
            <a:ext cx="2011680" cy="338328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9738360" y="2194560"/>
            <a:ext cx="1554480" cy="868680"/>
          </a:xfrm>
          <a:prstGeom prst="rect">
            <a:avLst/>
          </a:prstGeom>
          <a:noFill/>
          <a:ln/>
        </p:spPr>
        <p:txBody>
          <a:bodyPr wrap="square" lIns="0" tIns="0" rIns="0" bIns="0" rtlCol="0" anchor="ctr"/>
          <a:lstStyle/>
          <a:p>
            <a:pPr indent="0" marL="0">
              <a:buNone/>
            </a:pPr>
            <a:r>
              <a:rPr lang="en-US" sz="3000" b="1" dirty="0">
                <a:solidFill>
                  <a:srgbClr val="F97316"/>
                </a:solidFill>
                <a:latin typeface="Arial" pitchFamily="34" charset="0"/>
                <a:ea typeface="Arial" pitchFamily="34" charset="-122"/>
                <a:cs typeface="Arial" pitchFamily="34" charset="-120"/>
              </a:rPr>
              <a:t>EN · ID</a:t>
            </a:r>
            <a:endParaRPr lang="en-US" sz="3000" dirty="0"/>
          </a:p>
        </p:txBody>
      </p:sp>
      <p:sp>
        <p:nvSpPr>
          <p:cNvPr id="25" name="Text 22"/>
          <p:cNvSpPr txBox="1"/>
          <p:nvPr/>
        </p:nvSpPr>
        <p:spPr>
          <a:xfrm>
            <a:off x="9738360" y="3108960"/>
            <a:ext cx="1554480" cy="54864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Dua bahasa</a:t>
            </a:r>
            <a:endParaRPr lang="en-US" sz="1700" dirty="0"/>
          </a:p>
        </p:txBody>
      </p:sp>
      <p:sp>
        <p:nvSpPr>
          <p:cNvPr id="26" name="Text 23"/>
          <p:cNvSpPr txBox="1"/>
          <p:nvPr/>
        </p:nvSpPr>
        <p:spPr>
          <a:xfrm>
            <a:off x="9738360" y="3703320"/>
            <a:ext cx="1554480" cy="141732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Semua layar tersedia dalam bahasa Inggris dan Indonesia, bisa diganti kapan saja.</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02</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Cara pakai</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Untuk peserta, penyelenggara, dan admin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KENALAN DENGAN APLIKASINYA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Aplikasi web untuk ponsel, tanpa perlu instal</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7 / 24</a:t>
            </a:r>
            <a:endParaRPr lang="en-US" sz="1100" dirty="0"/>
          </a:p>
        </p:txBody>
      </p:sp>
      <p:sp>
        <p:nvSpPr>
          <p:cNvPr id="7" name="Shape 4"/>
          <p:cNvSpPr/>
          <p:nvPr/>
        </p:nvSpPr>
        <p:spPr>
          <a:xfrm>
            <a:off x="640080" y="1783080"/>
            <a:ext cx="6766560" cy="4251960"/>
          </a:xfrm>
          <a:prstGeom prst="roundRect">
            <a:avLst>
              <a:gd name="adj" fmla="val 4301"/>
            </a:avLst>
          </a:prstGeom>
          <a:solidFill>
            <a:srgbClr val="292524"/>
          </a:solidFill>
          <a:ln w="9525">
            <a:solidFill>
              <a:srgbClr val="EFE6DA"/>
            </a:solidFill>
            <a:prstDash val="solid"/>
          </a:ln>
          <a:effectLst>
            <a:outerShdw sx="100000" sy="100000" kx="0" ky="0" algn="bl" rotWithShape="0" blurRad="177800" dist="38100" dir="5400000">
              <a:srgbClr val="C2410C">
                <a:alpha val="12000"/>
              </a:srgbClr>
            </a:outerShdw>
          </a:effectLst>
        </p:spPr>
      </p:sp>
      <p:pic>
        <p:nvPicPr>
          <p:cNvPr id="8" name="Image 1" descr="/Users/gerejastanislaus/Capstone Project/flyer/deck-assets/landing-id.png">    </p:cNvPr>
          <p:cNvPicPr>
            <a:picLocks noChangeAspect="1"/>
          </p:cNvPicPr>
          <p:nvPr/>
        </p:nvPicPr>
        <p:blipFill>
          <a:blip r:embed="rId2"/>
          <a:stretch>
            <a:fillRect/>
          </a:stretch>
        </p:blipFill>
        <p:spPr>
          <a:xfrm>
            <a:off x="777240" y="1920240"/>
            <a:ext cx="6492240" cy="4057650"/>
          </a:xfrm>
          <a:prstGeom prst="rect">
            <a:avLst/>
          </a:prstGeom>
        </p:spPr>
      </p:pic>
      <p:sp>
        <p:nvSpPr>
          <p:cNvPr id="9" name="Shape 5"/>
          <p:cNvSpPr/>
          <p:nvPr/>
        </p:nvSpPr>
        <p:spPr>
          <a:xfrm>
            <a:off x="7772400" y="1828800"/>
            <a:ext cx="640080" cy="640080"/>
          </a:xfrm>
          <a:prstGeom prst="roundRect">
            <a:avLst>
              <a:gd name="adj" fmla="val 27000"/>
            </a:avLst>
          </a:prstGeom>
          <a:solidFill>
            <a:srgbClr val="F97316"/>
          </a:solidFill>
          <a:ln/>
        </p:spPr>
      </p:sp>
      <p:pic>
        <p:nvPicPr>
          <p:cNvPr id="10" name="Image 2" descr="preencoded.png">    </p:cNvPr>
          <p:cNvPicPr>
            <a:picLocks noChangeAspect="1"/>
          </p:cNvPicPr>
          <p:nvPr/>
        </p:nvPicPr>
        <p:blipFill>
          <a:blip r:embed="rId3"/>
          <a:stretch>
            <a:fillRect/>
          </a:stretch>
        </p:blipFill>
        <p:spPr>
          <a:xfrm>
            <a:off x="7926019" y="1982419"/>
            <a:ext cx="332842" cy="332842"/>
          </a:xfrm>
          <a:prstGeom prst="rect">
            <a:avLst/>
          </a:prstGeom>
        </p:spPr>
      </p:pic>
      <p:sp>
        <p:nvSpPr>
          <p:cNvPr id="11" name="Text 6"/>
          <p:cNvSpPr txBox="1"/>
          <p:nvPr/>
        </p:nvSpPr>
        <p:spPr>
          <a:xfrm>
            <a:off x="8595360" y="180136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Jalan di browser apa pun</a:t>
            </a:r>
            <a:endParaRPr lang="en-US" sz="1600" dirty="0"/>
          </a:p>
        </p:txBody>
      </p:sp>
      <p:sp>
        <p:nvSpPr>
          <p:cNvPr id="12" name="Text 7"/>
          <p:cNvSpPr txBox="1"/>
          <p:nvPr/>
        </p:nvSpPr>
        <p:spPr>
          <a:xfrm>
            <a:off x="8595360" y="214884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Diutamakan untuk ponsel: menu bawah di ponsel, sidebar di desktop.</a:t>
            </a:r>
            <a:endParaRPr lang="en-US" sz="1250" dirty="0"/>
          </a:p>
        </p:txBody>
      </p:sp>
      <p:sp>
        <p:nvSpPr>
          <p:cNvPr id="13" name="Shape 8"/>
          <p:cNvSpPr/>
          <p:nvPr/>
        </p:nvSpPr>
        <p:spPr>
          <a:xfrm>
            <a:off x="7772400" y="2880360"/>
            <a:ext cx="640080" cy="640080"/>
          </a:xfrm>
          <a:prstGeom prst="roundRect">
            <a:avLst>
              <a:gd name="adj" fmla="val 27000"/>
            </a:avLst>
          </a:prstGeom>
          <a:solidFill>
            <a:srgbClr val="F97316"/>
          </a:solidFill>
          <a:ln/>
        </p:spPr>
      </p:sp>
      <p:pic>
        <p:nvPicPr>
          <p:cNvPr id="14" name="Image 3" descr="preencoded.png">    </p:cNvPr>
          <p:cNvPicPr>
            <a:picLocks noChangeAspect="1"/>
          </p:cNvPicPr>
          <p:nvPr/>
        </p:nvPicPr>
        <p:blipFill>
          <a:blip r:embed="rId4"/>
          <a:stretch>
            <a:fillRect/>
          </a:stretch>
        </p:blipFill>
        <p:spPr>
          <a:xfrm>
            <a:off x="7926019" y="3033979"/>
            <a:ext cx="332842" cy="332842"/>
          </a:xfrm>
          <a:prstGeom prst="rect">
            <a:avLst/>
          </a:prstGeom>
        </p:spPr>
      </p:pic>
      <p:sp>
        <p:nvSpPr>
          <p:cNvPr id="15" name="Text 9"/>
          <p:cNvSpPr txBox="1"/>
          <p:nvPr/>
        </p:nvSpPr>
        <p:spPr>
          <a:xfrm>
            <a:off x="8595360" y="285292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Terang, gelap, atau sistem</a:t>
            </a:r>
            <a:endParaRPr lang="en-US" sz="1600" dirty="0"/>
          </a:p>
        </p:txBody>
      </p:sp>
      <p:sp>
        <p:nvSpPr>
          <p:cNvPr id="16" name="Text 10"/>
          <p:cNvSpPr txBox="1"/>
          <p:nvPr/>
        </p:nvSpPr>
        <p:spPr>
          <a:xfrm>
            <a:off x="8595360" y="320040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Desain oranye dan krem yang hangat, font Plus Jakarta Sans.</a:t>
            </a:r>
            <a:endParaRPr lang="en-US" sz="1250" dirty="0"/>
          </a:p>
        </p:txBody>
      </p:sp>
      <p:sp>
        <p:nvSpPr>
          <p:cNvPr id="17" name="Shape 11"/>
          <p:cNvSpPr/>
          <p:nvPr/>
        </p:nvSpPr>
        <p:spPr>
          <a:xfrm>
            <a:off x="7772400" y="3931920"/>
            <a:ext cx="640080" cy="640080"/>
          </a:xfrm>
          <a:prstGeom prst="roundRect">
            <a:avLst>
              <a:gd name="adj" fmla="val 27000"/>
            </a:avLst>
          </a:prstGeom>
          <a:solidFill>
            <a:srgbClr val="F97316"/>
          </a:solidFill>
          <a:ln/>
        </p:spPr>
      </p:sp>
      <p:pic>
        <p:nvPicPr>
          <p:cNvPr id="18" name="Image 4" descr="preencoded.png">    </p:cNvPr>
          <p:cNvPicPr>
            <a:picLocks noChangeAspect="1"/>
          </p:cNvPicPr>
          <p:nvPr/>
        </p:nvPicPr>
        <p:blipFill>
          <a:blip r:embed="rId5"/>
          <a:stretch>
            <a:fillRect/>
          </a:stretch>
        </p:blipFill>
        <p:spPr>
          <a:xfrm>
            <a:off x="7926019" y="4085539"/>
            <a:ext cx="332842" cy="332842"/>
          </a:xfrm>
          <a:prstGeom prst="rect">
            <a:avLst/>
          </a:prstGeom>
        </p:spPr>
      </p:pic>
      <p:sp>
        <p:nvSpPr>
          <p:cNvPr id="19" name="Text 12"/>
          <p:cNvSpPr txBox="1"/>
          <p:nvPr/>
        </p:nvSpPr>
        <p:spPr>
          <a:xfrm>
            <a:off x="8595360" y="390448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Inggris / Indonesia</a:t>
            </a:r>
            <a:endParaRPr lang="en-US" sz="1600" dirty="0"/>
          </a:p>
        </p:txBody>
      </p:sp>
      <p:sp>
        <p:nvSpPr>
          <p:cNvPr id="20" name="Text 13"/>
          <p:cNvSpPr txBox="1"/>
          <p:nvPr/>
        </p:nvSpPr>
        <p:spPr>
          <a:xfrm>
            <a:off x="8595360" y="425196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Ganti bahasa dari header di halaman mana pun.</a:t>
            </a:r>
            <a:endParaRPr lang="en-US" sz="1250" dirty="0"/>
          </a:p>
        </p:txBody>
      </p:sp>
      <p:sp>
        <p:nvSpPr>
          <p:cNvPr id="21" name="Shape 14"/>
          <p:cNvSpPr/>
          <p:nvPr/>
        </p:nvSpPr>
        <p:spPr>
          <a:xfrm>
            <a:off x="7772400" y="4983480"/>
            <a:ext cx="640080" cy="640080"/>
          </a:xfrm>
          <a:prstGeom prst="roundRect">
            <a:avLst>
              <a:gd name="adj" fmla="val 27000"/>
            </a:avLst>
          </a:prstGeom>
          <a:solidFill>
            <a:srgbClr val="F97316"/>
          </a:solidFill>
          <a:ln/>
        </p:spPr>
      </p:sp>
      <p:pic>
        <p:nvPicPr>
          <p:cNvPr id="22" name="Image 5" descr="preencoded.png">    </p:cNvPr>
          <p:cNvPicPr>
            <a:picLocks noChangeAspect="1"/>
          </p:cNvPicPr>
          <p:nvPr/>
        </p:nvPicPr>
        <p:blipFill>
          <a:blip r:embed="rId6"/>
          <a:stretch>
            <a:fillRect/>
          </a:stretch>
        </p:blipFill>
        <p:spPr>
          <a:xfrm>
            <a:off x="7926019" y="5137099"/>
            <a:ext cx="332842" cy="332842"/>
          </a:xfrm>
          <a:prstGeom prst="rect">
            <a:avLst/>
          </a:prstGeom>
        </p:spPr>
      </p:pic>
      <p:sp>
        <p:nvSpPr>
          <p:cNvPr id="23" name="Text 15"/>
          <p:cNvSpPr txBox="1"/>
          <p:nvPr/>
        </p:nvSpPr>
        <p:spPr>
          <a:xfrm>
            <a:off x="8595360" y="4956048"/>
            <a:ext cx="301752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Selalu terbaru</a:t>
            </a:r>
            <a:endParaRPr lang="en-US" sz="1600" dirty="0"/>
          </a:p>
        </p:txBody>
      </p:sp>
      <p:sp>
        <p:nvSpPr>
          <p:cNvPr id="24" name="Text 16"/>
          <p:cNvSpPr txBox="1"/>
          <p:nvPr/>
        </p:nvSpPr>
        <p:spPr>
          <a:xfrm>
            <a:off x="8595360" y="5303520"/>
            <a:ext cx="3017520" cy="64008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Aktif di komunitasa.vercel.app, diperbarui setiap rilis.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SIAPA PENGGUNANYA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Lima peran, masing-masing dengan hak akses jelas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8 / 24</a:t>
            </a:r>
            <a:endParaRPr lang="en-US" sz="1100" dirty="0"/>
          </a:p>
        </p:txBody>
      </p:sp>
      <p:sp>
        <p:nvSpPr>
          <p:cNvPr id="7" name="Shape 4"/>
          <p:cNvSpPr/>
          <p:nvPr/>
        </p:nvSpPr>
        <p:spPr>
          <a:xfrm>
            <a:off x="64008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94560"/>
            <a:ext cx="731520" cy="73152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89965" y="2370125"/>
            <a:ext cx="380390" cy="380390"/>
          </a:xfrm>
          <a:prstGeom prst="rect">
            <a:avLst/>
          </a:prstGeom>
        </p:spPr>
      </p:pic>
      <p:sp>
        <p:nvSpPr>
          <p:cNvPr id="10" name="Text 6"/>
          <p:cNvSpPr txBox="1"/>
          <p:nvPr/>
        </p:nvSpPr>
        <p:spPr>
          <a:xfrm>
            <a:off x="91440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Peserta</a:t>
            </a:r>
            <a:endParaRPr lang="en-US" sz="1600" dirty="0"/>
          </a:p>
        </p:txBody>
      </p:sp>
      <p:sp>
        <p:nvSpPr>
          <p:cNvPr id="11" name="Text 7"/>
          <p:cNvSpPr txBox="1"/>
          <p:nvPr/>
        </p:nvSpPr>
        <p:spPr>
          <a:xfrm>
            <a:off x="91440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Mencari, bergabung, berkomentar, dan berkirim pesan. Semua anggota baru mulai dari sini.</a:t>
            </a:r>
            <a:endParaRPr lang="en-US" sz="1350" dirty="0"/>
          </a:p>
        </p:txBody>
      </p:sp>
      <p:sp>
        <p:nvSpPr>
          <p:cNvPr id="12" name="Shape 8"/>
          <p:cNvSpPr/>
          <p:nvPr/>
        </p:nvSpPr>
        <p:spPr>
          <a:xfrm>
            <a:off x="2857500" y="1874520"/>
            <a:ext cx="2011680" cy="3931920"/>
          </a:xfrm>
          <a:prstGeom prst="roundRect">
            <a:avLst>
              <a:gd name="adj" fmla="val 9091"/>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3131820" y="2194560"/>
            <a:ext cx="731520" cy="731520"/>
          </a:xfrm>
          <a:prstGeom prst="roundRect">
            <a:avLst>
              <a:gd name="adj" fmla="val 27000"/>
            </a:avLst>
          </a:prstGeom>
          <a:solidFill>
            <a:srgbClr val="C2410C"/>
          </a:solidFill>
          <a:ln/>
        </p:spPr>
      </p:sp>
      <p:pic>
        <p:nvPicPr>
          <p:cNvPr id="14" name="Image 2" descr="preencoded.png">    </p:cNvPr>
          <p:cNvPicPr>
            <a:picLocks noChangeAspect="1"/>
          </p:cNvPicPr>
          <p:nvPr/>
        </p:nvPicPr>
        <p:blipFill>
          <a:blip r:embed="rId3"/>
          <a:stretch>
            <a:fillRect/>
          </a:stretch>
        </p:blipFill>
        <p:spPr>
          <a:xfrm>
            <a:off x="3307385" y="2370125"/>
            <a:ext cx="380390" cy="380390"/>
          </a:xfrm>
          <a:prstGeom prst="rect">
            <a:avLst/>
          </a:prstGeom>
        </p:spPr>
      </p:pic>
      <p:sp>
        <p:nvSpPr>
          <p:cNvPr id="15" name="Text 10"/>
          <p:cNvSpPr txBox="1"/>
          <p:nvPr/>
        </p:nvSpPr>
        <p:spPr>
          <a:xfrm>
            <a:off x="313182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Penyelenggara</a:t>
            </a:r>
            <a:endParaRPr lang="en-US" sz="1600" dirty="0"/>
          </a:p>
        </p:txBody>
      </p:sp>
      <p:sp>
        <p:nvSpPr>
          <p:cNvPr id="16" name="Text 11"/>
          <p:cNvSpPr txBox="1"/>
          <p:nvPr/>
        </p:nvSpPr>
        <p:spPr>
          <a:xfrm>
            <a:off x="313182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Peserta yang membuat aktivitas: mengubahnya, menyetujui peserta, membagikannya, membuat flyer.</a:t>
            </a:r>
            <a:endParaRPr lang="en-US" sz="1350" dirty="0"/>
          </a:p>
        </p:txBody>
      </p:sp>
      <p:sp>
        <p:nvSpPr>
          <p:cNvPr id="17" name="Shape 12"/>
          <p:cNvSpPr/>
          <p:nvPr/>
        </p:nvSpPr>
        <p:spPr>
          <a:xfrm>
            <a:off x="507492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5349240" y="2194560"/>
            <a:ext cx="731520" cy="731520"/>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5524805" y="2370125"/>
            <a:ext cx="380390" cy="380390"/>
          </a:xfrm>
          <a:prstGeom prst="rect">
            <a:avLst/>
          </a:prstGeom>
        </p:spPr>
      </p:pic>
      <p:sp>
        <p:nvSpPr>
          <p:cNvPr id="20" name="Text 14"/>
          <p:cNvSpPr txBox="1"/>
          <p:nvPr/>
        </p:nvSpPr>
        <p:spPr>
          <a:xfrm>
            <a:off x="534924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Moderator</a:t>
            </a:r>
            <a:endParaRPr lang="en-US" sz="1600" dirty="0"/>
          </a:p>
        </p:txBody>
      </p:sp>
      <p:sp>
        <p:nvSpPr>
          <p:cNvPr id="21" name="Text 15"/>
          <p:cNvSpPr txBox="1"/>
          <p:nvPr/>
        </p:nvSpPr>
        <p:spPr>
          <a:xfrm>
            <a:off x="534924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Menangani keluhan serta komentar atau pesan yang dilaporkan.</a:t>
            </a:r>
            <a:endParaRPr lang="en-US" sz="1350" dirty="0"/>
          </a:p>
        </p:txBody>
      </p:sp>
      <p:sp>
        <p:nvSpPr>
          <p:cNvPr id="22" name="Shape 16"/>
          <p:cNvSpPr/>
          <p:nvPr/>
        </p:nvSpPr>
        <p:spPr>
          <a:xfrm>
            <a:off x="729234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7566660" y="2194560"/>
            <a:ext cx="731520" cy="731520"/>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7742225" y="2370125"/>
            <a:ext cx="380390" cy="380390"/>
          </a:xfrm>
          <a:prstGeom prst="rect">
            <a:avLst/>
          </a:prstGeom>
        </p:spPr>
      </p:pic>
      <p:sp>
        <p:nvSpPr>
          <p:cNvPr id="25" name="Text 18"/>
          <p:cNvSpPr txBox="1"/>
          <p:nvPr/>
        </p:nvSpPr>
        <p:spPr>
          <a:xfrm>
            <a:off x="756666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Admin</a:t>
            </a:r>
            <a:endParaRPr lang="en-US" sz="1600" dirty="0"/>
          </a:p>
        </p:txBody>
      </p:sp>
      <p:sp>
        <p:nvSpPr>
          <p:cNvPr id="26" name="Text 19"/>
          <p:cNvSpPr txBox="1"/>
          <p:nvPr/>
        </p:nvSpPr>
        <p:spPr>
          <a:xfrm>
            <a:off x="756666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Juga mengelola pengguna, aktivitas, kategori, pengaturan, dan ekspor data.</a:t>
            </a:r>
            <a:endParaRPr lang="en-US" sz="1350" dirty="0"/>
          </a:p>
        </p:txBody>
      </p:sp>
      <p:sp>
        <p:nvSpPr>
          <p:cNvPr id="27" name="Shape 20"/>
          <p:cNvSpPr/>
          <p:nvPr/>
        </p:nvSpPr>
        <p:spPr>
          <a:xfrm>
            <a:off x="9509760" y="1874520"/>
            <a:ext cx="2011680" cy="39319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9784080" y="2194560"/>
            <a:ext cx="731520" cy="731520"/>
          </a:xfrm>
          <a:prstGeom prst="roundRect">
            <a:avLst>
              <a:gd name="adj" fmla="val 27000"/>
            </a:avLst>
          </a:prstGeom>
          <a:solidFill>
            <a:srgbClr val="F97316"/>
          </a:solidFill>
          <a:ln/>
        </p:spPr>
      </p:sp>
      <p:pic>
        <p:nvPicPr>
          <p:cNvPr id="29" name="Image 5" descr="preencoded.png">    </p:cNvPr>
          <p:cNvPicPr>
            <a:picLocks noChangeAspect="1"/>
          </p:cNvPicPr>
          <p:nvPr/>
        </p:nvPicPr>
        <p:blipFill>
          <a:blip r:embed="rId6"/>
          <a:stretch>
            <a:fillRect/>
          </a:stretch>
        </p:blipFill>
        <p:spPr>
          <a:xfrm>
            <a:off x="9959645" y="2370125"/>
            <a:ext cx="380390" cy="380390"/>
          </a:xfrm>
          <a:prstGeom prst="rect">
            <a:avLst/>
          </a:prstGeom>
        </p:spPr>
      </p:pic>
      <p:sp>
        <p:nvSpPr>
          <p:cNvPr id="30" name="Text 22"/>
          <p:cNvSpPr txBox="1"/>
          <p:nvPr/>
        </p:nvSpPr>
        <p:spPr>
          <a:xfrm>
            <a:off x="9784080" y="3154680"/>
            <a:ext cx="1600200" cy="45720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Super admin</a:t>
            </a:r>
            <a:endParaRPr lang="en-US" sz="1600" dirty="0"/>
          </a:p>
        </p:txBody>
      </p:sp>
      <p:sp>
        <p:nvSpPr>
          <p:cNvPr id="31" name="Text 23"/>
          <p:cNvSpPr txBox="1"/>
          <p:nvPr/>
        </p:nvSpPr>
        <p:spPr>
          <a:xfrm>
            <a:off x="9784080" y="3657600"/>
            <a:ext cx="1508760" cy="201168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Juga mengubah peran dan menganonimkan pengguna. Semua tindakan admin dicatat.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CARA PAKAI · PESERTA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Dari daftar sampai datang, dalam lima langkah</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9 / 24</a:t>
            </a:r>
            <a:endParaRPr lang="en-US" sz="1100" dirty="0"/>
          </a:p>
        </p:txBody>
      </p:sp>
      <p:sp>
        <p:nvSpPr>
          <p:cNvPr id="7" name="Shape 4"/>
          <p:cNvSpPr/>
          <p:nvPr/>
        </p:nvSpPr>
        <p:spPr>
          <a:xfrm>
            <a:off x="64008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240280"/>
            <a:ext cx="685800" cy="68580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78992" y="2404872"/>
            <a:ext cx="356616" cy="356616"/>
          </a:xfrm>
          <a:prstGeom prst="rect">
            <a:avLst/>
          </a:prstGeom>
        </p:spPr>
      </p:pic>
      <p:sp>
        <p:nvSpPr>
          <p:cNvPr id="10" name="Text 6"/>
          <p:cNvSpPr txBox="1"/>
          <p:nvPr/>
        </p:nvSpPr>
        <p:spPr>
          <a:xfrm>
            <a:off x="173736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01</a:t>
            </a:r>
            <a:endParaRPr lang="en-US" sz="2000" dirty="0"/>
          </a:p>
        </p:txBody>
      </p:sp>
      <p:sp>
        <p:nvSpPr>
          <p:cNvPr id="11" name="Text 7"/>
          <p:cNvSpPr txBox="1"/>
          <p:nvPr/>
        </p:nvSpPr>
        <p:spPr>
          <a:xfrm>
            <a:off x="91440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Daftar</a:t>
            </a:r>
            <a:endParaRPr lang="en-US" sz="1800" dirty="0"/>
          </a:p>
        </p:txBody>
      </p:sp>
      <p:sp>
        <p:nvSpPr>
          <p:cNvPr id="12" name="Text 8"/>
          <p:cNvSpPr txBox="1"/>
          <p:nvPr/>
        </p:nvSpPr>
        <p:spPr>
          <a:xfrm>
            <a:off x="91440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Email, kata sandi, dan kode 6 digit lewat email. Lalu buat PIN 6 digit untuk masuk cepat.</a:t>
            </a:r>
            <a:endParaRPr lang="en-US" sz="1300" dirty="0"/>
          </a:p>
        </p:txBody>
      </p:sp>
      <p:pic>
        <p:nvPicPr>
          <p:cNvPr id="13" name="Image 2" descr="preencoded.png">    </p:cNvPr>
          <p:cNvPicPr>
            <a:picLocks noChangeAspect="1"/>
          </p:cNvPicPr>
          <p:nvPr/>
        </p:nvPicPr>
        <p:blipFill>
          <a:blip r:embed="rId3"/>
          <a:stretch>
            <a:fillRect/>
          </a:stretch>
        </p:blipFill>
        <p:spPr>
          <a:xfrm>
            <a:off x="2642616" y="3534156"/>
            <a:ext cx="201168" cy="201168"/>
          </a:xfrm>
          <a:prstGeom prst="rect">
            <a:avLst/>
          </a:prstGeom>
        </p:spPr>
      </p:pic>
      <p:sp>
        <p:nvSpPr>
          <p:cNvPr id="14" name="Shape 9"/>
          <p:cNvSpPr/>
          <p:nvPr/>
        </p:nvSpPr>
        <p:spPr>
          <a:xfrm>
            <a:off x="288036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5" name="Shape 10"/>
          <p:cNvSpPr/>
          <p:nvPr/>
        </p:nvSpPr>
        <p:spPr>
          <a:xfrm>
            <a:off x="3154680" y="2240280"/>
            <a:ext cx="685800" cy="685800"/>
          </a:xfrm>
          <a:prstGeom prst="roundRect">
            <a:avLst>
              <a:gd name="adj" fmla="val 27000"/>
            </a:avLst>
          </a:prstGeom>
          <a:solidFill>
            <a:srgbClr val="F97316"/>
          </a:solidFill>
          <a:ln/>
        </p:spPr>
      </p:sp>
      <p:pic>
        <p:nvPicPr>
          <p:cNvPr id="16" name="Image 3" descr="preencoded.png">    </p:cNvPr>
          <p:cNvPicPr>
            <a:picLocks noChangeAspect="1"/>
          </p:cNvPicPr>
          <p:nvPr/>
        </p:nvPicPr>
        <p:blipFill>
          <a:blip r:embed="rId4"/>
          <a:stretch>
            <a:fillRect/>
          </a:stretch>
        </p:blipFill>
        <p:spPr>
          <a:xfrm>
            <a:off x="3319272" y="2404872"/>
            <a:ext cx="356616" cy="356616"/>
          </a:xfrm>
          <a:prstGeom prst="rect">
            <a:avLst/>
          </a:prstGeom>
        </p:spPr>
      </p:pic>
      <p:sp>
        <p:nvSpPr>
          <p:cNvPr id="17" name="Text 11"/>
          <p:cNvSpPr txBox="1"/>
          <p:nvPr/>
        </p:nvSpPr>
        <p:spPr>
          <a:xfrm>
            <a:off x="397764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02</a:t>
            </a:r>
            <a:endParaRPr lang="en-US" sz="2000" dirty="0"/>
          </a:p>
        </p:txBody>
      </p:sp>
      <p:sp>
        <p:nvSpPr>
          <p:cNvPr id="18" name="Text 12"/>
          <p:cNvSpPr txBox="1"/>
          <p:nvPr/>
        </p:nvSpPr>
        <p:spPr>
          <a:xfrm>
            <a:off x="315468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Pilih hobi</a:t>
            </a:r>
            <a:endParaRPr lang="en-US" sz="1800" dirty="0"/>
          </a:p>
        </p:txBody>
      </p:sp>
      <p:sp>
        <p:nvSpPr>
          <p:cNvPr id="19" name="Text 13"/>
          <p:cNvSpPr txBox="1"/>
          <p:nvPr/>
        </p:nvSpPr>
        <p:spPr>
          <a:xfrm>
            <a:off x="315468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Pilih minat seperti lari, membaca, bersepeda, bulu tangkis, atau basket.</a:t>
            </a:r>
            <a:endParaRPr lang="en-US" sz="1300" dirty="0"/>
          </a:p>
        </p:txBody>
      </p:sp>
      <p:pic>
        <p:nvPicPr>
          <p:cNvPr id="20" name="Image 4" descr="preencoded.png">    </p:cNvPr>
          <p:cNvPicPr>
            <a:picLocks noChangeAspect="1"/>
          </p:cNvPicPr>
          <p:nvPr/>
        </p:nvPicPr>
        <p:blipFill>
          <a:blip r:embed="rId5"/>
          <a:stretch>
            <a:fillRect/>
          </a:stretch>
        </p:blipFill>
        <p:spPr>
          <a:xfrm>
            <a:off x="4882896" y="3534156"/>
            <a:ext cx="201168" cy="201168"/>
          </a:xfrm>
          <a:prstGeom prst="rect">
            <a:avLst/>
          </a:prstGeom>
        </p:spPr>
      </p:pic>
      <p:sp>
        <p:nvSpPr>
          <p:cNvPr id="21" name="Shape 14"/>
          <p:cNvSpPr/>
          <p:nvPr/>
        </p:nvSpPr>
        <p:spPr>
          <a:xfrm>
            <a:off x="512064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2" name="Shape 15"/>
          <p:cNvSpPr/>
          <p:nvPr/>
        </p:nvSpPr>
        <p:spPr>
          <a:xfrm>
            <a:off x="5394960" y="2240280"/>
            <a:ext cx="685800" cy="685800"/>
          </a:xfrm>
          <a:prstGeom prst="roundRect">
            <a:avLst>
              <a:gd name="adj" fmla="val 27000"/>
            </a:avLst>
          </a:prstGeom>
          <a:solidFill>
            <a:srgbClr val="F97316"/>
          </a:solidFill>
          <a:ln/>
        </p:spPr>
      </p:sp>
      <p:pic>
        <p:nvPicPr>
          <p:cNvPr id="23" name="Image 5" descr="preencoded.png">    </p:cNvPr>
          <p:cNvPicPr>
            <a:picLocks noChangeAspect="1"/>
          </p:cNvPicPr>
          <p:nvPr/>
        </p:nvPicPr>
        <p:blipFill>
          <a:blip r:embed="rId6"/>
          <a:stretch>
            <a:fillRect/>
          </a:stretch>
        </p:blipFill>
        <p:spPr>
          <a:xfrm>
            <a:off x="5559552" y="2404872"/>
            <a:ext cx="356616" cy="356616"/>
          </a:xfrm>
          <a:prstGeom prst="rect">
            <a:avLst/>
          </a:prstGeom>
        </p:spPr>
      </p:pic>
      <p:sp>
        <p:nvSpPr>
          <p:cNvPr id="24" name="Text 16"/>
          <p:cNvSpPr txBox="1"/>
          <p:nvPr/>
        </p:nvSpPr>
        <p:spPr>
          <a:xfrm>
            <a:off x="621792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03</a:t>
            </a:r>
            <a:endParaRPr lang="en-US" sz="2000" dirty="0"/>
          </a:p>
        </p:txBody>
      </p:sp>
      <p:sp>
        <p:nvSpPr>
          <p:cNvPr id="25" name="Text 17"/>
          <p:cNvSpPr txBox="1"/>
          <p:nvPr/>
        </p:nvSpPr>
        <p:spPr>
          <a:xfrm>
            <a:off x="539496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Cari terdekat</a:t>
            </a:r>
            <a:endParaRPr lang="en-US" sz="1800" dirty="0"/>
          </a:p>
        </p:txBody>
      </p:sp>
      <p:sp>
        <p:nvSpPr>
          <p:cNvPr id="26" name="Text 18"/>
          <p:cNvSpPr txBox="1"/>
          <p:nvPr/>
        </p:nvSpPr>
        <p:spPr>
          <a:xfrm>
            <a:off x="539496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Pakai GPS atau pilih wilayahmu. Dasbor menampilkan aktivitas dalam 20 km.</a:t>
            </a:r>
            <a:endParaRPr lang="en-US" sz="1300" dirty="0"/>
          </a:p>
        </p:txBody>
      </p:sp>
      <p:pic>
        <p:nvPicPr>
          <p:cNvPr id="27" name="Image 6" descr="preencoded.png">    </p:cNvPr>
          <p:cNvPicPr>
            <a:picLocks noChangeAspect="1"/>
          </p:cNvPicPr>
          <p:nvPr/>
        </p:nvPicPr>
        <p:blipFill>
          <a:blip r:embed="rId7"/>
          <a:stretch>
            <a:fillRect/>
          </a:stretch>
        </p:blipFill>
        <p:spPr>
          <a:xfrm>
            <a:off x="7123176" y="3534156"/>
            <a:ext cx="201168" cy="201168"/>
          </a:xfrm>
          <a:prstGeom prst="rect">
            <a:avLst/>
          </a:prstGeom>
        </p:spPr>
      </p:pic>
      <p:sp>
        <p:nvSpPr>
          <p:cNvPr id="28" name="Shape 19"/>
          <p:cNvSpPr/>
          <p:nvPr/>
        </p:nvSpPr>
        <p:spPr>
          <a:xfrm>
            <a:off x="736092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9" name="Shape 20"/>
          <p:cNvSpPr/>
          <p:nvPr/>
        </p:nvSpPr>
        <p:spPr>
          <a:xfrm>
            <a:off x="7635240" y="2240280"/>
            <a:ext cx="685800" cy="685800"/>
          </a:xfrm>
          <a:prstGeom prst="roundRect">
            <a:avLst>
              <a:gd name="adj" fmla="val 27000"/>
            </a:avLst>
          </a:prstGeom>
          <a:solidFill>
            <a:srgbClr val="F97316"/>
          </a:solidFill>
          <a:ln/>
        </p:spPr>
      </p:sp>
      <p:pic>
        <p:nvPicPr>
          <p:cNvPr id="30" name="Image 7" descr="preencoded.png">    </p:cNvPr>
          <p:cNvPicPr>
            <a:picLocks noChangeAspect="1"/>
          </p:cNvPicPr>
          <p:nvPr/>
        </p:nvPicPr>
        <p:blipFill>
          <a:blip r:embed="rId8"/>
          <a:stretch>
            <a:fillRect/>
          </a:stretch>
        </p:blipFill>
        <p:spPr>
          <a:xfrm>
            <a:off x="7799832" y="2404872"/>
            <a:ext cx="356616" cy="356616"/>
          </a:xfrm>
          <a:prstGeom prst="rect">
            <a:avLst/>
          </a:prstGeom>
        </p:spPr>
      </p:pic>
      <p:sp>
        <p:nvSpPr>
          <p:cNvPr id="31" name="Text 21"/>
          <p:cNvSpPr txBox="1"/>
          <p:nvPr/>
        </p:nvSpPr>
        <p:spPr>
          <a:xfrm>
            <a:off x="845820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04</a:t>
            </a:r>
            <a:endParaRPr lang="en-US" sz="2000" dirty="0"/>
          </a:p>
        </p:txBody>
      </p:sp>
      <p:sp>
        <p:nvSpPr>
          <p:cNvPr id="32" name="Text 22"/>
          <p:cNvSpPr txBox="1"/>
          <p:nvPr/>
        </p:nvSpPr>
        <p:spPr>
          <a:xfrm>
            <a:off x="763524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Gabung</a:t>
            </a:r>
            <a:endParaRPr lang="en-US" sz="1800" dirty="0"/>
          </a:p>
        </p:txBody>
      </p:sp>
      <p:sp>
        <p:nvSpPr>
          <p:cNvPr id="33" name="Text 23"/>
          <p:cNvSpPr txBox="1"/>
          <p:nvPr/>
        </p:nvSpPr>
        <p:spPr>
          <a:xfrm>
            <a:off x="763524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Gabung dengan satu klik, atau ajukan permintaan. Dapat notifikasi saat disetujui.</a:t>
            </a:r>
            <a:endParaRPr lang="en-US" sz="1300" dirty="0"/>
          </a:p>
        </p:txBody>
      </p:sp>
      <p:pic>
        <p:nvPicPr>
          <p:cNvPr id="34" name="Image 8" descr="preencoded.png">    </p:cNvPr>
          <p:cNvPicPr>
            <a:picLocks noChangeAspect="1"/>
          </p:cNvPicPr>
          <p:nvPr/>
        </p:nvPicPr>
        <p:blipFill>
          <a:blip r:embed="rId9"/>
          <a:stretch>
            <a:fillRect/>
          </a:stretch>
        </p:blipFill>
        <p:spPr>
          <a:xfrm>
            <a:off x="9363456" y="3534156"/>
            <a:ext cx="201168" cy="201168"/>
          </a:xfrm>
          <a:prstGeom prst="rect">
            <a:avLst/>
          </a:prstGeom>
        </p:spPr>
      </p:pic>
      <p:sp>
        <p:nvSpPr>
          <p:cNvPr id="35" name="Shape 24"/>
          <p:cNvSpPr/>
          <p:nvPr/>
        </p:nvSpPr>
        <p:spPr>
          <a:xfrm>
            <a:off x="9601200" y="1920240"/>
            <a:ext cx="1965960" cy="342900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6" name="Shape 25"/>
          <p:cNvSpPr/>
          <p:nvPr/>
        </p:nvSpPr>
        <p:spPr>
          <a:xfrm>
            <a:off x="9875520" y="2240280"/>
            <a:ext cx="685800" cy="685800"/>
          </a:xfrm>
          <a:prstGeom prst="roundRect">
            <a:avLst>
              <a:gd name="adj" fmla="val 27000"/>
            </a:avLst>
          </a:prstGeom>
          <a:solidFill>
            <a:srgbClr val="F97316"/>
          </a:solidFill>
          <a:ln/>
        </p:spPr>
      </p:sp>
      <p:pic>
        <p:nvPicPr>
          <p:cNvPr id="37" name="Image 9" descr="preencoded.png">    </p:cNvPr>
          <p:cNvPicPr>
            <a:picLocks noChangeAspect="1"/>
          </p:cNvPicPr>
          <p:nvPr/>
        </p:nvPicPr>
        <p:blipFill>
          <a:blip r:embed="rId10"/>
          <a:stretch>
            <a:fillRect/>
          </a:stretch>
        </p:blipFill>
        <p:spPr>
          <a:xfrm>
            <a:off x="10040112" y="2404872"/>
            <a:ext cx="356616" cy="356616"/>
          </a:xfrm>
          <a:prstGeom prst="rect">
            <a:avLst/>
          </a:prstGeom>
        </p:spPr>
      </p:pic>
      <p:sp>
        <p:nvSpPr>
          <p:cNvPr id="38" name="Text 26"/>
          <p:cNvSpPr txBox="1"/>
          <p:nvPr/>
        </p:nvSpPr>
        <p:spPr>
          <a:xfrm>
            <a:off x="10698480" y="2240280"/>
            <a:ext cx="731520" cy="685800"/>
          </a:xfrm>
          <a:prstGeom prst="rect">
            <a:avLst/>
          </a:prstGeom>
          <a:noFill/>
          <a:ln/>
        </p:spPr>
        <p:txBody>
          <a:bodyPr wrap="square" lIns="0" tIns="0" rIns="0" bIns="0" rtlCol="0" anchor="ctr"/>
          <a:lstStyle/>
          <a:p>
            <a:pPr indent="0" marL="0">
              <a:buNone/>
            </a:pPr>
            <a:r>
              <a:rPr lang="en-US" sz="2000" b="1" dirty="0">
                <a:solidFill>
                  <a:srgbClr val="C2410C"/>
                </a:solidFill>
                <a:latin typeface="Arial" pitchFamily="34" charset="0"/>
                <a:ea typeface="Arial" pitchFamily="34" charset="-122"/>
                <a:cs typeface="Arial" pitchFamily="34" charset="-120"/>
              </a:rPr>
              <a:t>05</a:t>
            </a:r>
            <a:endParaRPr lang="en-US" sz="2000" dirty="0"/>
          </a:p>
        </p:txBody>
      </p:sp>
      <p:sp>
        <p:nvSpPr>
          <p:cNvPr id="39" name="Text 27"/>
          <p:cNvSpPr txBox="1"/>
          <p:nvPr/>
        </p:nvSpPr>
        <p:spPr>
          <a:xfrm>
            <a:off x="9875520" y="3154680"/>
            <a:ext cx="1508760" cy="41148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Ketemuan</a:t>
            </a:r>
            <a:endParaRPr lang="en-US" sz="1800" dirty="0"/>
          </a:p>
        </p:txBody>
      </p:sp>
      <p:sp>
        <p:nvSpPr>
          <p:cNvPr id="40" name="Text 28"/>
          <p:cNvSpPr txBox="1"/>
          <p:nvPr/>
        </p:nvSpPr>
        <p:spPr>
          <a:xfrm>
            <a:off x="9875520" y="3657600"/>
            <a:ext cx="1463040" cy="16002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Bertanya lewat komentar, kirim pesan pribadi, dan tambah teman.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CARA PAKAI · PENYELENGGARA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Buat, bagikan, dan jalankan aktivitas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10 / 24</a:t>
            </a:r>
            <a:endParaRPr lang="en-US" sz="1100" dirty="0"/>
          </a:p>
        </p:txBody>
      </p:sp>
      <p:sp>
        <p:nvSpPr>
          <p:cNvPr id="7" name="Shape 4"/>
          <p:cNvSpPr/>
          <p:nvPr/>
        </p:nvSpPr>
        <p:spPr>
          <a:xfrm>
            <a:off x="64008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03120"/>
            <a:ext cx="658368" cy="658368"/>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72408" y="2261128"/>
            <a:ext cx="342351" cy="342351"/>
          </a:xfrm>
          <a:prstGeom prst="rect">
            <a:avLst/>
          </a:prstGeom>
        </p:spPr>
      </p:pic>
      <p:sp>
        <p:nvSpPr>
          <p:cNvPr id="10" name="Text 6"/>
          <p:cNvSpPr txBox="1"/>
          <p:nvPr/>
        </p:nvSpPr>
        <p:spPr>
          <a:xfrm>
            <a:off x="173736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Buat</a:t>
            </a:r>
            <a:endParaRPr lang="en-US" sz="1900" dirty="0"/>
          </a:p>
        </p:txBody>
      </p:sp>
      <p:sp>
        <p:nvSpPr>
          <p:cNvPr id="11" name="Text 7"/>
          <p:cNvSpPr txBox="1"/>
          <p:nvPr/>
        </p:nvSpPr>
        <p:spPr>
          <a:xfrm>
            <a:off x="91440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Judul, kategori, tanggal dan jam, biaya, kuota, dan titik di peta. Unggah dan potong banner.</a:t>
            </a:r>
            <a:endParaRPr lang="en-US" sz="1350" dirty="0"/>
          </a:p>
        </p:txBody>
      </p:sp>
      <p:pic>
        <p:nvPicPr>
          <p:cNvPr id="12" name="Image 2" descr="preencoded.png">    </p:cNvPr>
          <p:cNvPicPr>
            <a:picLocks noChangeAspect="1"/>
          </p:cNvPicPr>
          <p:nvPr/>
        </p:nvPicPr>
        <p:blipFill>
          <a:blip r:embed="rId3"/>
          <a:stretch>
            <a:fillRect/>
          </a:stretch>
        </p:blipFill>
        <p:spPr>
          <a:xfrm>
            <a:off x="3191256" y="3214116"/>
            <a:ext cx="201168" cy="201168"/>
          </a:xfrm>
          <a:prstGeom prst="rect">
            <a:avLst/>
          </a:prstGeom>
        </p:spPr>
      </p:pic>
      <p:sp>
        <p:nvSpPr>
          <p:cNvPr id="13" name="Shape 8"/>
          <p:cNvSpPr/>
          <p:nvPr/>
        </p:nvSpPr>
        <p:spPr>
          <a:xfrm>
            <a:off x="342900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9"/>
          <p:cNvSpPr/>
          <p:nvPr/>
        </p:nvSpPr>
        <p:spPr>
          <a:xfrm>
            <a:off x="3703320" y="2103120"/>
            <a:ext cx="658368" cy="658368"/>
          </a:xfrm>
          <a:prstGeom prst="roundRect">
            <a:avLst>
              <a:gd name="adj" fmla="val 27000"/>
            </a:avLst>
          </a:prstGeom>
          <a:solidFill>
            <a:srgbClr val="F97316"/>
          </a:solidFill>
          <a:ln/>
        </p:spPr>
      </p:sp>
      <p:pic>
        <p:nvPicPr>
          <p:cNvPr id="15" name="Image 3" descr="preencoded.png">    </p:cNvPr>
          <p:cNvPicPr>
            <a:picLocks noChangeAspect="1"/>
          </p:cNvPicPr>
          <p:nvPr/>
        </p:nvPicPr>
        <p:blipFill>
          <a:blip r:embed="rId4"/>
          <a:stretch>
            <a:fillRect/>
          </a:stretch>
        </p:blipFill>
        <p:spPr>
          <a:xfrm>
            <a:off x="3861328" y="2261128"/>
            <a:ext cx="342351" cy="342351"/>
          </a:xfrm>
          <a:prstGeom prst="rect">
            <a:avLst/>
          </a:prstGeom>
        </p:spPr>
      </p:pic>
      <p:sp>
        <p:nvSpPr>
          <p:cNvPr id="16" name="Text 10"/>
          <p:cNvSpPr txBox="1"/>
          <p:nvPr/>
        </p:nvSpPr>
        <p:spPr>
          <a:xfrm>
            <a:off x="452628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Atur aturan</a:t>
            </a:r>
            <a:endParaRPr lang="en-US" sz="1900" dirty="0"/>
          </a:p>
        </p:txBody>
      </p:sp>
      <p:sp>
        <p:nvSpPr>
          <p:cNvPr id="17" name="Text 11"/>
          <p:cNvSpPr txBox="1"/>
          <p:nvPr/>
        </p:nvSpPr>
        <p:spPr>
          <a:xfrm>
            <a:off x="370332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Publik atau privat. Bebas gabung atau perlu persetujuan. Tambahkan narahubung dan WhatsApp.</a:t>
            </a:r>
            <a:endParaRPr lang="en-US" sz="1350" dirty="0"/>
          </a:p>
        </p:txBody>
      </p:sp>
      <p:pic>
        <p:nvPicPr>
          <p:cNvPr id="18" name="Image 4" descr="preencoded.png">    </p:cNvPr>
          <p:cNvPicPr>
            <a:picLocks noChangeAspect="1"/>
          </p:cNvPicPr>
          <p:nvPr/>
        </p:nvPicPr>
        <p:blipFill>
          <a:blip r:embed="rId5"/>
          <a:stretch>
            <a:fillRect/>
          </a:stretch>
        </p:blipFill>
        <p:spPr>
          <a:xfrm>
            <a:off x="5980176" y="3214116"/>
            <a:ext cx="201168" cy="201168"/>
          </a:xfrm>
          <a:prstGeom prst="rect">
            <a:avLst/>
          </a:prstGeom>
        </p:spPr>
      </p:pic>
      <p:sp>
        <p:nvSpPr>
          <p:cNvPr id="19" name="Shape 12"/>
          <p:cNvSpPr/>
          <p:nvPr/>
        </p:nvSpPr>
        <p:spPr>
          <a:xfrm>
            <a:off x="621792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3"/>
          <p:cNvSpPr/>
          <p:nvPr/>
        </p:nvSpPr>
        <p:spPr>
          <a:xfrm>
            <a:off x="6492240" y="2103120"/>
            <a:ext cx="658368" cy="658368"/>
          </a:xfrm>
          <a:prstGeom prst="roundRect">
            <a:avLst>
              <a:gd name="adj" fmla="val 27000"/>
            </a:avLst>
          </a:prstGeom>
          <a:solidFill>
            <a:srgbClr val="F97316"/>
          </a:solidFill>
          <a:ln/>
        </p:spPr>
      </p:sp>
      <p:pic>
        <p:nvPicPr>
          <p:cNvPr id="21" name="Image 5" descr="preencoded.png">    </p:cNvPr>
          <p:cNvPicPr>
            <a:picLocks noChangeAspect="1"/>
          </p:cNvPicPr>
          <p:nvPr/>
        </p:nvPicPr>
        <p:blipFill>
          <a:blip r:embed="rId6"/>
          <a:stretch>
            <a:fillRect/>
          </a:stretch>
        </p:blipFill>
        <p:spPr>
          <a:xfrm>
            <a:off x="6650248" y="2261128"/>
            <a:ext cx="342351" cy="342351"/>
          </a:xfrm>
          <a:prstGeom prst="rect">
            <a:avLst/>
          </a:prstGeom>
        </p:spPr>
      </p:pic>
      <p:sp>
        <p:nvSpPr>
          <p:cNvPr id="22" name="Text 14"/>
          <p:cNvSpPr txBox="1"/>
          <p:nvPr/>
        </p:nvSpPr>
        <p:spPr>
          <a:xfrm>
            <a:off x="731520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Bagikan</a:t>
            </a:r>
            <a:endParaRPr lang="en-US" sz="1900" dirty="0"/>
          </a:p>
        </p:txBody>
      </p:sp>
      <p:sp>
        <p:nvSpPr>
          <p:cNvPr id="23" name="Text 15"/>
          <p:cNvSpPr txBox="1"/>
          <p:nvPr/>
        </p:nvSpPr>
        <p:spPr>
          <a:xfrm>
            <a:off x="649224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Tautan undangan, WhatsApp, kode QR, atau flyer 9:16, 1:1, atau 16:9 dalam PNG atau JPG.</a:t>
            </a:r>
            <a:endParaRPr lang="en-US" sz="1350" dirty="0"/>
          </a:p>
        </p:txBody>
      </p:sp>
      <p:pic>
        <p:nvPicPr>
          <p:cNvPr id="24" name="Image 6" descr="preencoded.png">    </p:cNvPr>
          <p:cNvPicPr>
            <a:picLocks noChangeAspect="1"/>
          </p:cNvPicPr>
          <p:nvPr/>
        </p:nvPicPr>
        <p:blipFill>
          <a:blip r:embed="rId7"/>
          <a:stretch>
            <a:fillRect/>
          </a:stretch>
        </p:blipFill>
        <p:spPr>
          <a:xfrm>
            <a:off x="8769096" y="3214116"/>
            <a:ext cx="201168" cy="201168"/>
          </a:xfrm>
          <a:prstGeom prst="rect">
            <a:avLst/>
          </a:prstGeom>
        </p:spPr>
      </p:pic>
      <p:sp>
        <p:nvSpPr>
          <p:cNvPr id="25" name="Shape 16"/>
          <p:cNvSpPr/>
          <p:nvPr/>
        </p:nvSpPr>
        <p:spPr>
          <a:xfrm>
            <a:off x="9006840" y="1828800"/>
            <a:ext cx="2514600" cy="2971800"/>
          </a:xfrm>
          <a:prstGeom prst="roundRect">
            <a:avLst>
              <a:gd name="adj" fmla="val 7273"/>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17"/>
          <p:cNvSpPr/>
          <p:nvPr/>
        </p:nvSpPr>
        <p:spPr>
          <a:xfrm>
            <a:off x="9281160" y="2103120"/>
            <a:ext cx="658368" cy="658368"/>
          </a:xfrm>
          <a:prstGeom prst="roundRect">
            <a:avLst>
              <a:gd name="adj" fmla="val 27000"/>
            </a:avLst>
          </a:prstGeom>
          <a:solidFill>
            <a:srgbClr val="F97316"/>
          </a:solidFill>
          <a:ln/>
        </p:spPr>
      </p:sp>
      <p:pic>
        <p:nvPicPr>
          <p:cNvPr id="27" name="Image 7" descr="preencoded.png">    </p:cNvPr>
          <p:cNvPicPr>
            <a:picLocks noChangeAspect="1"/>
          </p:cNvPicPr>
          <p:nvPr/>
        </p:nvPicPr>
        <p:blipFill>
          <a:blip r:embed="rId8"/>
          <a:stretch>
            <a:fillRect/>
          </a:stretch>
        </p:blipFill>
        <p:spPr>
          <a:xfrm>
            <a:off x="9439168" y="2261128"/>
            <a:ext cx="342351" cy="342351"/>
          </a:xfrm>
          <a:prstGeom prst="rect">
            <a:avLst/>
          </a:prstGeom>
        </p:spPr>
      </p:pic>
      <p:sp>
        <p:nvSpPr>
          <p:cNvPr id="28" name="Text 18"/>
          <p:cNvSpPr txBox="1"/>
          <p:nvPr/>
        </p:nvSpPr>
        <p:spPr>
          <a:xfrm>
            <a:off x="10104120" y="2103120"/>
            <a:ext cx="1234440" cy="658368"/>
          </a:xfrm>
          <a:prstGeom prst="rect">
            <a:avLst/>
          </a:prstGeom>
          <a:noFill/>
          <a:ln/>
        </p:spPr>
        <p:txBody>
          <a:bodyPr wrap="square" lIns="0" tIns="0" rIns="0" bIns="0" rtlCol="0" anchor="ctr"/>
          <a:lstStyle/>
          <a:p>
            <a:pPr indent="0" marL="0">
              <a:buNone/>
            </a:pPr>
            <a:r>
              <a:rPr lang="en-US" sz="1900" b="1" dirty="0">
                <a:solidFill>
                  <a:srgbClr val="292524"/>
                </a:solidFill>
                <a:latin typeface="Arial" pitchFamily="34" charset="0"/>
                <a:ea typeface="Arial" pitchFamily="34" charset="-122"/>
                <a:cs typeface="Arial" pitchFamily="34" charset="-120"/>
              </a:rPr>
              <a:t>Kelola</a:t>
            </a:r>
            <a:endParaRPr lang="en-US" sz="1900" dirty="0"/>
          </a:p>
        </p:txBody>
      </p:sp>
      <p:sp>
        <p:nvSpPr>
          <p:cNvPr id="29" name="Text 19"/>
          <p:cNvSpPr txBox="1"/>
          <p:nvPr/>
        </p:nvSpPr>
        <p:spPr>
          <a:xfrm>
            <a:off x="9281160" y="2971800"/>
            <a:ext cx="1965960" cy="1737360"/>
          </a:xfrm>
          <a:prstGeom prst="rect">
            <a:avLst/>
          </a:prstGeom>
          <a:noFill/>
          <a:ln/>
        </p:spPr>
        <p:txBody>
          <a:bodyPr wrap="square" lIns="0" tIns="0" rIns="0" bIns="0" rtlCol="0" anchor="t"/>
          <a:lstStyle/>
          <a:p>
            <a:pPr indent="0" marL="0">
              <a:buNone/>
            </a:pPr>
            <a:r>
              <a:rPr lang="en-US" sz="1350" dirty="0">
                <a:solidFill>
                  <a:srgbClr val="78716C"/>
                </a:solidFill>
                <a:latin typeface="Arial" pitchFamily="34" charset="0"/>
                <a:ea typeface="Arial" pitchFamily="34" charset="-122"/>
                <a:cs typeface="Arial" pitchFamily="34" charset="-120"/>
              </a:rPr>
              <a:t>Setujui atau tolak permintaan, jawab komentar, ubah detail, atau batalkan.</a:t>
            </a:r>
            <a:endParaRPr lang="en-US" sz="1350" dirty="0"/>
          </a:p>
        </p:txBody>
      </p:sp>
      <p:sp>
        <p:nvSpPr>
          <p:cNvPr id="30" name="Text 20"/>
          <p:cNvSpPr txBox="1"/>
          <p:nvPr/>
        </p:nvSpPr>
        <p:spPr>
          <a:xfrm>
            <a:off x="640080" y="5029200"/>
            <a:ext cx="8229600" cy="320040"/>
          </a:xfrm>
          <a:prstGeom prst="rect">
            <a:avLst/>
          </a:prstGeom>
          <a:noFill/>
          <a:ln/>
        </p:spPr>
        <p:txBody>
          <a:bodyPr wrap="square" lIns="0" tIns="0" rIns="0" bIns="0" rtlCol="0" anchor="ctr"/>
          <a:lstStyle/>
          <a:p>
            <a:pPr indent="0" marL="0">
              <a:buNone/>
            </a:pPr>
            <a:r>
              <a:rPr lang="en-US" sz="1300" b="1" dirty="0">
                <a:solidFill>
                  <a:srgbClr val="44403C"/>
                </a:solidFill>
                <a:latin typeface="Arial" pitchFamily="34" charset="0"/>
                <a:ea typeface="Arial" pitchFamily="34" charset="-122"/>
                <a:cs typeface="Arial" pitchFamily="34" charset="-120"/>
              </a:rPr>
              <a:t>Status berubah sendiri seiring peserta bergabung dan waktu berjalan:</a:t>
            </a:r>
            <a:endParaRPr lang="en-US" sz="1300" dirty="0"/>
          </a:p>
        </p:txBody>
      </p:sp>
      <p:sp>
        <p:nvSpPr>
          <p:cNvPr id="31" name="Shape 21"/>
          <p:cNvSpPr/>
          <p:nvPr/>
        </p:nvSpPr>
        <p:spPr>
          <a:xfrm>
            <a:off x="640080" y="5440680"/>
            <a:ext cx="1051560" cy="411480"/>
          </a:xfrm>
          <a:prstGeom prst="roundRect">
            <a:avLst>
              <a:gd name="adj" fmla="val 50000"/>
            </a:avLst>
          </a:prstGeom>
          <a:solidFill>
            <a:srgbClr val="FFFFFF"/>
          </a:solidFill>
          <a:ln/>
        </p:spPr>
      </p:sp>
      <p:sp>
        <p:nvSpPr>
          <p:cNvPr id="32" name="Shape 22"/>
          <p:cNvSpPr/>
          <p:nvPr/>
        </p:nvSpPr>
        <p:spPr>
          <a:xfrm>
            <a:off x="795528" y="5582412"/>
            <a:ext cx="128016" cy="128016"/>
          </a:xfrm>
          <a:prstGeom prst="ellipse">
            <a:avLst/>
          </a:prstGeom>
          <a:solidFill>
            <a:srgbClr val="16A34A"/>
          </a:solidFill>
          <a:ln/>
        </p:spPr>
      </p:sp>
      <p:sp>
        <p:nvSpPr>
          <p:cNvPr id="33" name="Text 23"/>
          <p:cNvSpPr txBox="1"/>
          <p:nvPr/>
        </p:nvSpPr>
        <p:spPr>
          <a:xfrm>
            <a:off x="987552" y="5440680"/>
            <a:ext cx="64008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Dibuka</a:t>
            </a:r>
            <a:endParaRPr lang="en-US" sz="1250" dirty="0"/>
          </a:p>
        </p:txBody>
      </p:sp>
      <p:pic>
        <p:nvPicPr>
          <p:cNvPr id="34" name="Image 8" descr="preencoded.png">    </p:cNvPr>
          <p:cNvPicPr>
            <a:picLocks noChangeAspect="1"/>
          </p:cNvPicPr>
          <p:nvPr/>
        </p:nvPicPr>
        <p:blipFill>
          <a:blip r:embed="rId9"/>
          <a:stretch>
            <a:fillRect/>
          </a:stretch>
        </p:blipFill>
        <p:spPr>
          <a:xfrm>
            <a:off x="1783080" y="5550408"/>
            <a:ext cx="182880" cy="182880"/>
          </a:xfrm>
          <a:prstGeom prst="rect">
            <a:avLst/>
          </a:prstGeom>
        </p:spPr>
      </p:pic>
      <p:sp>
        <p:nvSpPr>
          <p:cNvPr id="35" name="Shape 24"/>
          <p:cNvSpPr/>
          <p:nvPr/>
        </p:nvSpPr>
        <p:spPr>
          <a:xfrm>
            <a:off x="2075688" y="5440680"/>
            <a:ext cx="1600200" cy="411480"/>
          </a:xfrm>
          <a:prstGeom prst="roundRect">
            <a:avLst>
              <a:gd name="adj" fmla="val 50000"/>
            </a:avLst>
          </a:prstGeom>
          <a:solidFill>
            <a:srgbClr val="FFFFFF"/>
          </a:solidFill>
          <a:ln/>
        </p:spPr>
      </p:sp>
      <p:sp>
        <p:nvSpPr>
          <p:cNvPr id="36" name="Shape 25"/>
          <p:cNvSpPr/>
          <p:nvPr/>
        </p:nvSpPr>
        <p:spPr>
          <a:xfrm>
            <a:off x="2231136" y="5582412"/>
            <a:ext cx="128016" cy="128016"/>
          </a:xfrm>
          <a:prstGeom prst="ellipse">
            <a:avLst/>
          </a:prstGeom>
          <a:solidFill>
            <a:srgbClr val="F97316"/>
          </a:solidFill>
          <a:ln/>
        </p:spPr>
      </p:sp>
      <p:sp>
        <p:nvSpPr>
          <p:cNvPr id="37" name="Text 26"/>
          <p:cNvSpPr txBox="1"/>
          <p:nvPr/>
        </p:nvSpPr>
        <p:spPr>
          <a:xfrm>
            <a:off x="2423160" y="5440680"/>
            <a:ext cx="118872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Hampir penuh</a:t>
            </a:r>
            <a:endParaRPr lang="en-US" sz="1250" dirty="0"/>
          </a:p>
        </p:txBody>
      </p:sp>
      <p:pic>
        <p:nvPicPr>
          <p:cNvPr id="38" name="Image 9" descr="preencoded.png">    </p:cNvPr>
          <p:cNvPicPr>
            <a:picLocks noChangeAspect="1"/>
          </p:cNvPicPr>
          <p:nvPr/>
        </p:nvPicPr>
        <p:blipFill>
          <a:blip r:embed="rId10"/>
          <a:stretch>
            <a:fillRect/>
          </a:stretch>
        </p:blipFill>
        <p:spPr>
          <a:xfrm>
            <a:off x="3767328" y="5550408"/>
            <a:ext cx="182880" cy="182880"/>
          </a:xfrm>
          <a:prstGeom prst="rect">
            <a:avLst/>
          </a:prstGeom>
        </p:spPr>
      </p:pic>
      <p:sp>
        <p:nvSpPr>
          <p:cNvPr id="39" name="Shape 27"/>
          <p:cNvSpPr/>
          <p:nvPr/>
        </p:nvSpPr>
        <p:spPr>
          <a:xfrm>
            <a:off x="4059936" y="5440680"/>
            <a:ext cx="960120" cy="411480"/>
          </a:xfrm>
          <a:prstGeom prst="roundRect">
            <a:avLst>
              <a:gd name="adj" fmla="val 50000"/>
            </a:avLst>
          </a:prstGeom>
          <a:solidFill>
            <a:srgbClr val="FFFFFF"/>
          </a:solidFill>
          <a:ln/>
        </p:spPr>
      </p:sp>
      <p:sp>
        <p:nvSpPr>
          <p:cNvPr id="40" name="Shape 28"/>
          <p:cNvSpPr/>
          <p:nvPr/>
        </p:nvSpPr>
        <p:spPr>
          <a:xfrm>
            <a:off x="4215384" y="5582412"/>
            <a:ext cx="128016" cy="128016"/>
          </a:xfrm>
          <a:prstGeom prst="ellipse">
            <a:avLst/>
          </a:prstGeom>
          <a:solidFill>
            <a:srgbClr val="C2410C"/>
          </a:solidFill>
          <a:ln/>
        </p:spPr>
      </p:sp>
      <p:sp>
        <p:nvSpPr>
          <p:cNvPr id="41" name="Text 29"/>
          <p:cNvSpPr txBox="1"/>
          <p:nvPr/>
        </p:nvSpPr>
        <p:spPr>
          <a:xfrm>
            <a:off x="4407408" y="5440680"/>
            <a:ext cx="54864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Penuh</a:t>
            </a:r>
            <a:endParaRPr lang="en-US" sz="1250" dirty="0"/>
          </a:p>
        </p:txBody>
      </p:sp>
      <p:pic>
        <p:nvPicPr>
          <p:cNvPr id="42" name="Image 10" descr="preencoded.png">    </p:cNvPr>
          <p:cNvPicPr>
            <a:picLocks noChangeAspect="1"/>
          </p:cNvPicPr>
          <p:nvPr/>
        </p:nvPicPr>
        <p:blipFill>
          <a:blip r:embed="rId11"/>
          <a:stretch>
            <a:fillRect/>
          </a:stretch>
        </p:blipFill>
        <p:spPr>
          <a:xfrm>
            <a:off x="5111496" y="5550408"/>
            <a:ext cx="182880" cy="182880"/>
          </a:xfrm>
          <a:prstGeom prst="rect">
            <a:avLst/>
          </a:prstGeom>
        </p:spPr>
      </p:pic>
      <p:sp>
        <p:nvSpPr>
          <p:cNvPr id="43" name="Shape 30"/>
          <p:cNvSpPr/>
          <p:nvPr/>
        </p:nvSpPr>
        <p:spPr>
          <a:xfrm>
            <a:off x="5404104" y="5440680"/>
            <a:ext cx="1508760" cy="411480"/>
          </a:xfrm>
          <a:prstGeom prst="roundRect">
            <a:avLst>
              <a:gd name="adj" fmla="val 50000"/>
            </a:avLst>
          </a:prstGeom>
          <a:solidFill>
            <a:srgbClr val="FFFFFF"/>
          </a:solidFill>
          <a:ln/>
        </p:spPr>
      </p:sp>
      <p:sp>
        <p:nvSpPr>
          <p:cNvPr id="44" name="Shape 31"/>
          <p:cNvSpPr/>
          <p:nvPr/>
        </p:nvSpPr>
        <p:spPr>
          <a:xfrm>
            <a:off x="5559552" y="5582412"/>
            <a:ext cx="128016" cy="128016"/>
          </a:xfrm>
          <a:prstGeom prst="ellipse">
            <a:avLst/>
          </a:prstGeom>
          <a:solidFill>
            <a:srgbClr val="2563EB"/>
          </a:solidFill>
          <a:ln/>
        </p:spPr>
      </p:sp>
      <p:sp>
        <p:nvSpPr>
          <p:cNvPr id="45" name="Text 32"/>
          <p:cNvSpPr txBox="1"/>
          <p:nvPr/>
        </p:nvSpPr>
        <p:spPr>
          <a:xfrm>
            <a:off x="5751576" y="5440680"/>
            <a:ext cx="109728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Berlangsung</a:t>
            </a:r>
            <a:endParaRPr lang="en-US" sz="1250" dirty="0"/>
          </a:p>
        </p:txBody>
      </p:sp>
      <p:pic>
        <p:nvPicPr>
          <p:cNvPr id="46" name="Image 11" descr="preencoded.png">    </p:cNvPr>
          <p:cNvPicPr>
            <a:picLocks noChangeAspect="1"/>
          </p:cNvPicPr>
          <p:nvPr/>
        </p:nvPicPr>
        <p:blipFill>
          <a:blip r:embed="rId12"/>
          <a:stretch>
            <a:fillRect/>
          </a:stretch>
        </p:blipFill>
        <p:spPr>
          <a:xfrm>
            <a:off x="7004304" y="5550408"/>
            <a:ext cx="182880" cy="182880"/>
          </a:xfrm>
          <a:prstGeom prst="rect">
            <a:avLst/>
          </a:prstGeom>
        </p:spPr>
      </p:pic>
      <p:sp>
        <p:nvSpPr>
          <p:cNvPr id="47" name="Shape 33"/>
          <p:cNvSpPr/>
          <p:nvPr/>
        </p:nvSpPr>
        <p:spPr>
          <a:xfrm>
            <a:off x="7296912" y="5440680"/>
            <a:ext cx="1143000" cy="411480"/>
          </a:xfrm>
          <a:prstGeom prst="roundRect">
            <a:avLst>
              <a:gd name="adj" fmla="val 50000"/>
            </a:avLst>
          </a:prstGeom>
          <a:solidFill>
            <a:srgbClr val="FFFFFF"/>
          </a:solidFill>
          <a:ln/>
        </p:spPr>
      </p:sp>
      <p:sp>
        <p:nvSpPr>
          <p:cNvPr id="48" name="Shape 34"/>
          <p:cNvSpPr/>
          <p:nvPr/>
        </p:nvSpPr>
        <p:spPr>
          <a:xfrm>
            <a:off x="7452360" y="5582412"/>
            <a:ext cx="128016" cy="128016"/>
          </a:xfrm>
          <a:prstGeom prst="ellipse">
            <a:avLst/>
          </a:prstGeom>
          <a:solidFill>
            <a:srgbClr val="78716C"/>
          </a:solidFill>
          <a:ln/>
        </p:spPr>
      </p:sp>
      <p:sp>
        <p:nvSpPr>
          <p:cNvPr id="49" name="Text 35"/>
          <p:cNvSpPr txBox="1"/>
          <p:nvPr/>
        </p:nvSpPr>
        <p:spPr>
          <a:xfrm>
            <a:off x="7644384" y="5440680"/>
            <a:ext cx="731520" cy="41148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Selesai</a:t>
            </a:r>
            <a:endParaRPr lang="en-US" sz="1250" dirty="0"/>
          </a:p>
        </p:txBody>
      </p:sp>
      <p:sp>
        <p:nvSpPr>
          <p:cNvPr id="50" name="Text 36"/>
          <p:cNvSpPr txBox="1"/>
          <p:nvPr/>
        </p:nvSpPr>
        <p:spPr>
          <a:xfrm>
            <a:off x="8641080" y="5440680"/>
            <a:ext cx="1828800" cy="41148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(atau Dibatalkan)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SEMUA FITUR APLIKASI</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Peta fitur</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11 / 24</a:t>
            </a:r>
            <a:endParaRPr lang="en-US" sz="1100" dirty="0"/>
          </a:p>
        </p:txBody>
      </p:sp>
      <p:sp>
        <p:nvSpPr>
          <p:cNvPr id="7" name="Shape 4"/>
          <p:cNvSpPr/>
          <p:nvPr/>
        </p:nvSpPr>
        <p:spPr>
          <a:xfrm>
            <a:off x="64008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39112"/>
            <a:ext cx="658368" cy="658368"/>
          </a:xfrm>
          <a:prstGeom prst="roundRect">
            <a:avLst>
              <a:gd name="adj" fmla="val 27000"/>
            </a:avLst>
          </a:prstGeom>
          <a:solidFill>
            <a:srgbClr val="F8E8D0"/>
          </a:solidFill>
          <a:ln/>
        </p:spPr>
      </p:sp>
      <p:pic>
        <p:nvPicPr>
          <p:cNvPr id="9" name="Image 1" descr="preencoded.png">    </p:cNvPr>
          <p:cNvPicPr>
            <a:picLocks noChangeAspect="1"/>
          </p:cNvPicPr>
          <p:nvPr/>
        </p:nvPicPr>
        <p:blipFill>
          <a:blip r:embed="rId2"/>
          <a:stretch>
            <a:fillRect/>
          </a:stretch>
        </p:blipFill>
        <p:spPr>
          <a:xfrm>
            <a:off x="1026688" y="2197120"/>
            <a:ext cx="342351" cy="342351"/>
          </a:xfrm>
          <a:prstGeom prst="rect">
            <a:avLst/>
          </a:prstGeom>
        </p:spPr>
      </p:pic>
      <p:sp>
        <p:nvSpPr>
          <p:cNvPr id="10" name="Text 6"/>
          <p:cNvSpPr txBox="1"/>
          <p:nvPr/>
        </p:nvSpPr>
        <p:spPr>
          <a:xfrm>
            <a:off x="169164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Dasbor terdekat</a:t>
            </a:r>
            <a:endParaRPr lang="en-US" sz="1600" dirty="0"/>
          </a:p>
        </p:txBody>
      </p:sp>
      <p:sp>
        <p:nvSpPr>
          <p:cNvPr id="11" name="Text 7"/>
          <p:cNvSpPr txBox="1"/>
          <p:nvPr/>
        </p:nvSpPr>
        <p:spPr>
          <a:xfrm>
            <a:off x="169164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Aktivitas dalam 20 km, sesuai hobimu</a:t>
            </a:r>
            <a:endParaRPr lang="en-US" sz="1250" dirty="0"/>
          </a:p>
        </p:txBody>
      </p:sp>
      <p:sp>
        <p:nvSpPr>
          <p:cNvPr id="12" name="Shape 8"/>
          <p:cNvSpPr/>
          <p:nvPr/>
        </p:nvSpPr>
        <p:spPr>
          <a:xfrm>
            <a:off x="432054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4549140" y="2039112"/>
            <a:ext cx="658368" cy="658368"/>
          </a:xfrm>
          <a:prstGeom prst="roundRect">
            <a:avLst>
              <a:gd name="adj" fmla="val 27000"/>
            </a:avLst>
          </a:prstGeom>
          <a:solidFill>
            <a:srgbClr val="F8E8D0"/>
          </a:solidFill>
          <a:ln/>
        </p:spPr>
      </p:sp>
      <p:pic>
        <p:nvPicPr>
          <p:cNvPr id="14" name="Image 2" descr="preencoded.png">    </p:cNvPr>
          <p:cNvPicPr>
            <a:picLocks noChangeAspect="1"/>
          </p:cNvPicPr>
          <p:nvPr/>
        </p:nvPicPr>
        <p:blipFill>
          <a:blip r:embed="rId3"/>
          <a:stretch>
            <a:fillRect/>
          </a:stretch>
        </p:blipFill>
        <p:spPr>
          <a:xfrm>
            <a:off x="4707148" y="2197120"/>
            <a:ext cx="342351" cy="342351"/>
          </a:xfrm>
          <a:prstGeom prst="rect">
            <a:avLst/>
          </a:prstGeom>
        </p:spPr>
      </p:pic>
      <p:sp>
        <p:nvSpPr>
          <p:cNvPr id="15" name="Text 10"/>
          <p:cNvSpPr txBox="1"/>
          <p:nvPr/>
        </p:nvSpPr>
        <p:spPr>
          <a:xfrm>
            <a:off x="537210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Jelajahi &amp; cari</a:t>
            </a:r>
            <a:endParaRPr lang="en-US" sz="1600" dirty="0"/>
          </a:p>
        </p:txBody>
      </p:sp>
      <p:sp>
        <p:nvSpPr>
          <p:cNvPr id="16" name="Text 11"/>
          <p:cNvSpPr txBox="1"/>
          <p:nvPr/>
        </p:nvSpPr>
        <p:spPr>
          <a:xfrm>
            <a:off x="537210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Jarak berapa pun; cari nama, tempat, atau kode</a:t>
            </a:r>
            <a:endParaRPr lang="en-US" sz="1250" dirty="0"/>
          </a:p>
        </p:txBody>
      </p:sp>
      <p:sp>
        <p:nvSpPr>
          <p:cNvPr id="17" name="Shape 12"/>
          <p:cNvSpPr/>
          <p:nvPr/>
        </p:nvSpPr>
        <p:spPr>
          <a:xfrm>
            <a:off x="8001000" y="17830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229600" y="2039112"/>
            <a:ext cx="658368" cy="658368"/>
          </a:xfrm>
          <a:prstGeom prst="roundRect">
            <a:avLst>
              <a:gd name="adj" fmla="val 27000"/>
            </a:avLst>
          </a:prstGeom>
          <a:solidFill>
            <a:srgbClr val="F8E8D0"/>
          </a:solidFill>
          <a:ln/>
        </p:spPr>
      </p:sp>
      <p:pic>
        <p:nvPicPr>
          <p:cNvPr id="19" name="Image 3" descr="preencoded.png">    </p:cNvPr>
          <p:cNvPicPr>
            <a:picLocks noChangeAspect="1"/>
          </p:cNvPicPr>
          <p:nvPr/>
        </p:nvPicPr>
        <p:blipFill>
          <a:blip r:embed="rId4"/>
          <a:stretch>
            <a:fillRect/>
          </a:stretch>
        </p:blipFill>
        <p:spPr>
          <a:xfrm>
            <a:off x="8387608" y="2197120"/>
            <a:ext cx="342351" cy="342351"/>
          </a:xfrm>
          <a:prstGeom prst="rect">
            <a:avLst/>
          </a:prstGeom>
        </p:spPr>
      </p:pic>
      <p:sp>
        <p:nvSpPr>
          <p:cNvPr id="20" name="Text 14"/>
          <p:cNvSpPr txBox="1"/>
          <p:nvPr/>
        </p:nvSpPr>
        <p:spPr>
          <a:xfrm>
            <a:off x="9052560" y="19842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Aktivitas saya</a:t>
            </a:r>
            <a:endParaRPr lang="en-US" sz="1600" dirty="0"/>
          </a:p>
        </p:txBody>
      </p:sp>
      <p:sp>
        <p:nvSpPr>
          <p:cNvPr id="21" name="Text 15"/>
          <p:cNvSpPr txBox="1"/>
          <p:nvPr/>
        </p:nvSpPr>
        <p:spPr>
          <a:xfrm>
            <a:off x="9052560" y="23317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Yang kamu selenggarakan dan ikuti, dengan check-in dan penilaian</a:t>
            </a:r>
            <a:endParaRPr lang="en-US" sz="1250" dirty="0"/>
          </a:p>
        </p:txBody>
      </p:sp>
      <p:sp>
        <p:nvSpPr>
          <p:cNvPr id="22" name="Shape 16"/>
          <p:cNvSpPr/>
          <p:nvPr/>
        </p:nvSpPr>
        <p:spPr>
          <a:xfrm>
            <a:off x="64008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868680" y="3410712"/>
            <a:ext cx="658368" cy="658368"/>
          </a:xfrm>
          <a:prstGeom prst="roundRect">
            <a:avLst>
              <a:gd name="adj" fmla="val 27000"/>
            </a:avLst>
          </a:prstGeom>
          <a:solidFill>
            <a:srgbClr val="F8E8D0"/>
          </a:solidFill>
          <a:ln/>
        </p:spPr>
      </p:sp>
      <p:pic>
        <p:nvPicPr>
          <p:cNvPr id="24" name="Image 4" descr="preencoded.png">    </p:cNvPr>
          <p:cNvPicPr>
            <a:picLocks noChangeAspect="1"/>
          </p:cNvPicPr>
          <p:nvPr/>
        </p:nvPicPr>
        <p:blipFill>
          <a:blip r:embed="rId5"/>
          <a:stretch>
            <a:fillRect/>
          </a:stretch>
        </p:blipFill>
        <p:spPr>
          <a:xfrm>
            <a:off x="1026688" y="3568720"/>
            <a:ext cx="342351" cy="342351"/>
          </a:xfrm>
          <a:prstGeom prst="rect">
            <a:avLst/>
          </a:prstGeom>
        </p:spPr>
      </p:pic>
      <p:sp>
        <p:nvSpPr>
          <p:cNvPr id="25" name="Text 18"/>
          <p:cNvSpPr txBox="1"/>
          <p:nvPr/>
        </p:nvSpPr>
        <p:spPr>
          <a:xfrm>
            <a:off x="169164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Bagikan &amp; undang</a:t>
            </a:r>
            <a:endParaRPr lang="en-US" sz="1600" dirty="0"/>
          </a:p>
        </p:txBody>
      </p:sp>
      <p:sp>
        <p:nvSpPr>
          <p:cNvPr id="26" name="Text 19"/>
          <p:cNvSpPr txBox="1"/>
          <p:nvPr/>
        </p:nvSpPr>
        <p:spPr>
          <a:xfrm>
            <a:off x="169164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Tautan, WhatsApp, kode QR, dan pembuat flyer</a:t>
            </a:r>
            <a:endParaRPr lang="en-US" sz="1250" dirty="0"/>
          </a:p>
        </p:txBody>
      </p:sp>
      <p:sp>
        <p:nvSpPr>
          <p:cNvPr id="27" name="Shape 20"/>
          <p:cNvSpPr/>
          <p:nvPr/>
        </p:nvSpPr>
        <p:spPr>
          <a:xfrm>
            <a:off x="432054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4549140" y="3410712"/>
            <a:ext cx="658368" cy="658368"/>
          </a:xfrm>
          <a:prstGeom prst="roundRect">
            <a:avLst>
              <a:gd name="adj" fmla="val 27000"/>
            </a:avLst>
          </a:prstGeom>
          <a:solidFill>
            <a:srgbClr val="F8E8D0"/>
          </a:solidFill>
          <a:ln/>
        </p:spPr>
      </p:sp>
      <p:pic>
        <p:nvPicPr>
          <p:cNvPr id="29" name="Image 5" descr="preencoded.png">    </p:cNvPr>
          <p:cNvPicPr>
            <a:picLocks noChangeAspect="1"/>
          </p:cNvPicPr>
          <p:nvPr/>
        </p:nvPicPr>
        <p:blipFill>
          <a:blip r:embed="rId6"/>
          <a:stretch>
            <a:fillRect/>
          </a:stretch>
        </p:blipFill>
        <p:spPr>
          <a:xfrm>
            <a:off x="4707148" y="3568720"/>
            <a:ext cx="342351" cy="342351"/>
          </a:xfrm>
          <a:prstGeom prst="rect">
            <a:avLst/>
          </a:prstGeom>
        </p:spPr>
      </p:pic>
      <p:sp>
        <p:nvSpPr>
          <p:cNvPr id="30" name="Text 22"/>
          <p:cNvSpPr txBox="1"/>
          <p:nvPr/>
        </p:nvSpPr>
        <p:spPr>
          <a:xfrm>
            <a:off x="537210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Komentar</a:t>
            </a:r>
            <a:endParaRPr lang="en-US" sz="1600" dirty="0"/>
          </a:p>
        </p:txBody>
      </p:sp>
      <p:sp>
        <p:nvSpPr>
          <p:cNvPr id="31" name="Text 23"/>
          <p:cNvSpPr txBox="1"/>
          <p:nvPr/>
        </p:nvSpPr>
        <p:spPr>
          <a:xfrm>
            <a:off x="537210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Tanya jawab di tiap aktivitas, bisa dilaporkan</a:t>
            </a:r>
            <a:endParaRPr lang="en-US" sz="1250" dirty="0"/>
          </a:p>
        </p:txBody>
      </p:sp>
      <p:sp>
        <p:nvSpPr>
          <p:cNvPr id="32" name="Shape 24"/>
          <p:cNvSpPr/>
          <p:nvPr/>
        </p:nvSpPr>
        <p:spPr>
          <a:xfrm>
            <a:off x="8001000" y="31546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3" name="Shape 25"/>
          <p:cNvSpPr/>
          <p:nvPr/>
        </p:nvSpPr>
        <p:spPr>
          <a:xfrm>
            <a:off x="8229600" y="3410712"/>
            <a:ext cx="658368" cy="658368"/>
          </a:xfrm>
          <a:prstGeom prst="roundRect">
            <a:avLst>
              <a:gd name="adj" fmla="val 27000"/>
            </a:avLst>
          </a:prstGeom>
          <a:solidFill>
            <a:srgbClr val="F8E8D0"/>
          </a:solidFill>
          <a:ln/>
        </p:spPr>
      </p:sp>
      <p:pic>
        <p:nvPicPr>
          <p:cNvPr id="34" name="Image 6" descr="preencoded.png">    </p:cNvPr>
          <p:cNvPicPr>
            <a:picLocks noChangeAspect="1"/>
          </p:cNvPicPr>
          <p:nvPr/>
        </p:nvPicPr>
        <p:blipFill>
          <a:blip r:embed="rId7"/>
          <a:stretch>
            <a:fillRect/>
          </a:stretch>
        </p:blipFill>
        <p:spPr>
          <a:xfrm>
            <a:off x="8387608" y="3568720"/>
            <a:ext cx="342351" cy="342351"/>
          </a:xfrm>
          <a:prstGeom prst="rect">
            <a:avLst/>
          </a:prstGeom>
        </p:spPr>
      </p:pic>
      <p:sp>
        <p:nvSpPr>
          <p:cNvPr id="35" name="Text 26"/>
          <p:cNvSpPr txBox="1"/>
          <p:nvPr/>
        </p:nvSpPr>
        <p:spPr>
          <a:xfrm>
            <a:off x="9052560" y="33558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Pesan pribadi</a:t>
            </a:r>
            <a:endParaRPr lang="en-US" sz="1600" dirty="0"/>
          </a:p>
        </p:txBody>
      </p:sp>
      <p:sp>
        <p:nvSpPr>
          <p:cNvPr id="36" name="Text 27"/>
          <p:cNvSpPr txBox="1"/>
          <p:nvPr/>
        </p:nvSpPr>
        <p:spPr>
          <a:xfrm>
            <a:off x="9052560" y="37033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Chat 1:1 langsung, bisukan, arsipkan, blokir</a:t>
            </a:r>
            <a:endParaRPr lang="en-US" sz="1250" dirty="0"/>
          </a:p>
        </p:txBody>
      </p:sp>
      <p:sp>
        <p:nvSpPr>
          <p:cNvPr id="37" name="Shape 28"/>
          <p:cNvSpPr/>
          <p:nvPr/>
        </p:nvSpPr>
        <p:spPr>
          <a:xfrm>
            <a:off x="64008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8" name="Shape 29"/>
          <p:cNvSpPr/>
          <p:nvPr/>
        </p:nvSpPr>
        <p:spPr>
          <a:xfrm>
            <a:off x="868680" y="4782312"/>
            <a:ext cx="658368" cy="658368"/>
          </a:xfrm>
          <a:prstGeom prst="roundRect">
            <a:avLst>
              <a:gd name="adj" fmla="val 27000"/>
            </a:avLst>
          </a:prstGeom>
          <a:solidFill>
            <a:srgbClr val="F8E8D0"/>
          </a:solidFill>
          <a:ln/>
        </p:spPr>
      </p:sp>
      <p:pic>
        <p:nvPicPr>
          <p:cNvPr id="39" name="Image 7" descr="preencoded.png">    </p:cNvPr>
          <p:cNvPicPr>
            <a:picLocks noChangeAspect="1"/>
          </p:cNvPicPr>
          <p:nvPr/>
        </p:nvPicPr>
        <p:blipFill>
          <a:blip r:embed="rId8"/>
          <a:stretch>
            <a:fillRect/>
          </a:stretch>
        </p:blipFill>
        <p:spPr>
          <a:xfrm>
            <a:off x="1026688" y="4940320"/>
            <a:ext cx="342351" cy="342351"/>
          </a:xfrm>
          <a:prstGeom prst="rect">
            <a:avLst/>
          </a:prstGeom>
        </p:spPr>
      </p:pic>
      <p:sp>
        <p:nvSpPr>
          <p:cNvPr id="40" name="Text 30"/>
          <p:cNvSpPr txBox="1"/>
          <p:nvPr/>
        </p:nvSpPr>
        <p:spPr>
          <a:xfrm>
            <a:off x="169164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Komunitas</a:t>
            </a:r>
            <a:endParaRPr lang="en-US" sz="1600" dirty="0"/>
          </a:p>
        </p:txBody>
      </p:sp>
      <p:sp>
        <p:nvSpPr>
          <p:cNvPr id="41" name="Text 31"/>
          <p:cNvSpPr txBox="1"/>
          <p:nvPr/>
        </p:nvSpPr>
        <p:spPr>
          <a:xfrm>
            <a:off x="169164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Profil, teman, grup, dan teman yang ikut</a:t>
            </a:r>
            <a:endParaRPr lang="en-US" sz="1250" dirty="0"/>
          </a:p>
        </p:txBody>
      </p:sp>
      <p:sp>
        <p:nvSpPr>
          <p:cNvPr id="42" name="Shape 32"/>
          <p:cNvSpPr/>
          <p:nvPr/>
        </p:nvSpPr>
        <p:spPr>
          <a:xfrm>
            <a:off x="432054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43" name="Shape 33"/>
          <p:cNvSpPr/>
          <p:nvPr/>
        </p:nvSpPr>
        <p:spPr>
          <a:xfrm>
            <a:off x="4549140" y="4782312"/>
            <a:ext cx="658368" cy="658368"/>
          </a:xfrm>
          <a:prstGeom prst="roundRect">
            <a:avLst>
              <a:gd name="adj" fmla="val 27000"/>
            </a:avLst>
          </a:prstGeom>
          <a:solidFill>
            <a:srgbClr val="F8E8D0"/>
          </a:solidFill>
          <a:ln/>
        </p:spPr>
      </p:sp>
      <p:pic>
        <p:nvPicPr>
          <p:cNvPr id="44" name="Image 8" descr="preencoded.png">    </p:cNvPr>
          <p:cNvPicPr>
            <a:picLocks noChangeAspect="1"/>
          </p:cNvPicPr>
          <p:nvPr/>
        </p:nvPicPr>
        <p:blipFill>
          <a:blip r:embed="rId9"/>
          <a:stretch>
            <a:fillRect/>
          </a:stretch>
        </p:blipFill>
        <p:spPr>
          <a:xfrm>
            <a:off x="4707148" y="4940320"/>
            <a:ext cx="342351" cy="342351"/>
          </a:xfrm>
          <a:prstGeom prst="rect">
            <a:avLst/>
          </a:prstGeom>
        </p:spPr>
      </p:pic>
      <p:sp>
        <p:nvSpPr>
          <p:cNvPr id="45" name="Text 34"/>
          <p:cNvSpPr txBox="1"/>
          <p:nvPr/>
        </p:nvSpPr>
        <p:spPr>
          <a:xfrm>
            <a:off x="537210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Notifikasi</a:t>
            </a:r>
            <a:endParaRPr lang="en-US" sz="1600" dirty="0"/>
          </a:p>
        </p:txBody>
      </p:sp>
      <p:sp>
        <p:nvSpPr>
          <p:cNvPr id="46" name="Text 35"/>
          <p:cNvSpPr txBox="1"/>
          <p:nvPr/>
        </p:nvSpPr>
        <p:spPr>
          <a:xfrm>
            <a:off x="537210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Pengingat, peringatan, dan persetujuan, via email dan push</a:t>
            </a:r>
            <a:endParaRPr lang="en-US" sz="1250" dirty="0"/>
          </a:p>
        </p:txBody>
      </p:sp>
      <p:sp>
        <p:nvSpPr>
          <p:cNvPr id="47" name="Shape 36"/>
          <p:cNvSpPr/>
          <p:nvPr/>
        </p:nvSpPr>
        <p:spPr>
          <a:xfrm>
            <a:off x="8001000" y="4526280"/>
            <a:ext cx="352044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48" name="Shape 37"/>
          <p:cNvSpPr/>
          <p:nvPr/>
        </p:nvSpPr>
        <p:spPr>
          <a:xfrm>
            <a:off x="8229600" y="4782312"/>
            <a:ext cx="658368" cy="658368"/>
          </a:xfrm>
          <a:prstGeom prst="roundRect">
            <a:avLst>
              <a:gd name="adj" fmla="val 27000"/>
            </a:avLst>
          </a:prstGeom>
          <a:solidFill>
            <a:srgbClr val="F8E8D0"/>
          </a:solidFill>
          <a:ln/>
        </p:spPr>
      </p:sp>
      <p:pic>
        <p:nvPicPr>
          <p:cNvPr id="49" name="Image 9" descr="preencoded.png">    </p:cNvPr>
          <p:cNvPicPr>
            <a:picLocks noChangeAspect="1"/>
          </p:cNvPicPr>
          <p:nvPr/>
        </p:nvPicPr>
        <p:blipFill>
          <a:blip r:embed="rId10"/>
          <a:stretch>
            <a:fillRect/>
          </a:stretch>
        </p:blipFill>
        <p:spPr>
          <a:xfrm>
            <a:off x="8387608" y="4940320"/>
            <a:ext cx="342351" cy="342351"/>
          </a:xfrm>
          <a:prstGeom prst="rect">
            <a:avLst/>
          </a:prstGeom>
        </p:spPr>
      </p:pic>
      <p:sp>
        <p:nvSpPr>
          <p:cNvPr id="50" name="Text 38"/>
          <p:cNvSpPr txBox="1"/>
          <p:nvPr/>
        </p:nvSpPr>
        <p:spPr>
          <a:xfrm>
            <a:off x="9052560" y="4727448"/>
            <a:ext cx="228600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Bantuan</a:t>
            </a:r>
            <a:endParaRPr lang="en-US" sz="1600" dirty="0"/>
          </a:p>
        </p:txBody>
      </p:sp>
      <p:sp>
        <p:nvSpPr>
          <p:cNvPr id="51" name="Text 39"/>
          <p:cNvSpPr txBox="1"/>
          <p:nvPr/>
        </p:nvSpPr>
        <p:spPr>
          <a:xfrm>
            <a:off x="9052560" y="5074920"/>
            <a:ext cx="228600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Tiket keluhan dengan lampiran, dikirim ke admin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03</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Cara dibangun</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Arsitektur, teknologi, dan rilis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ARSITEKTUR</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Tiga lapisan, keamanan ada di database</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13 / 24</a:t>
            </a:r>
            <a:endParaRPr lang="en-US" sz="1100" dirty="0"/>
          </a:p>
        </p:txBody>
      </p:sp>
      <p:sp>
        <p:nvSpPr>
          <p:cNvPr id="7" name="Shape 4"/>
          <p:cNvSpPr/>
          <p:nvPr/>
        </p:nvSpPr>
        <p:spPr>
          <a:xfrm>
            <a:off x="6400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57400"/>
            <a:ext cx="548640" cy="54864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00354" y="2189074"/>
            <a:ext cx="285293" cy="285293"/>
          </a:xfrm>
          <a:prstGeom prst="rect">
            <a:avLst/>
          </a:prstGeom>
        </p:spPr>
      </p:pic>
      <p:sp>
        <p:nvSpPr>
          <p:cNvPr id="10" name="Text 6"/>
          <p:cNvSpPr txBox="1"/>
          <p:nvPr/>
        </p:nvSpPr>
        <p:spPr>
          <a:xfrm>
            <a:off x="15544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Browser</a:t>
            </a:r>
            <a:endParaRPr lang="en-US" sz="1600" dirty="0"/>
          </a:p>
        </p:txBody>
      </p:sp>
      <p:sp>
        <p:nvSpPr>
          <p:cNvPr id="11" name="Text 7"/>
          <p:cNvSpPr txBox="1"/>
          <p:nvPr/>
        </p:nvSpPr>
        <p:spPr>
          <a:xfrm>
            <a:off x="8686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Halaman dan formulir React 19</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GPS dibaca di perangkat</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Peta Leaflet (OpenStreetMap)</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Gambar flyer dan grafik dibuat di sini</a:t>
            </a:r>
            <a:endParaRPr lang="en-US" sz="1250" dirty="0"/>
          </a:p>
        </p:txBody>
      </p:sp>
      <p:sp>
        <p:nvSpPr>
          <p:cNvPr id="12" name="Shape 8"/>
          <p:cNvSpPr/>
          <p:nvPr/>
        </p:nvSpPr>
        <p:spPr>
          <a:xfrm>
            <a:off x="45262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4754880" y="2057400"/>
            <a:ext cx="548640" cy="548640"/>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4886554" y="2189074"/>
            <a:ext cx="285293" cy="285293"/>
          </a:xfrm>
          <a:prstGeom prst="rect">
            <a:avLst/>
          </a:prstGeom>
        </p:spPr>
      </p:pic>
      <p:sp>
        <p:nvSpPr>
          <p:cNvPr id="15" name="Text 10"/>
          <p:cNvSpPr txBox="1"/>
          <p:nvPr/>
        </p:nvSpPr>
        <p:spPr>
          <a:xfrm>
            <a:off x="54406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Vercel · Next.js 16</a:t>
            </a:r>
            <a:endParaRPr lang="en-US" sz="1600" dirty="0"/>
          </a:p>
        </p:txBody>
      </p:sp>
      <p:sp>
        <p:nvSpPr>
          <p:cNvPr id="16" name="Text 11"/>
          <p:cNvSpPr txBox="1"/>
          <p:nvPr/>
        </p:nvSpPr>
        <p:spPr>
          <a:xfrm>
            <a:off x="47548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Halaman dirender di server (App Router)</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5 rute API: masuk PIN, pemulihan PIN, email peringatan</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Cek login di setiap permintaan</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Kunci rahasia hanya di server</a:t>
            </a:r>
            <a:endParaRPr lang="en-US" sz="1250" dirty="0"/>
          </a:p>
        </p:txBody>
      </p:sp>
      <p:sp>
        <p:nvSpPr>
          <p:cNvPr id="17" name="Shape 12"/>
          <p:cNvSpPr/>
          <p:nvPr/>
        </p:nvSpPr>
        <p:spPr>
          <a:xfrm>
            <a:off x="8412480" y="1828800"/>
            <a:ext cx="3108960" cy="2926080"/>
          </a:xfrm>
          <a:prstGeom prst="roundRect">
            <a:avLst>
              <a:gd name="adj" fmla="val 625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641080" y="2057400"/>
            <a:ext cx="548640" cy="548640"/>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8772754" y="2189074"/>
            <a:ext cx="285293" cy="285293"/>
          </a:xfrm>
          <a:prstGeom prst="rect">
            <a:avLst/>
          </a:prstGeom>
        </p:spPr>
      </p:pic>
      <p:sp>
        <p:nvSpPr>
          <p:cNvPr id="20" name="Text 14"/>
          <p:cNvSpPr txBox="1"/>
          <p:nvPr/>
        </p:nvSpPr>
        <p:spPr>
          <a:xfrm>
            <a:off x="9326880" y="2057400"/>
            <a:ext cx="2011680" cy="54864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Supabase</a:t>
            </a:r>
            <a:endParaRPr lang="en-US" sz="1600" dirty="0"/>
          </a:p>
        </p:txBody>
      </p:sp>
      <p:sp>
        <p:nvSpPr>
          <p:cNvPr id="21" name="Text 15"/>
          <p:cNvSpPr txBox="1"/>
          <p:nvPr/>
        </p:nvSpPr>
        <p:spPr>
          <a:xfrm>
            <a:off x="8641080" y="2743200"/>
            <a:ext cx="2697480" cy="18745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Postgres + row-level security</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Auth: akun, sesi, kode email</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Storage: banner, lampiran</a:t>
            </a:r>
            <a:endParaRPr lang="en-US" sz="1250" dirty="0"/>
          </a:p>
          <a:p>
            <a:pPr marL="342900" indent="-342900">
              <a:spcAft>
                <a:spcPts val="400"/>
              </a:spcAft>
              <a:buSzPct val="100000"/>
              <a:buChar char="•"/>
            </a:pPr>
            <a:r>
              <a:rPr lang="en-US" sz="1250" dirty="0">
                <a:solidFill>
                  <a:srgbClr val="44403C"/>
                </a:solidFill>
                <a:latin typeface="Arial" pitchFamily="34" charset="0"/>
                <a:ea typeface="Arial" pitchFamily="34" charset="-122"/>
                <a:cs typeface="Arial" pitchFamily="34" charset="-120"/>
              </a:rPr>
              <a:t>Realtime: pesan langsung</a:t>
            </a:r>
            <a:endParaRPr lang="en-US" sz="1250" dirty="0"/>
          </a:p>
        </p:txBody>
      </p:sp>
      <p:sp>
        <p:nvSpPr>
          <p:cNvPr id="22" name="Shape 16"/>
          <p:cNvSpPr/>
          <p:nvPr/>
        </p:nvSpPr>
        <p:spPr>
          <a:xfrm>
            <a:off x="3794760" y="3291840"/>
            <a:ext cx="685800" cy="0"/>
          </a:xfrm>
          <a:prstGeom prst="line">
            <a:avLst/>
          </a:prstGeom>
          <a:noFill/>
          <a:ln w="25400">
            <a:solidFill>
              <a:srgbClr val="F97316"/>
            </a:solidFill>
            <a:prstDash val="solid"/>
            <a:headEnd type="triangle"/>
            <a:tailEnd type="triangle"/>
          </a:ln>
        </p:spPr>
      </p:sp>
      <p:sp>
        <p:nvSpPr>
          <p:cNvPr id="23" name="Text 17"/>
          <p:cNvSpPr txBox="1"/>
          <p:nvPr/>
        </p:nvSpPr>
        <p:spPr>
          <a:xfrm>
            <a:off x="3611880" y="2944368"/>
            <a:ext cx="1051560" cy="274320"/>
          </a:xfrm>
          <a:prstGeom prst="rect">
            <a:avLst/>
          </a:prstGeom>
          <a:noFill/>
          <a:ln/>
        </p:spPr>
        <p:txBody>
          <a:bodyPr wrap="square" lIns="0" tIns="0" rIns="0" bIns="0" rtlCol="0" anchor="ctr"/>
          <a:lstStyle/>
          <a:p>
            <a:pPr algn="ctr" indent="0" marL="0">
              <a:buNone/>
            </a:pPr>
            <a:r>
              <a:rPr lang="en-US" sz="1050" dirty="0">
                <a:solidFill>
                  <a:srgbClr val="78716C"/>
                </a:solidFill>
                <a:latin typeface="Arial" pitchFamily="34" charset="0"/>
                <a:ea typeface="Arial" pitchFamily="34" charset="-122"/>
                <a:cs typeface="Arial" pitchFamily="34" charset="-120"/>
              </a:rPr>
              <a:t>HTTPS</a:t>
            </a:r>
            <a:endParaRPr lang="en-US" sz="1050" dirty="0"/>
          </a:p>
        </p:txBody>
      </p:sp>
      <p:sp>
        <p:nvSpPr>
          <p:cNvPr id="24" name="Shape 18"/>
          <p:cNvSpPr/>
          <p:nvPr/>
        </p:nvSpPr>
        <p:spPr>
          <a:xfrm>
            <a:off x="7680960" y="3291840"/>
            <a:ext cx="685800" cy="0"/>
          </a:xfrm>
          <a:prstGeom prst="line">
            <a:avLst/>
          </a:prstGeom>
          <a:noFill/>
          <a:ln w="25400">
            <a:solidFill>
              <a:srgbClr val="F97316"/>
            </a:solidFill>
            <a:prstDash val="solid"/>
            <a:headEnd type="triangle"/>
            <a:tailEnd type="triangle"/>
          </a:ln>
        </p:spPr>
      </p:sp>
      <p:sp>
        <p:nvSpPr>
          <p:cNvPr id="25" name="Text 19"/>
          <p:cNvSpPr txBox="1"/>
          <p:nvPr/>
        </p:nvSpPr>
        <p:spPr>
          <a:xfrm>
            <a:off x="7498080" y="2944368"/>
            <a:ext cx="1051560" cy="274320"/>
          </a:xfrm>
          <a:prstGeom prst="rect">
            <a:avLst/>
          </a:prstGeom>
          <a:noFill/>
          <a:ln/>
        </p:spPr>
        <p:txBody>
          <a:bodyPr wrap="square" lIns="0" tIns="0" rIns="0" bIns="0" rtlCol="0" anchor="ctr"/>
          <a:lstStyle/>
          <a:p>
            <a:pPr algn="ctr" indent="0" marL="0">
              <a:buNone/>
            </a:pPr>
            <a:r>
              <a:rPr lang="en-US" sz="1050" dirty="0">
                <a:solidFill>
                  <a:srgbClr val="78716C"/>
                </a:solidFill>
                <a:latin typeface="Arial" pitchFamily="34" charset="0"/>
                <a:ea typeface="Arial" pitchFamily="34" charset="-122"/>
                <a:cs typeface="Arial" pitchFamily="34" charset="-120"/>
              </a:rPr>
              <a:t>SQL · RPC</a:t>
            </a:r>
            <a:endParaRPr lang="en-US" sz="1050" dirty="0"/>
          </a:p>
        </p:txBody>
      </p:sp>
      <p:sp>
        <p:nvSpPr>
          <p:cNvPr id="26" name="Shape 20"/>
          <p:cNvSpPr/>
          <p:nvPr/>
        </p:nvSpPr>
        <p:spPr>
          <a:xfrm>
            <a:off x="640080" y="5074920"/>
            <a:ext cx="3108960" cy="777240"/>
          </a:xfrm>
          <a:prstGeom prst="roundRect">
            <a:avLst>
              <a:gd name="adj" fmla="val 50000"/>
            </a:avLst>
          </a:prstGeom>
          <a:solidFill>
            <a:srgbClr val="FFFFFF"/>
          </a:solidFill>
          <a:ln/>
        </p:spPr>
      </p:sp>
      <p:sp>
        <p:nvSpPr>
          <p:cNvPr id="27" name="Shape 21"/>
          <p:cNvSpPr/>
          <p:nvPr/>
        </p:nvSpPr>
        <p:spPr>
          <a:xfrm>
            <a:off x="777240" y="5175504"/>
            <a:ext cx="576072" cy="576072"/>
          </a:xfrm>
          <a:prstGeom prst="roundRect">
            <a:avLst>
              <a:gd name="adj" fmla="val 27000"/>
            </a:avLst>
          </a:prstGeom>
          <a:solidFill>
            <a:srgbClr val="F8E8D0"/>
          </a:solidFill>
          <a:ln/>
        </p:spPr>
      </p:sp>
      <p:pic>
        <p:nvPicPr>
          <p:cNvPr id="28" name="Image 4" descr="preencoded.png">    </p:cNvPr>
          <p:cNvPicPr>
            <a:picLocks noChangeAspect="1"/>
          </p:cNvPicPr>
          <p:nvPr/>
        </p:nvPicPr>
        <p:blipFill>
          <a:blip r:embed="rId5"/>
          <a:stretch>
            <a:fillRect/>
          </a:stretch>
        </p:blipFill>
        <p:spPr>
          <a:xfrm>
            <a:off x="915497" y="5313761"/>
            <a:ext cx="299557" cy="299557"/>
          </a:xfrm>
          <a:prstGeom prst="rect">
            <a:avLst/>
          </a:prstGeom>
        </p:spPr>
      </p:pic>
      <p:sp>
        <p:nvSpPr>
          <p:cNvPr id="29" name="Text 22"/>
          <p:cNvSpPr txBox="1"/>
          <p:nvPr/>
        </p:nvSpPr>
        <p:spPr>
          <a:xfrm>
            <a:off x="15087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OpenStreetMap</a:t>
            </a:r>
            <a:endParaRPr lang="en-US" sz="1250" dirty="0"/>
          </a:p>
        </p:txBody>
      </p:sp>
      <p:sp>
        <p:nvSpPr>
          <p:cNvPr id="30" name="Text 23"/>
          <p:cNvSpPr txBox="1"/>
          <p:nvPr/>
        </p:nvSpPr>
        <p:spPr>
          <a:xfrm>
            <a:off x="15087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Peta dan pencarian wilayah</a:t>
            </a:r>
            <a:endParaRPr lang="en-US" sz="1100" dirty="0"/>
          </a:p>
        </p:txBody>
      </p:sp>
      <p:sp>
        <p:nvSpPr>
          <p:cNvPr id="31" name="Shape 24"/>
          <p:cNvSpPr/>
          <p:nvPr/>
        </p:nvSpPr>
        <p:spPr>
          <a:xfrm>
            <a:off x="4526280" y="5074920"/>
            <a:ext cx="3108960" cy="777240"/>
          </a:xfrm>
          <a:prstGeom prst="roundRect">
            <a:avLst>
              <a:gd name="adj" fmla="val 50000"/>
            </a:avLst>
          </a:prstGeom>
          <a:solidFill>
            <a:srgbClr val="FFFFFF"/>
          </a:solidFill>
          <a:ln/>
        </p:spPr>
      </p:sp>
      <p:sp>
        <p:nvSpPr>
          <p:cNvPr id="32" name="Shape 25"/>
          <p:cNvSpPr/>
          <p:nvPr/>
        </p:nvSpPr>
        <p:spPr>
          <a:xfrm>
            <a:off x="4663440" y="5175504"/>
            <a:ext cx="576072" cy="576072"/>
          </a:xfrm>
          <a:prstGeom prst="roundRect">
            <a:avLst>
              <a:gd name="adj" fmla="val 27000"/>
            </a:avLst>
          </a:prstGeom>
          <a:solidFill>
            <a:srgbClr val="F8E8D0"/>
          </a:solidFill>
          <a:ln/>
        </p:spPr>
      </p:sp>
      <p:pic>
        <p:nvPicPr>
          <p:cNvPr id="33" name="Image 5" descr="preencoded.png">    </p:cNvPr>
          <p:cNvPicPr>
            <a:picLocks noChangeAspect="1"/>
          </p:cNvPicPr>
          <p:nvPr/>
        </p:nvPicPr>
        <p:blipFill>
          <a:blip r:embed="rId6"/>
          <a:stretch>
            <a:fillRect/>
          </a:stretch>
        </p:blipFill>
        <p:spPr>
          <a:xfrm>
            <a:off x="4801697" y="5313761"/>
            <a:ext cx="299557" cy="299557"/>
          </a:xfrm>
          <a:prstGeom prst="rect">
            <a:avLst/>
          </a:prstGeom>
        </p:spPr>
      </p:pic>
      <p:sp>
        <p:nvSpPr>
          <p:cNvPr id="34" name="Text 26"/>
          <p:cNvSpPr txBox="1"/>
          <p:nvPr/>
        </p:nvSpPr>
        <p:spPr>
          <a:xfrm>
            <a:off x="53949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Email SMTP</a:t>
            </a:r>
            <a:endParaRPr lang="en-US" sz="1250" dirty="0"/>
          </a:p>
        </p:txBody>
      </p:sp>
      <p:sp>
        <p:nvSpPr>
          <p:cNvPr id="35" name="Text 27"/>
          <p:cNvSpPr txBox="1"/>
          <p:nvPr/>
        </p:nvSpPr>
        <p:spPr>
          <a:xfrm>
            <a:off x="53949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Kode masuk, notifikasi keluhan</a:t>
            </a:r>
            <a:endParaRPr lang="en-US" sz="1100" dirty="0"/>
          </a:p>
        </p:txBody>
      </p:sp>
      <p:sp>
        <p:nvSpPr>
          <p:cNvPr id="36" name="Shape 28"/>
          <p:cNvSpPr/>
          <p:nvPr/>
        </p:nvSpPr>
        <p:spPr>
          <a:xfrm>
            <a:off x="8412480" y="5074920"/>
            <a:ext cx="3108960" cy="777240"/>
          </a:xfrm>
          <a:prstGeom prst="roundRect">
            <a:avLst>
              <a:gd name="adj" fmla="val 50000"/>
            </a:avLst>
          </a:prstGeom>
          <a:solidFill>
            <a:srgbClr val="FFFFFF"/>
          </a:solidFill>
          <a:ln/>
        </p:spPr>
      </p:sp>
      <p:sp>
        <p:nvSpPr>
          <p:cNvPr id="37" name="Shape 29"/>
          <p:cNvSpPr/>
          <p:nvPr/>
        </p:nvSpPr>
        <p:spPr>
          <a:xfrm>
            <a:off x="8549640" y="5175504"/>
            <a:ext cx="576072" cy="576072"/>
          </a:xfrm>
          <a:prstGeom prst="roundRect">
            <a:avLst>
              <a:gd name="adj" fmla="val 27000"/>
            </a:avLst>
          </a:prstGeom>
          <a:solidFill>
            <a:srgbClr val="F8E8D0"/>
          </a:solidFill>
          <a:ln/>
        </p:spPr>
      </p:sp>
      <p:pic>
        <p:nvPicPr>
          <p:cNvPr id="38" name="Image 6" descr="preencoded.png">    </p:cNvPr>
          <p:cNvPicPr>
            <a:picLocks noChangeAspect="1"/>
          </p:cNvPicPr>
          <p:nvPr/>
        </p:nvPicPr>
        <p:blipFill>
          <a:blip r:embed="rId7"/>
          <a:stretch>
            <a:fillRect/>
          </a:stretch>
        </p:blipFill>
        <p:spPr>
          <a:xfrm>
            <a:off x="8687897" y="5313761"/>
            <a:ext cx="299557" cy="299557"/>
          </a:xfrm>
          <a:prstGeom prst="rect">
            <a:avLst/>
          </a:prstGeom>
        </p:spPr>
      </p:pic>
      <p:sp>
        <p:nvSpPr>
          <p:cNvPr id="39" name="Text 30"/>
          <p:cNvSpPr txBox="1"/>
          <p:nvPr/>
        </p:nvSpPr>
        <p:spPr>
          <a:xfrm>
            <a:off x="9281160" y="5138928"/>
            <a:ext cx="2148840" cy="320040"/>
          </a:xfrm>
          <a:prstGeom prst="rect">
            <a:avLst/>
          </a:prstGeom>
          <a:noFill/>
          <a:ln/>
        </p:spPr>
        <p:txBody>
          <a:bodyPr wrap="square" lIns="0" tIns="0" rIns="0" bIns="0" rtlCol="0" anchor="ctr"/>
          <a:lstStyle/>
          <a:p>
            <a:pPr indent="0" marL="0">
              <a:buNone/>
            </a:pPr>
            <a:r>
              <a:rPr lang="en-US" sz="1250" b="1" dirty="0">
                <a:solidFill>
                  <a:srgbClr val="292524"/>
                </a:solidFill>
                <a:latin typeface="Arial" pitchFamily="34" charset="0"/>
                <a:ea typeface="Arial" pitchFamily="34" charset="-122"/>
                <a:cs typeface="Arial" pitchFamily="34" charset="-120"/>
              </a:rPr>
              <a:t>GitHub</a:t>
            </a:r>
            <a:endParaRPr lang="en-US" sz="1250" dirty="0"/>
          </a:p>
        </p:txBody>
      </p:sp>
      <p:sp>
        <p:nvSpPr>
          <p:cNvPr id="40" name="Text 31"/>
          <p:cNvSpPr txBox="1"/>
          <p:nvPr/>
        </p:nvSpPr>
        <p:spPr>
          <a:xfrm>
            <a:off x="9281160" y="5440680"/>
            <a:ext cx="2148840" cy="32004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Kode, riwayat, pemicu rilis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TEKNOLOGI</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Alat modern yang ramah paket gratis</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14 / 24</a:t>
            </a:r>
            <a:endParaRPr lang="en-US" sz="1100" dirty="0"/>
          </a:p>
        </p:txBody>
      </p:sp>
      <p:sp>
        <p:nvSpPr>
          <p:cNvPr id="7" name="Shape 4"/>
          <p:cNvSpPr/>
          <p:nvPr/>
        </p:nvSpPr>
        <p:spPr>
          <a:xfrm>
            <a:off x="640080" y="18288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84832"/>
            <a:ext cx="676656" cy="676656"/>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31077" y="2247229"/>
            <a:ext cx="351861" cy="351861"/>
          </a:xfrm>
          <a:prstGeom prst="rect">
            <a:avLst/>
          </a:prstGeom>
        </p:spPr>
      </p:pic>
      <p:sp>
        <p:nvSpPr>
          <p:cNvPr id="10" name="Text 6"/>
          <p:cNvSpPr txBox="1"/>
          <p:nvPr/>
        </p:nvSpPr>
        <p:spPr>
          <a:xfrm>
            <a:off x="1737360" y="20116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Next.js 16 · React 19 · TypeScript</a:t>
            </a:r>
            <a:endParaRPr lang="en-US" sz="1550" dirty="0"/>
          </a:p>
        </p:txBody>
      </p:sp>
      <p:sp>
        <p:nvSpPr>
          <p:cNvPr id="11" name="Text 7"/>
          <p:cNvSpPr txBox="1"/>
          <p:nvPr/>
        </p:nvSpPr>
        <p:spPr>
          <a:xfrm>
            <a:off x="1737360" y="23774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App Router, server components; satu kode bertipe untuk halaman dan rute API.</a:t>
            </a:r>
            <a:endParaRPr lang="en-US" sz="1250" dirty="0"/>
          </a:p>
        </p:txBody>
      </p:sp>
      <p:sp>
        <p:nvSpPr>
          <p:cNvPr id="12" name="Shape 8"/>
          <p:cNvSpPr/>
          <p:nvPr/>
        </p:nvSpPr>
        <p:spPr>
          <a:xfrm>
            <a:off x="6217920" y="18288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6446520" y="2084832"/>
            <a:ext cx="676656" cy="676656"/>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6608917" y="2247229"/>
            <a:ext cx="351861" cy="351861"/>
          </a:xfrm>
          <a:prstGeom prst="rect">
            <a:avLst/>
          </a:prstGeom>
        </p:spPr>
      </p:pic>
      <p:sp>
        <p:nvSpPr>
          <p:cNvPr id="15" name="Text 10"/>
          <p:cNvSpPr txBox="1"/>
          <p:nvPr/>
        </p:nvSpPr>
        <p:spPr>
          <a:xfrm>
            <a:off x="7315200" y="20116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Tailwind CSS 3</a:t>
            </a:r>
            <a:endParaRPr lang="en-US" sz="1550" dirty="0"/>
          </a:p>
        </p:txBody>
      </p:sp>
      <p:sp>
        <p:nvSpPr>
          <p:cNvPr id="16" name="Text 11"/>
          <p:cNvSpPr txBox="1"/>
          <p:nvPr/>
        </p:nvSpPr>
        <p:spPr>
          <a:xfrm>
            <a:off x="7315200" y="23774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Token desain untuk palet Oranye/Krem, tema terang dan gelap.</a:t>
            </a:r>
            <a:endParaRPr lang="en-US" sz="1250" dirty="0"/>
          </a:p>
        </p:txBody>
      </p:sp>
      <p:sp>
        <p:nvSpPr>
          <p:cNvPr id="17" name="Shape 12"/>
          <p:cNvSpPr/>
          <p:nvPr/>
        </p:nvSpPr>
        <p:spPr>
          <a:xfrm>
            <a:off x="640080" y="32004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68680" y="3456432"/>
            <a:ext cx="676656" cy="676656"/>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1031077" y="3618829"/>
            <a:ext cx="351861" cy="351861"/>
          </a:xfrm>
          <a:prstGeom prst="rect">
            <a:avLst/>
          </a:prstGeom>
        </p:spPr>
      </p:pic>
      <p:sp>
        <p:nvSpPr>
          <p:cNvPr id="20" name="Text 14"/>
          <p:cNvSpPr txBox="1"/>
          <p:nvPr/>
        </p:nvSpPr>
        <p:spPr>
          <a:xfrm>
            <a:off x="1737360" y="33832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Supabase</a:t>
            </a:r>
            <a:endParaRPr lang="en-US" sz="1550" dirty="0"/>
          </a:p>
        </p:txBody>
      </p:sp>
      <p:sp>
        <p:nvSpPr>
          <p:cNvPr id="21" name="Text 15"/>
          <p:cNvSpPr txBox="1"/>
          <p:nvPr/>
        </p:nvSpPr>
        <p:spPr>
          <a:xfrm>
            <a:off x="1737360" y="37490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Postgres, Auth, Storage, Realtime. Aturan ada di SQL: RLS dan fungsi security-definer.</a:t>
            </a:r>
            <a:endParaRPr lang="en-US" sz="1250" dirty="0"/>
          </a:p>
        </p:txBody>
      </p:sp>
      <p:sp>
        <p:nvSpPr>
          <p:cNvPr id="22" name="Shape 16"/>
          <p:cNvSpPr/>
          <p:nvPr/>
        </p:nvSpPr>
        <p:spPr>
          <a:xfrm>
            <a:off x="6217920" y="32004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6446520" y="3456432"/>
            <a:ext cx="676656" cy="676656"/>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6608917" y="3618829"/>
            <a:ext cx="351861" cy="351861"/>
          </a:xfrm>
          <a:prstGeom prst="rect">
            <a:avLst/>
          </a:prstGeom>
        </p:spPr>
      </p:pic>
      <p:sp>
        <p:nvSpPr>
          <p:cNvPr id="25" name="Text 18"/>
          <p:cNvSpPr txBox="1"/>
          <p:nvPr/>
        </p:nvSpPr>
        <p:spPr>
          <a:xfrm>
            <a:off x="7315200" y="33832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Leaflet + OpenStreetMap</a:t>
            </a:r>
            <a:endParaRPr lang="en-US" sz="1550" dirty="0"/>
          </a:p>
        </p:txBody>
      </p:sp>
      <p:sp>
        <p:nvSpPr>
          <p:cNvPr id="26" name="Text 19"/>
          <p:cNvSpPr txBox="1"/>
          <p:nvPr/>
        </p:nvSpPr>
        <p:spPr>
          <a:xfrm>
            <a:off x="7315200" y="37490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Peta dan pencarian tempat tanpa API key dan tanpa biaya.</a:t>
            </a:r>
            <a:endParaRPr lang="en-US" sz="1250" dirty="0"/>
          </a:p>
        </p:txBody>
      </p:sp>
      <p:sp>
        <p:nvSpPr>
          <p:cNvPr id="27" name="Shape 20"/>
          <p:cNvSpPr/>
          <p:nvPr/>
        </p:nvSpPr>
        <p:spPr>
          <a:xfrm>
            <a:off x="640080" y="45720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Shape 21"/>
          <p:cNvSpPr/>
          <p:nvPr/>
        </p:nvSpPr>
        <p:spPr>
          <a:xfrm>
            <a:off x="868680" y="4828032"/>
            <a:ext cx="676656" cy="676656"/>
          </a:xfrm>
          <a:prstGeom prst="roundRect">
            <a:avLst>
              <a:gd name="adj" fmla="val 27000"/>
            </a:avLst>
          </a:prstGeom>
          <a:solidFill>
            <a:srgbClr val="F97316"/>
          </a:solidFill>
          <a:ln/>
        </p:spPr>
      </p:sp>
      <p:pic>
        <p:nvPicPr>
          <p:cNvPr id="29" name="Image 5" descr="preencoded.png">    </p:cNvPr>
          <p:cNvPicPr>
            <a:picLocks noChangeAspect="1"/>
          </p:cNvPicPr>
          <p:nvPr/>
        </p:nvPicPr>
        <p:blipFill>
          <a:blip r:embed="rId6"/>
          <a:stretch>
            <a:fillRect/>
          </a:stretch>
        </p:blipFill>
        <p:spPr>
          <a:xfrm>
            <a:off x="1031077" y="4990429"/>
            <a:ext cx="351861" cy="351861"/>
          </a:xfrm>
          <a:prstGeom prst="rect">
            <a:avLst/>
          </a:prstGeom>
        </p:spPr>
      </p:pic>
      <p:sp>
        <p:nvSpPr>
          <p:cNvPr id="30" name="Text 22"/>
          <p:cNvSpPr txBox="1"/>
          <p:nvPr/>
        </p:nvSpPr>
        <p:spPr>
          <a:xfrm>
            <a:off x="1737360" y="47548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Recharts · ExcelJS · docx</a:t>
            </a:r>
            <a:endParaRPr lang="en-US" sz="1550" dirty="0"/>
          </a:p>
        </p:txBody>
      </p:sp>
      <p:sp>
        <p:nvSpPr>
          <p:cNvPr id="31" name="Text 23"/>
          <p:cNvSpPr txBox="1"/>
          <p:nvPr/>
        </p:nvSpPr>
        <p:spPr>
          <a:xfrm>
            <a:off x="1737360" y="51206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Grafik admin, serta ekspor Excel dan Word yang dibuat di browser.</a:t>
            </a:r>
            <a:endParaRPr lang="en-US" sz="1250" dirty="0"/>
          </a:p>
        </p:txBody>
      </p:sp>
      <p:sp>
        <p:nvSpPr>
          <p:cNvPr id="32" name="Shape 24"/>
          <p:cNvSpPr/>
          <p:nvPr/>
        </p:nvSpPr>
        <p:spPr>
          <a:xfrm>
            <a:off x="6217920" y="4572000"/>
            <a:ext cx="5303520" cy="1188720"/>
          </a:xfrm>
          <a:prstGeom prst="roundRect">
            <a:avLst>
              <a:gd name="adj" fmla="val 1538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3" name="Shape 25"/>
          <p:cNvSpPr/>
          <p:nvPr/>
        </p:nvSpPr>
        <p:spPr>
          <a:xfrm>
            <a:off x="6446520" y="4828032"/>
            <a:ext cx="676656" cy="676656"/>
          </a:xfrm>
          <a:prstGeom prst="roundRect">
            <a:avLst>
              <a:gd name="adj" fmla="val 27000"/>
            </a:avLst>
          </a:prstGeom>
          <a:solidFill>
            <a:srgbClr val="F97316"/>
          </a:solidFill>
          <a:ln/>
        </p:spPr>
      </p:sp>
      <p:pic>
        <p:nvPicPr>
          <p:cNvPr id="34" name="Image 6" descr="preencoded.png">    </p:cNvPr>
          <p:cNvPicPr>
            <a:picLocks noChangeAspect="1"/>
          </p:cNvPicPr>
          <p:nvPr/>
        </p:nvPicPr>
        <p:blipFill>
          <a:blip r:embed="rId7"/>
          <a:stretch>
            <a:fillRect/>
          </a:stretch>
        </p:blipFill>
        <p:spPr>
          <a:xfrm>
            <a:off x="6608917" y="4990429"/>
            <a:ext cx="351861" cy="351861"/>
          </a:xfrm>
          <a:prstGeom prst="rect">
            <a:avLst/>
          </a:prstGeom>
        </p:spPr>
      </p:pic>
      <p:sp>
        <p:nvSpPr>
          <p:cNvPr id="35" name="Text 26"/>
          <p:cNvSpPr txBox="1"/>
          <p:nvPr/>
        </p:nvSpPr>
        <p:spPr>
          <a:xfrm>
            <a:off x="7315200" y="4754880"/>
            <a:ext cx="4023360" cy="36576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qrcode.react · html-to-image</a:t>
            </a:r>
            <a:endParaRPr lang="en-US" sz="1550" dirty="0"/>
          </a:p>
        </p:txBody>
      </p:sp>
      <p:sp>
        <p:nvSpPr>
          <p:cNvPr id="36" name="Text 27"/>
          <p:cNvSpPr txBox="1"/>
          <p:nvPr/>
        </p:nvSpPr>
        <p:spPr>
          <a:xfrm>
            <a:off x="7315200" y="5120640"/>
            <a:ext cx="402336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Kode QR, serta ekspor PNG/JPG untuk grafik dan flyer.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CARA KAMI MEMBANGUN &amp; MERILIS</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Setiap perubahan dicek sebelum tayang</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15 / 24</a:t>
            </a:r>
            <a:endParaRPr lang="en-US" sz="1100" dirty="0"/>
          </a:p>
        </p:txBody>
      </p:sp>
      <p:sp>
        <p:nvSpPr>
          <p:cNvPr id="7" name="Shape 4"/>
          <p:cNvSpPr/>
          <p:nvPr/>
        </p:nvSpPr>
        <p:spPr>
          <a:xfrm>
            <a:off x="64008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914400" y="2103120"/>
            <a:ext cx="621792" cy="621792"/>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63630" y="2252350"/>
            <a:ext cx="323332" cy="323332"/>
          </a:xfrm>
          <a:prstGeom prst="rect">
            <a:avLst/>
          </a:prstGeom>
        </p:spPr>
      </p:pic>
      <p:sp>
        <p:nvSpPr>
          <p:cNvPr id="10" name="Text 6"/>
          <p:cNvSpPr txBox="1"/>
          <p:nvPr/>
        </p:nvSpPr>
        <p:spPr>
          <a:xfrm>
            <a:off x="91440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Kode di laptop</a:t>
            </a:r>
            <a:endParaRPr lang="en-US" sz="1600" dirty="0"/>
          </a:p>
        </p:txBody>
      </p:sp>
      <p:sp>
        <p:nvSpPr>
          <p:cNvPr id="11" name="Text 7"/>
          <p:cNvSpPr txBox="1"/>
          <p:nvPr/>
        </p:nvSpPr>
        <p:spPr>
          <a:xfrm>
            <a:off x="91440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npm run dev di localhost:3000</a:t>
            </a:r>
            <a:endParaRPr lang="en-US" sz="1200" dirty="0"/>
          </a:p>
        </p:txBody>
      </p:sp>
      <p:pic>
        <p:nvPicPr>
          <p:cNvPr id="12" name="Image 2" descr="preencoded.png">    </p:cNvPr>
          <p:cNvPicPr>
            <a:picLocks noChangeAspect="1"/>
          </p:cNvPicPr>
          <p:nvPr/>
        </p:nvPicPr>
        <p:blipFill>
          <a:blip r:embed="rId3"/>
          <a:stretch>
            <a:fillRect/>
          </a:stretch>
        </p:blipFill>
        <p:spPr>
          <a:xfrm>
            <a:off x="2642616" y="2802636"/>
            <a:ext cx="201168" cy="201168"/>
          </a:xfrm>
          <a:prstGeom prst="rect">
            <a:avLst/>
          </a:prstGeom>
        </p:spPr>
      </p:pic>
      <p:sp>
        <p:nvSpPr>
          <p:cNvPr id="13" name="Shape 8"/>
          <p:cNvSpPr/>
          <p:nvPr/>
        </p:nvSpPr>
        <p:spPr>
          <a:xfrm>
            <a:off x="288036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9"/>
          <p:cNvSpPr/>
          <p:nvPr/>
        </p:nvSpPr>
        <p:spPr>
          <a:xfrm>
            <a:off x="3154680" y="2103120"/>
            <a:ext cx="621792" cy="621792"/>
          </a:xfrm>
          <a:prstGeom prst="roundRect">
            <a:avLst>
              <a:gd name="adj" fmla="val 27000"/>
            </a:avLst>
          </a:prstGeom>
          <a:solidFill>
            <a:srgbClr val="F97316"/>
          </a:solidFill>
          <a:ln/>
        </p:spPr>
      </p:sp>
      <p:pic>
        <p:nvPicPr>
          <p:cNvPr id="15" name="Image 3" descr="preencoded.png">    </p:cNvPr>
          <p:cNvPicPr>
            <a:picLocks noChangeAspect="1"/>
          </p:cNvPicPr>
          <p:nvPr/>
        </p:nvPicPr>
        <p:blipFill>
          <a:blip r:embed="rId4"/>
          <a:stretch>
            <a:fillRect/>
          </a:stretch>
        </p:blipFill>
        <p:spPr>
          <a:xfrm>
            <a:off x="3303910" y="2252350"/>
            <a:ext cx="323332" cy="323332"/>
          </a:xfrm>
          <a:prstGeom prst="rect">
            <a:avLst/>
          </a:prstGeom>
        </p:spPr>
      </p:pic>
      <p:sp>
        <p:nvSpPr>
          <p:cNvPr id="16" name="Text 10"/>
          <p:cNvSpPr txBox="1"/>
          <p:nvPr/>
        </p:nvSpPr>
        <p:spPr>
          <a:xfrm>
            <a:off x="315468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Cek</a:t>
            </a:r>
            <a:endParaRPr lang="en-US" sz="1600" dirty="0"/>
          </a:p>
        </p:txBody>
      </p:sp>
      <p:sp>
        <p:nvSpPr>
          <p:cNvPr id="17" name="Text 11"/>
          <p:cNvSpPr txBox="1"/>
          <p:nvPr/>
        </p:nvSpPr>
        <p:spPr>
          <a:xfrm>
            <a:off x="315468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Lint (0 error), cek tipe, build produksi</a:t>
            </a:r>
            <a:endParaRPr lang="en-US" sz="1200" dirty="0"/>
          </a:p>
        </p:txBody>
      </p:sp>
      <p:pic>
        <p:nvPicPr>
          <p:cNvPr id="18" name="Image 4" descr="preencoded.png">    </p:cNvPr>
          <p:cNvPicPr>
            <a:picLocks noChangeAspect="1"/>
          </p:cNvPicPr>
          <p:nvPr/>
        </p:nvPicPr>
        <p:blipFill>
          <a:blip r:embed="rId5"/>
          <a:stretch>
            <a:fillRect/>
          </a:stretch>
        </p:blipFill>
        <p:spPr>
          <a:xfrm>
            <a:off x="4882896" y="2802636"/>
            <a:ext cx="201168" cy="201168"/>
          </a:xfrm>
          <a:prstGeom prst="rect">
            <a:avLst/>
          </a:prstGeom>
        </p:spPr>
      </p:pic>
      <p:sp>
        <p:nvSpPr>
          <p:cNvPr id="19" name="Shape 12"/>
          <p:cNvSpPr/>
          <p:nvPr/>
        </p:nvSpPr>
        <p:spPr>
          <a:xfrm>
            <a:off x="512064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3"/>
          <p:cNvSpPr/>
          <p:nvPr/>
        </p:nvSpPr>
        <p:spPr>
          <a:xfrm>
            <a:off x="5394960" y="2103120"/>
            <a:ext cx="621792" cy="621792"/>
          </a:xfrm>
          <a:prstGeom prst="roundRect">
            <a:avLst>
              <a:gd name="adj" fmla="val 27000"/>
            </a:avLst>
          </a:prstGeom>
          <a:solidFill>
            <a:srgbClr val="F97316"/>
          </a:solidFill>
          <a:ln/>
        </p:spPr>
      </p:sp>
      <p:pic>
        <p:nvPicPr>
          <p:cNvPr id="21" name="Image 5" descr="preencoded.png">    </p:cNvPr>
          <p:cNvPicPr>
            <a:picLocks noChangeAspect="1"/>
          </p:cNvPicPr>
          <p:nvPr/>
        </p:nvPicPr>
        <p:blipFill>
          <a:blip r:embed="rId6"/>
          <a:stretch>
            <a:fillRect/>
          </a:stretch>
        </p:blipFill>
        <p:spPr>
          <a:xfrm>
            <a:off x="5544190" y="2252350"/>
            <a:ext cx="323332" cy="323332"/>
          </a:xfrm>
          <a:prstGeom prst="rect">
            <a:avLst/>
          </a:prstGeom>
        </p:spPr>
      </p:pic>
      <p:sp>
        <p:nvSpPr>
          <p:cNvPr id="22" name="Text 14"/>
          <p:cNvSpPr txBox="1"/>
          <p:nvPr/>
        </p:nvSpPr>
        <p:spPr>
          <a:xfrm>
            <a:off x="539496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Push ke main</a:t>
            </a:r>
            <a:endParaRPr lang="en-US" sz="1600" dirty="0"/>
          </a:p>
        </p:txBody>
      </p:sp>
      <p:sp>
        <p:nvSpPr>
          <p:cNvPr id="23" name="Text 15"/>
          <p:cNvSpPr txBox="1"/>
          <p:nvPr/>
        </p:nvSpPr>
        <p:spPr>
          <a:xfrm>
            <a:off x="539496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GitHub: NebsPutra/Capstone-Dummy</a:t>
            </a:r>
            <a:endParaRPr lang="en-US" sz="1200" dirty="0"/>
          </a:p>
        </p:txBody>
      </p:sp>
      <p:pic>
        <p:nvPicPr>
          <p:cNvPr id="24" name="Image 6" descr="preencoded.png">    </p:cNvPr>
          <p:cNvPicPr>
            <a:picLocks noChangeAspect="1"/>
          </p:cNvPicPr>
          <p:nvPr/>
        </p:nvPicPr>
        <p:blipFill>
          <a:blip r:embed="rId7"/>
          <a:stretch>
            <a:fillRect/>
          </a:stretch>
        </p:blipFill>
        <p:spPr>
          <a:xfrm>
            <a:off x="7123176" y="2802636"/>
            <a:ext cx="201168" cy="201168"/>
          </a:xfrm>
          <a:prstGeom prst="rect">
            <a:avLst/>
          </a:prstGeom>
        </p:spPr>
      </p:pic>
      <p:sp>
        <p:nvSpPr>
          <p:cNvPr id="25" name="Shape 16"/>
          <p:cNvSpPr/>
          <p:nvPr/>
        </p:nvSpPr>
        <p:spPr>
          <a:xfrm>
            <a:off x="7360920" y="1828800"/>
            <a:ext cx="1965960" cy="2148840"/>
          </a:xfrm>
          <a:prstGeom prst="roundRect">
            <a:avLst>
              <a:gd name="adj" fmla="val 9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17"/>
          <p:cNvSpPr/>
          <p:nvPr/>
        </p:nvSpPr>
        <p:spPr>
          <a:xfrm>
            <a:off x="7635240" y="2103120"/>
            <a:ext cx="621792" cy="621792"/>
          </a:xfrm>
          <a:prstGeom prst="roundRect">
            <a:avLst>
              <a:gd name="adj" fmla="val 27000"/>
            </a:avLst>
          </a:prstGeom>
          <a:solidFill>
            <a:srgbClr val="F97316"/>
          </a:solidFill>
          <a:ln/>
        </p:spPr>
      </p:sp>
      <p:pic>
        <p:nvPicPr>
          <p:cNvPr id="27" name="Image 7" descr="preencoded.png">    </p:cNvPr>
          <p:cNvPicPr>
            <a:picLocks noChangeAspect="1"/>
          </p:cNvPicPr>
          <p:nvPr/>
        </p:nvPicPr>
        <p:blipFill>
          <a:blip r:embed="rId8"/>
          <a:stretch>
            <a:fillRect/>
          </a:stretch>
        </p:blipFill>
        <p:spPr>
          <a:xfrm>
            <a:off x="7784470" y="2252350"/>
            <a:ext cx="323332" cy="323332"/>
          </a:xfrm>
          <a:prstGeom prst="rect">
            <a:avLst/>
          </a:prstGeom>
        </p:spPr>
      </p:pic>
      <p:sp>
        <p:nvSpPr>
          <p:cNvPr id="28" name="Text 18"/>
          <p:cNvSpPr txBox="1"/>
          <p:nvPr/>
        </p:nvSpPr>
        <p:spPr>
          <a:xfrm>
            <a:off x="763524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Rilis otomatis</a:t>
            </a:r>
            <a:endParaRPr lang="en-US" sz="1600" dirty="0"/>
          </a:p>
        </p:txBody>
      </p:sp>
      <p:sp>
        <p:nvSpPr>
          <p:cNvPr id="29" name="Text 19"/>
          <p:cNvSpPr txBox="1"/>
          <p:nvPr/>
        </p:nvSpPr>
        <p:spPr>
          <a:xfrm>
            <a:off x="763524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Vercel membangun dan menerbitkan dalam semenit</a:t>
            </a:r>
            <a:endParaRPr lang="en-US" sz="1200" dirty="0"/>
          </a:p>
        </p:txBody>
      </p:sp>
      <p:pic>
        <p:nvPicPr>
          <p:cNvPr id="30" name="Image 8" descr="preencoded.png">    </p:cNvPr>
          <p:cNvPicPr>
            <a:picLocks noChangeAspect="1"/>
          </p:cNvPicPr>
          <p:nvPr/>
        </p:nvPicPr>
        <p:blipFill>
          <a:blip r:embed="rId9"/>
          <a:stretch>
            <a:fillRect/>
          </a:stretch>
        </p:blipFill>
        <p:spPr>
          <a:xfrm>
            <a:off x="9363456" y="2802636"/>
            <a:ext cx="201168" cy="201168"/>
          </a:xfrm>
          <a:prstGeom prst="rect">
            <a:avLst/>
          </a:prstGeom>
        </p:spPr>
      </p:pic>
      <p:sp>
        <p:nvSpPr>
          <p:cNvPr id="31" name="Shape 20"/>
          <p:cNvSpPr/>
          <p:nvPr/>
        </p:nvSpPr>
        <p:spPr>
          <a:xfrm>
            <a:off x="9601200" y="1828800"/>
            <a:ext cx="1965960" cy="2148840"/>
          </a:xfrm>
          <a:prstGeom prst="roundRect">
            <a:avLst>
              <a:gd name="adj" fmla="val 9302"/>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1"/>
          <p:cNvSpPr/>
          <p:nvPr/>
        </p:nvSpPr>
        <p:spPr>
          <a:xfrm>
            <a:off x="9875520" y="2103120"/>
            <a:ext cx="621792" cy="621792"/>
          </a:xfrm>
          <a:prstGeom prst="roundRect">
            <a:avLst>
              <a:gd name="adj" fmla="val 27000"/>
            </a:avLst>
          </a:prstGeom>
          <a:solidFill>
            <a:srgbClr val="F97316"/>
          </a:solidFill>
          <a:ln/>
        </p:spPr>
      </p:sp>
      <p:pic>
        <p:nvPicPr>
          <p:cNvPr id="33" name="Image 9" descr="preencoded.png">    </p:cNvPr>
          <p:cNvPicPr>
            <a:picLocks noChangeAspect="1"/>
          </p:cNvPicPr>
          <p:nvPr/>
        </p:nvPicPr>
        <p:blipFill>
          <a:blip r:embed="rId10"/>
          <a:stretch>
            <a:fillRect/>
          </a:stretch>
        </p:blipFill>
        <p:spPr>
          <a:xfrm>
            <a:off x="10024750" y="2252350"/>
            <a:ext cx="323332" cy="323332"/>
          </a:xfrm>
          <a:prstGeom prst="rect">
            <a:avLst/>
          </a:prstGeom>
        </p:spPr>
      </p:pic>
      <p:sp>
        <p:nvSpPr>
          <p:cNvPr id="34" name="Text 22"/>
          <p:cNvSpPr txBox="1"/>
          <p:nvPr/>
        </p:nvSpPr>
        <p:spPr>
          <a:xfrm>
            <a:off x="9875520" y="2852928"/>
            <a:ext cx="155448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Tayang</a:t>
            </a:r>
            <a:endParaRPr lang="en-US" sz="1600" dirty="0"/>
          </a:p>
        </p:txBody>
      </p:sp>
      <p:sp>
        <p:nvSpPr>
          <p:cNvPr id="35" name="Text 23"/>
          <p:cNvSpPr txBox="1"/>
          <p:nvPr/>
        </p:nvSpPr>
        <p:spPr>
          <a:xfrm>
            <a:off x="9875520" y="3218688"/>
            <a:ext cx="1508760" cy="685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Semua orang dapat versi baru</a:t>
            </a:r>
            <a:endParaRPr lang="en-US" sz="1200" dirty="0"/>
          </a:p>
        </p:txBody>
      </p:sp>
      <p:sp>
        <p:nvSpPr>
          <p:cNvPr id="36" name="Shape 24"/>
          <p:cNvSpPr/>
          <p:nvPr/>
        </p:nvSpPr>
        <p:spPr>
          <a:xfrm>
            <a:off x="640080" y="4297680"/>
            <a:ext cx="10881360" cy="1691640"/>
          </a:xfrm>
          <a:prstGeom prst="roundRect">
            <a:avLst>
              <a:gd name="adj" fmla="val 1081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7" name="Shape 25"/>
          <p:cNvSpPr/>
          <p:nvPr/>
        </p:nvSpPr>
        <p:spPr>
          <a:xfrm>
            <a:off x="914400" y="4572000"/>
            <a:ext cx="658368" cy="658368"/>
          </a:xfrm>
          <a:prstGeom prst="roundRect">
            <a:avLst>
              <a:gd name="adj" fmla="val 27000"/>
            </a:avLst>
          </a:prstGeom>
          <a:solidFill>
            <a:srgbClr val="F8E8D0"/>
          </a:solidFill>
          <a:ln/>
        </p:spPr>
      </p:sp>
      <p:pic>
        <p:nvPicPr>
          <p:cNvPr id="38" name="Image 10" descr="preencoded.png">    </p:cNvPr>
          <p:cNvPicPr>
            <a:picLocks noChangeAspect="1"/>
          </p:cNvPicPr>
          <p:nvPr/>
        </p:nvPicPr>
        <p:blipFill>
          <a:blip r:embed="rId11"/>
          <a:stretch>
            <a:fillRect/>
          </a:stretch>
        </p:blipFill>
        <p:spPr>
          <a:xfrm>
            <a:off x="1072408" y="4730008"/>
            <a:ext cx="342351" cy="342351"/>
          </a:xfrm>
          <a:prstGeom prst="rect">
            <a:avLst/>
          </a:prstGeom>
        </p:spPr>
      </p:pic>
      <p:sp>
        <p:nvSpPr>
          <p:cNvPr id="39" name="Text 26"/>
          <p:cNvSpPr txBox="1"/>
          <p:nvPr/>
        </p:nvSpPr>
        <p:spPr>
          <a:xfrm>
            <a:off x="1783080" y="4526280"/>
            <a:ext cx="9418320" cy="365760"/>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Perubahan database punya jalurnya sendiri</a:t>
            </a:r>
            <a:endParaRPr lang="en-US" sz="1600" dirty="0"/>
          </a:p>
        </p:txBody>
      </p:sp>
      <p:sp>
        <p:nvSpPr>
          <p:cNvPr id="40" name="Text 27"/>
          <p:cNvSpPr txBox="1"/>
          <p:nvPr/>
        </p:nvSpPr>
        <p:spPr>
          <a:xfrm>
            <a:off x="1783080" y="4919472"/>
            <a:ext cx="9418320" cy="91440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Setiap perubahan berupa file SQL bernomor (schema.sql, lalu migrasi 002 sampai 010). Setiap file aman dijalankan dua kali, dan anggota tim menjalankannya secara manual dan berurutan di SQL Editor Supabase. Kunci rahasia hanya ada di Vercel dan laptop pengembang, tidak pernah di GitHub.</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04</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Penyimpanan data</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Di mana data disimpan dan bagaimana dilindungi</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PENYIMPANAN DATA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Lima tempat data disimpan</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17 / 24</a:t>
            </a:r>
            <a:endParaRPr lang="en-US" sz="1100" dirty="0"/>
          </a:p>
        </p:txBody>
      </p:sp>
      <p:sp>
        <p:nvSpPr>
          <p:cNvPr id="7" name="Shape 4"/>
          <p:cNvSpPr/>
          <p:nvPr/>
        </p:nvSpPr>
        <p:spPr>
          <a:xfrm>
            <a:off x="640080" y="1828800"/>
            <a:ext cx="2011680" cy="4023360"/>
          </a:xfrm>
          <a:prstGeom prst="roundRect">
            <a:avLst>
              <a:gd name="adj" fmla="val 9091"/>
            </a:avLst>
          </a:prstGeom>
          <a:solidFill>
            <a:srgbClr val="F8E8D0"/>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96112" y="2103120"/>
            <a:ext cx="685800" cy="685800"/>
          </a:xfrm>
          <a:prstGeom prst="roundRect">
            <a:avLst>
              <a:gd name="adj" fmla="val 27000"/>
            </a:avLst>
          </a:prstGeom>
          <a:solidFill>
            <a:srgbClr val="C2410C"/>
          </a:solidFill>
          <a:ln/>
        </p:spPr>
      </p:sp>
      <p:pic>
        <p:nvPicPr>
          <p:cNvPr id="9" name="Image 1" descr="preencoded.png">    </p:cNvPr>
          <p:cNvPicPr>
            <a:picLocks noChangeAspect="1"/>
          </p:cNvPicPr>
          <p:nvPr/>
        </p:nvPicPr>
        <p:blipFill>
          <a:blip r:embed="rId2"/>
          <a:stretch>
            <a:fillRect/>
          </a:stretch>
        </p:blipFill>
        <p:spPr>
          <a:xfrm>
            <a:off x="1060704" y="2267712"/>
            <a:ext cx="356616" cy="356616"/>
          </a:xfrm>
          <a:prstGeom prst="rect">
            <a:avLst/>
          </a:prstGeom>
        </p:spPr>
      </p:pic>
      <p:sp>
        <p:nvSpPr>
          <p:cNvPr id="10" name="Text 6"/>
          <p:cNvSpPr txBox="1"/>
          <p:nvPr/>
        </p:nvSpPr>
        <p:spPr>
          <a:xfrm>
            <a:off x="89611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Postgres</a:t>
            </a:r>
            <a:endParaRPr lang="en-US" sz="1600" dirty="0"/>
          </a:p>
        </p:txBody>
      </p:sp>
      <p:sp>
        <p:nvSpPr>
          <p:cNvPr id="11" name="Text 7"/>
          <p:cNvSpPr txBox="1"/>
          <p:nvPr/>
        </p:nvSpPr>
        <p:spPr>
          <a:xfrm>
            <a:off x="89611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41 tabel · 2 view</a:t>
            </a:r>
            <a:endParaRPr lang="en-US" sz="1200" dirty="0"/>
          </a:p>
        </p:txBody>
      </p:sp>
      <p:sp>
        <p:nvSpPr>
          <p:cNvPr id="12" name="Text 8"/>
          <p:cNvSpPr txBox="1"/>
          <p:nvPr/>
        </p:nvSpPr>
        <p:spPr>
          <a:xfrm>
            <a:off x="89611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Profil, aktivitas, peserta, komentar, pesan, keluhan, notifikasi, log audit. Row-level security di setiap tabel.</a:t>
            </a:r>
            <a:endParaRPr lang="en-US" sz="1200" dirty="0"/>
          </a:p>
        </p:txBody>
      </p:sp>
      <p:sp>
        <p:nvSpPr>
          <p:cNvPr id="13" name="Shape 9"/>
          <p:cNvSpPr/>
          <p:nvPr/>
        </p:nvSpPr>
        <p:spPr>
          <a:xfrm>
            <a:off x="285750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10"/>
          <p:cNvSpPr/>
          <p:nvPr/>
        </p:nvSpPr>
        <p:spPr>
          <a:xfrm>
            <a:off x="3113532" y="2103120"/>
            <a:ext cx="685800" cy="685800"/>
          </a:xfrm>
          <a:prstGeom prst="roundRect">
            <a:avLst>
              <a:gd name="adj" fmla="val 27000"/>
            </a:avLst>
          </a:prstGeom>
          <a:solidFill>
            <a:srgbClr val="F97316"/>
          </a:solidFill>
          <a:ln/>
        </p:spPr>
      </p:sp>
      <p:pic>
        <p:nvPicPr>
          <p:cNvPr id="15" name="Image 2" descr="preencoded.png">    </p:cNvPr>
          <p:cNvPicPr>
            <a:picLocks noChangeAspect="1"/>
          </p:cNvPicPr>
          <p:nvPr/>
        </p:nvPicPr>
        <p:blipFill>
          <a:blip r:embed="rId3"/>
          <a:stretch>
            <a:fillRect/>
          </a:stretch>
        </p:blipFill>
        <p:spPr>
          <a:xfrm>
            <a:off x="3278124" y="2267712"/>
            <a:ext cx="356616" cy="356616"/>
          </a:xfrm>
          <a:prstGeom prst="rect">
            <a:avLst/>
          </a:prstGeom>
        </p:spPr>
      </p:pic>
      <p:sp>
        <p:nvSpPr>
          <p:cNvPr id="16" name="Text 11"/>
          <p:cNvSpPr txBox="1"/>
          <p:nvPr/>
        </p:nvSpPr>
        <p:spPr>
          <a:xfrm>
            <a:off x="311353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Auth</a:t>
            </a:r>
            <a:endParaRPr lang="en-US" sz="1600" dirty="0"/>
          </a:p>
        </p:txBody>
      </p:sp>
      <p:sp>
        <p:nvSpPr>
          <p:cNvPr id="17" name="Text 12"/>
          <p:cNvSpPr txBox="1"/>
          <p:nvPr/>
        </p:nvSpPr>
        <p:spPr>
          <a:xfrm>
            <a:off x="311353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Akun &amp; sesi</a:t>
            </a:r>
            <a:endParaRPr lang="en-US" sz="1200" dirty="0"/>
          </a:p>
        </p:txBody>
      </p:sp>
      <p:sp>
        <p:nvSpPr>
          <p:cNvPr id="18" name="Text 13"/>
          <p:cNvSpPr txBox="1"/>
          <p:nvPr/>
        </p:nvSpPr>
        <p:spPr>
          <a:xfrm>
            <a:off x="311353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Email dan kata sandi, kode email 6 digit, sesi. PIN masuk disimpan terpisah dengan hash bcrypt.</a:t>
            </a:r>
            <a:endParaRPr lang="en-US" sz="1200" dirty="0"/>
          </a:p>
        </p:txBody>
      </p:sp>
      <p:sp>
        <p:nvSpPr>
          <p:cNvPr id="19" name="Shape 14"/>
          <p:cNvSpPr/>
          <p:nvPr/>
        </p:nvSpPr>
        <p:spPr>
          <a:xfrm>
            <a:off x="507492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5"/>
          <p:cNvSpPr/>
          <p:nvPr/>
        </p:nvSpPr>
        <p:spPr>
          <a:xfrm>
            <a:off x="5330952" y="2103120"/>
            <a:ext cx="685800" cy="685800"/>
          </a:xfrm>
          <a:prstGeom prst="roundRect">
            <a:avLst>
              <a:gd name="adj" fmla="val 27000"/>
            </a:avLst>
          </a:prstGeom>
          <a:solidFill>
            <a:srgbClr val="F97316"/>
          </a:solidFill>
          <a:ln/>
        </p:spPr>
      </p:sp>
      <p:pic>
        <p:nvPicPr>
          <p:cNvPr id="21" name="Image 3" descr="preencoded.png">    </p:cNvPr>
          <p:cNvPicPr>
            <a:picLocks noChangeAspect="1"/>
          </p:cNvPicPr>
          <p:nvPr/>
        </p:nvPicPr>
        <p:blipFill>
          <a:blip r:embed="rId4"/>
          <a:stretch>
            <a:fillRect/>
          </a:stretch>
        </p:blipFill>
        <p:spPr>
          <a:xfrm>
            <a:off x="5495544" y="2267712"/>
            <a:ext cx="356616" cy="356616"/>
          </a:xfrm>
          <a:prstGeom prst="rect">
            <a:avLst/>
          </a:prstGeom>
        </p:spPr>
      </p:pic>
      <p:sp>
        <p:nvSpPr>
          <p:cNvPr id="22" name="Text 16"/>
          <p:cNvSpPr txBox="1"/>
          <p:nvPr/>
        </p:nvSpPr>
        <p:spPr>
          <a:xfrm>
            <a:off x="533095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Supabase Storage</a:t>
            </a:r>
            <a:endParaRPr lang="en-US" sz="1600" dirty="0"/>
          </a:p>
        </p:txBody>
      </p:sp>
      <p:sp>
        <p:nvSpPr>
          <p:cNvPr id="23" name="Text 17"/>
          <p:cNvSpPr txBox="1"/>
          <p:nvPr/>
        </p:nvSpPr>
        <p:spPr>
          <a:xfrm>
            <a:off x="533095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2 bucket file</a:t>
            </a:r>
            <a:endParaRPr lang="en-US" sz="1200" dirty="0"/>
          </a:p>
        </p:txBody>
      </p:sp>
      <p:sp>
        <p:nvSpPr>
          <p:cNvPr id="24" name="Text 18"/>
          <p:cNvSpPr txBox="1"/>
          <p:nvPr/>
        </p:nvSpPr>
        <p:spPr>
          <a:xfrm>
            <a:off x="533095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event-banners (gambar publik) dan complaint-attachments (privat, hanya staf dan pelapor).</a:t>
            </a:r>
            <a:endParaRPr lang="en-US" sz="1200" dirty="0"/>
          </a:p>
        </p:txBody>
      </p:sp>
      <p:sp>
        <p:nvSpPr>
          <p:cNvPr id="25" name="Shape 19"/>
          <p:cNvSpPr/>
          <p:nvPr/>
        </p:nvSpPr>
        <p:spPr>
          <a:xfrm>
            <a:off x="729234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20"/>
          <p:cNvSpPr/>
          <p:nvPr/>
        </p:nvSpPr>
        <p:spPr>
          <a:xfrm>
            <a:off x="7548372" y="2103120"/>
            <a:ext cx="685800" cy="685800"/>
          </a:xfrm>
          <a:prstGeom prst="roundRect">
            <a:avLst>
              <a:gd name="adj" fmla="val 27000"/>
            </a:avLst>
          </a:prstGeom>
          <a:solidFill>
            <a:srgbClr val="F97316"/>
          </a:solidFill>
          <a:ln/>
        </p:spPr>
      </p:sp>
      <p:pic>
        <p:nvPicPr>
          <p:cNvPr id="27" name="Image 4" descr="preencoded.png">    </p:cNvPr>
          <p:cNvPicPr>
            <a:picLocks noChangeAspect="1"/>
          </p:cNvPicPr>
          <p:nvPr/>
        </p:nvPicPr>
        <p:blipFill>
          <a:blip r:embed="rId5"/>
          <a:stretch>
            <a:fillRect/>
          </a:stretch>
        </p:blipFill>
        <p:spPr>
          <a:xfrm>
            <a:off x="7712964" y="2267712"/>
            <a:ext cx="356616" cy="356616"/>
          </a:xfrm>
          <a:prstGeom prst="rect">
            <a:avLst/>
          </a:prstGeom>
        </p:spPr>
      </p:pic>
      <p:sp>
        <p:nvSpPr>
          <p:cNvPr id="28" name="Text 21"/>
          <p:cNvSpPr txBox="1"/>
          <p:nvPr/>
        </p:nvSpPr>
        <p:spPr>
          <a:xfrm>
            <a:off x="754837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Perangkat pengguna</a:t>
            </a:r>
            <a:endParaRPr lang="en-US" sz="1600" dirty="0"/>
          </a:p>
        </p:txBody>
      </p:sp>
      <p:sp>
        <p:nvSpPr>
          <p:cNvPr id="29" name="Text 22"/>
          <p:cNvSpPr txBox="1"/>
          <p:nvPr/>
        </p:nvSpPr>
        <p:spPr>
          <a:xfrm>
            <a:off x="754837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Cookie &amp; browser</a:t>
            </a:r>
            <a:endParaRPr lang="en-US" sz="1200" dirty="0"/>
          </a:p>
        </p:txBody>
      </p:sp>
      <p:sp>
        <p:nvSpPr>
          <p:cNvPr id="30" name="Text 23"/>
          <p:cNvSpPr txBox="1"/>
          <p:nvPr/>
        </p:nvSpPr>
        <p:spPr>
          <a:xfrm>
            <a:off x="754837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Pilihan bahasa dan wilayah atau preferensi GPS. GPS langsung tetap di perangkat.</a:t>
            </a:r>
            <a:endParaRPr lang="en-US" sz="1200" dirty="0"/>
          </a:p>
        </p:txBody>
      </p:sp>
      <p:sp>
        <p:nvSpPr>
          <p:cNvPr id="31" name="Shape 24"/>
          <p:cNvSpPr/>
          <p:nvPr/>
        </p:nvSpPr>
        <p:spPr>
          <a:xfrm>
            <a:off x="9509760" y="1828800"/>
            <a:ext cx="2011680" cy="402336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5"/>
          <p:cNvSpPr/>
          <p:nvPr/>
        </p:nvSpPr>
        <p:spPr>
          <a:xfrm>
            <a:off x="9765792" y="2103120"/>
            <a:ext cx="685800" cy="685800"/>
          </a:xfrm>
          <a:prstGeom prst="roundRect">
            <a:avLst>
              <a:gd name="adj" fmla="val 27000"/>
            </a:avLst>
          </a:prstGeom>
          <a:solidFill>
            <a:srgbClr val="F97316"/>
          </a:solidFill>
          <a:ln/>
        </p:spPr>
      </p:sp>
      <p:pic>
        <p:nvPicPr>
          <p:cNvPr id="33" name="Image 5" descr="preencoded.png">    </p:cNvPr>
          <p:cNvPicPr>
            <a:picLocks noChangeAspect="1"/>
          </p:cNvPicPr>
          <p:nvPr/>
        </p:nvPicPr>
        <p:blipFill>
          <a:blip r:embed="rId6"/>
          <a:stretch>
            <a:fillRect/>
          </a:stretch>
        </p:blipFill>
        <p:spPr>
          <a:xfrm>
            <a:off x="9930384" y="2267712"/>
            <a:ext cx="356616" cy="356616"/>
          </a:xfrm>
          <a:prstGeom prst="rect">
            <a:avLst/>
          </a:prstGeom>
        </p:spPr>
      </p:pic>
      <p:sp>
        <p:nvSpPr>
          <p:cNvPr id="34" name="Text 26"/>
          <p:cNvSpPr txBox="1"/>
          <p:nvPr/>
        </p:nvSpPr>
        <p:spPr>
          <a:xfrm>
            <a:off x="9765792" y="2971800"/>
            <a:ext cx="1554480" cy="594360"/>
          </a:xfrm>
          <a:prstGeom prst="rect">
            <a:avLst/>
          </a:prstGeom>
          <a:noFill/>
          <a:ln/>
        </p:spPr>
        <p:txBody>
          <a:bodyPr wrap="square" lIns="0" tIns="0" rIns="0" bIns="0" rtlCol="0" anchor="t"/>
          <a:lstStyle/>
          <a:p>
            <a:pPr indent="0" marL="0">
              <a:buNone/>
            </a:pPr>
            <a:r>
              <a:rPr lang="en-US" sz="1600" b="1" dirty="0">
                <a:solidFill>
                  <a:srgbClr val="292524"/>
                </a:solidFill>
                <a:latin typeface="Arial" pitchFamily="34" charset="0"/>
                <a:ea typeface="Arial" pitchFamily="34" charset="-122"/>
                <a:cs typeface="Arial" pitchFamily="34" charset="-120"/>
              </a:rPr>
              <a:t>Environment Vercel</a:t>
            </a:r>
            <a:endParaRPr lang="en-US" sz="1600" dirty="0"/>
          </a:p>
        </p:txBody>
      </p:sp>
      <p:sp>
        <p:nvSpPr>
          <p:cNvPr id="35" name="Text 27"/>
          <p:cNvSpPr txBox="1"/>
          <p:nvPr/>
        </p:nvSpPr>
        <p:spPr>
          <a:xfrm>
            <a:off x="9765792" y="3566160"/>
            <a:ext cx="1554480" cy="32004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Kunci rahasia server</a:t>
            </a:r>
            <a:endParaRPr lang="en-US" sz="1200" dirty="0"/>
          </a:p>
        </p:txBody>
      </p:sp>
      <p:sp>
        <p:nvSpPr>
          <p:cNvPr id="36" name="Text 28"/>
          <p:cNvSpPr txBox="1"/>
          <p:nvPr/>
        </p:nvSpPr>
        <p:spPr>
          <a:xfrm>
            <a:off x="9765792" y="3931920"/>
            <a:ext cx="1554480" cy="1828800"/>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Service-role key, kata sandi SMTP, dan kunci notifikasi push. Hanya di server, tidak dikirim ke browser atau ke GitHub.</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MODEL DATA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41 tabel dalam lima kelompok</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18 / 24</a:t>
            </a:r>
            <a:endParaRPr lang="en-US" sz="1100" dirty="0"/>
          </a:p>
        </p:txBody>
      </p:sp>
      <p:sp>
        <p:nvSpPr>
          <p:cNvPr id="7" name="Shape 4"/>
          <p:cNvSpPr/>
          <p:nvPr/>
        </p:nvSpPr>
        <p:spPr>
          <a:xfrm>
            <a:off x="64008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68680" y="2011680"/>
            <a:ext cx="548640" cy="54864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1000354" y="2143354"/>
            <a:ext cx="285293" cy="285293"/>
          </a:xfrm>
          <a:prstGeom prst="rect">
            <a:avLst/>
          </a:prstGeom>
        </p:spPr>
      </p:pic>
      <p:sp>
        <p:nvSpPr>
          <p:cNvPr id="10" name="Text 6"/>
          <p:cNvSpPr txBox="1"/>
          <p:nvPr/>
        </p:nvSpPr>
        <p:spPr>
          <a:xfrm>
            <a:off x="150876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Pengguna</a:t>
            </a:r>
            <a:endParaRPr lang="en-US" sz="1500" dirty="0"/>
          </a:p>
        </p:txBody>
      </p:sp>
      <p:sp>
        <p:nvSpPr>
          <p:cNvPr id="11" name="Text 7"/>
          <p:cNvSpPr txBox="1"/>
          <p:nvPr/>
        </p:nvSpPr>
        <p:spPr>
          <a:xfrm>
            <a:off x="86868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10 tabel</a:t>
            </a:r>
            <a:endParaRPr lang="en-US" sz="1150" dirty="0"/>
          </a:p>
        </p:txBody>
      </p:sp>
      <p:sp>
        <p:nvSpPr>
          <p:cNvPr id="12" name="Text 8"/>
          <p:cNvSpPr txBox="1"/>
          <p:nvPr/>
        </p:nvSpPr>
        <p:spPr>
          <a:xfrm>
            <a:off x="86868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profiles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interests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user_interests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user_pins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privacy_settings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social_links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friendships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user_blocks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username_history</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reserved_usernames</a:t>
            </a:r>
            <a:endParaRPr lang="en-US" sz="1050" dirty="0"/>
          </a:p>
        </p:txBody>
      </p:sp>
      <p:sp>
        <p:nvSpPr>
          <p:cNvPr id="13" name="Shape 9"/>
          <p:cNvSpPr/>
          <p:nvPr/>
        </p:nvSpPr>
        <p:spPr>
          <a:xfrm>
            <a:off x="285750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10"/>
          <p:cNvSpPr/>
          <p:nvPr/>
        </p:nvSpPr>
        <p:spPr>
          <a:xfrm>
            <a:off x="3086100" y="2011680"/>
            <a:ext cx="548640" cy="548640"/>
          </a:xfrm>
          <a:prstGeom prst="roundRect">
            <a:avLst>
              <a:gd name="adj" fmla="val 27000"/>
            </a:avLst>
          </a:prstGeom>
          <a:solidFill>
            <a:srgbClr val="F97316"/>
          </a:solidFill>
          <a:ln/>
        </p:spPr>
      </p:sp>
      <p:pic>
        <p:nvPicPr>
          <p:cNvPr id="15" name="Image 2" descr="preencoded.png">    </p:cNvPr>
          <p:cNvPicPr>
            <a:picLocks noChangeAspect="1"/>
          </p:cNvPicPr>
          <p:nvPr/>
        </p:nvPicPr>
        <p:blipFill>
          <a:blip r:embed="rId3"/>
          <a:stretch>
            <a:fillRect/>
          </a:stretch>
        </p:blipFill>
        <p:spPr>
          <a:xfrm>
            <a:off x="3217774" y="2143354"/>
            <a:ext cx="285293" cy="285293"/>
          </a:xfrm>
          <a:prstGeom prst="rect">
            <a:avLst/>
          </a:prstGeom>
        </p:spPr>
      </p:pic>
      <p:sp>
        <p:nvSpPr>
          <p:cNvPr id="16" name="Text 11"/>
          <p:cNvSpPr txBox="1"/>
          <p:nvPr/>
        </p:nvSpPr>
        <p:spPr>
          <a:xfrm>
            <a:off x="372618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Aktivitas</a:t>
            </a:r>
            <a:endParaRPr lang="en-US" sz="1500" dirty="0"/>
          </a:p>
        </p:txBody>
      </p:sp>
      <p:sp>
        <p:nvSpPr>
          <p:cNvPr id="17" name="Text 12"/>
          <p:cNvSpPr txBox="1"/>
          <p:nvPr/>
        </p:nvSpPr>
        <p:spPr>
          <a:xfrm>
            <a:off x="308610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9 tabel</a:t>
            </a:r>
            <a:endParaRPr lang="en-US" sz="1150" dirty="0"/>
          </a:p>
        </p:txBody>
      </p:sp>
      <p:sp>
        <p:nvSpPr>
          <p:cNvPr id="18" name="Text 13"/>
          <p:cNvSpPr txBox="1"/>
          <p:nvPr/>
        </p:nvSpPr>
        <p:spPr>
          <a:xfrm>
            <a:off x="308610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categories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event_participants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event_contacts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event_waitlist</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event_checkin_codes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event_ratings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event_comments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comment_reports</a:t>
            </a:r>
            <a:endParaRPr lang="en-US" sz="1050" dirty="0"/>
          </a:p>
        </p:txBody>
      </p:sp>
      <p:sp>
        <p:nvSpPr>
          <p:cNvPr id="19" name="Shape 14"/>
          <p:cNvSpPr/>
          <p:nvPr/>
        </p:nvSpPr>
        <p:spPr>
          <a:xfrm>
            <a:off x="507492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Shape 15"/>
          <p:cNvSpPr/>
          <p:nvPr/>
        </p:nvSpPr>
        <p:spPr>
          <a:xfrm>
            <a:off x="5303520" y="2011680"/>
            <a:ext cx="548640" cy="548640"/>
          </a:xfrm>
          <a:prstGeom prst="roundRect">
            <a:avLst>
              <a:gd name="adj" fmla="val 27000"/>
            </a:avLst>
          </a:prstGeom>
          <a:solidFill>
            <a:srgbClr val="F97316"/>
          </a:solidFill>
          <a:ln/>
        </p:spPr>
      </p:sp>
      <p:pic>
        <p:nvPicPr>
          <p:cNvPr id="21" name="Image 3" descr="preencoded.png">    </p:cNvPr>
          <p:cNvPicPr>
            <a:picLocks noChangeAspect="1"/>
          </p:cNvPicPr>
          <p:nvPr/>
        </p:nvPicPr>
        <p:blipFill>
          <a:blip r:embed="rId4"/>
          <a:stretch>
            <a:fillRect/>
          </a:stretch>
        </p:blipFill>
        <p:spPr>
          <a:xfrm>
            <a:off x="5435194" y="2143354"/>
            <a:ext cx="285293" cy="285293"/>
          </a:xfrm>
          <a:prstGeom prst="rect">
            <a:avLst/>
          </a:prstGeom>
        </p:spPr>
      </p:pic>
      <p:sp>
        <p:nvSpPr>
          <p:cNvPr id="22" name="Text 16"/>
          <p:cNvSpPr txBox="1"/>
          <p:nvPr/>
        </p:nvSpPr>
        <p:spPr>
          <a:xfrm>
            <a:off x="594360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Grup &amp; pesan</a:t>
            </a:r>
            <a:endParaRPr lang="en-US" sz="1500" dirty="0"/>
          </a:p>
        </p:txBody>
      </p:sp>
      <p:sp>
        <p:nvSpPr>
          <p:cNvPr id="23" name="Text 17"/>
          <p:cNvSpPr txBox="1"/>
          <p:nvPr/>
        </p:nvSpPr>
        <p:spPr>
          <a:xfrm>
            <a:off x="530352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8 tabel</a:t>
            </a:r>
            <a:endParaRPr lang="en-US" sz="1150" dirty="0"/>
          </a:p>
        </p:txBody>
      </p:sp>
      <p:sp>
        <p:nvSpPr>
          <p:cNvPr id="24" name="Text 18"/>
          <p:cNvSpPr txBox="1"/>
          <p:nvPr/>
        </p:nvSpPr>
        <p:spPr>
          <a:xfrm>
            <a:off x="530352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groups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group_members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play_requests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play_request_interests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conversations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conversation_members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messages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message_reports</a:t>
            </a:r>
            <a:endParaRPr lang="en-US" sz="1050" dirty="0"/>
          </a:p>
        </p:txBody>
      </p:sp>
      <p:sp>
        <p:nvSpPr>
          <p:cNvPr id="25" name="Shape 19"/>
          <p:cNvSpPr/>
          <p:nvPr/>
        </p:nvSpPr>
        <p:spPr>
          <a:xfrm>
            <a:off x="729234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20"/>
          <p:cNvSpPr/>
          <p:nvPr/>
        </p:nvSpPr>
        <p:spPr>
          <a:xfrm>
            <a:off x="7520940" y="2011680"/>
            <a:ext cx="548640" cy="548640"/>
          </a:xfrm>
          <a:prstGeom prst="roundRect">
            <a:avLst>
              <a:gd name="adj" fmla="val 27000"/>
            </a:avLst>
          </a:prstGeom>
          <a:solidFill>
            <a:srgbClr val="F97316"/>
          </a:solidFill>
          <a:ln/>
        </p:spPr>
      </p:sp>
      <p:pic>
        <p:nvPicPr>
          <p:cNvPr id="27" name="Image 4" descr="preencoded.png">    </p:cNvPr>
          <p:cNvPicPr>
            <a:picLocks noChangeAspect="1"/>
          </p:cNvPicPr>
          <p:nvPr/>
        </p:nvPicPr>
        <p:blipFill>
          <a:blip r:embed="rId5"/>
          <a:stretch>
            <a:fillRect/>
          </a:stretch>
        </p:blipFill>
        <p:spPr>
          <a:xfrm>
            <a:off x="7652614" y="2143354"/>
            <a:ext cx="285293" cy="285293"/>
          </a:xfrm>
          <a:prstGeom prst="rect">
            <a:avLst/>
          </a:prstGeom>
        </p:spPr>
      </p:pic>
      <p:sp>
        <p:nvSpPr>
          <p:cNvPr id="28" name="Text 21"/>
          <p:cNvSpPr txBox="1"/>
          <p:nvPr/>
        </p:nvSpPr>
        <p:spPr>
          <a:xfrm>
            <a:off x="816102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Bantuan</a:t>
            </a:r>
            <a:endParaRPr lang="en-US" sz="1500" dirty="0"/>
          </a:p>
        </p:txBody>
      </p:sp>
      <p:sp>
        <p:nvSpPr>
          <p:cNvPr id="29" name="Text 22"/>
          <p:cNvSpPr txBox="1"/>
          <p:nvPr/>
        </p:nvSpPr>
        <p:spPr>
          <a:xfrm>
            <a:off x="752094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8 tabel</a:t>
            </a:r>
            <a:endParaRPr lang="en-US" sz="1150" dirty="0"/>
          </a:p>
        </p:txBody>
      </p:sp>
      <p:sp>
        <p:nvSpPr>
          <p:cNvPr id="30" name="Text 23"/>
          <p:cNvSpPr txBox="1"/>
          <p:nvPr/>
        </p:nvSpPr>
        <p:spPr>
          <a:xfrm>
            <a:off x="752094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complaint_messages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complaint_attachments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complaint_status_history</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notifications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notification_prefs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push_subscriptions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calendar_tokens</a:t>
            </a:r>
            <a:endParaRPr lang="en-US" sz="1050" dirty="0"/>
          </a:p>
        </p:txBody>
      </p:sp>
      <p:sp>
        <p:nvSpPr>
          <p:cNvPr id="31" name="Shape 24"/>
          <p:cNvSpPr/>
          <p:nvPr/>
        </p:nvSpPr>
        <p:spPr>
          <a:xfrm>
            <a:off x="9509760" y="1783080"/>
            <a:ext cx="2011680" cy="4160520"/>
          </a:xfrm>
          <a:prstGeom prst="roundRect">
            <a:avLst>
              <a:gd name="adj" fmla="val 9091"/>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32" name="Shape 25"/>
          <p:cNvSpPr/>
          <p:nvPr/>
        </p:nvSpPr>
        <p:spPr>
          <a:xfrm>
            <a:off x="9738360" y="2011680"/>
            <a:ext cx="548640" cy="548640"/>
          </a:xfrm>
          <a:prstGeom prst="roundRect">
            <a:avLst>
              <a:gd name="adj" fmla="val 27000"/>
            </a:avLst>
          </a:prstGeom>
          <a:solidFill>
            <a:srgbClr val="F97316"/>
          </a:solidFill>
          <a:ln/>
        </p:spPr>
      </p:sp>
      <p:pic>
        <p:nvPicPr>
          <p:cNvPr id="33" name="Image 5" descr="preencoded.png">    </p:cNvPr>
          <p:cNvPicPr>
            <a:picLocks noChangeAspect="1"/>
          </p:cNvPicPr>
          <p:nvPr/>
        </p:nvPicPr>
        <p:blipFill>
          <a:blip r:embed="rId6"/>
          <a:stretch>
            <a:fillRect/>
          </a:stretch>
        </p:blipFill>
        <p:spPr>
          <a:xfrm>
            <a:off x="9870034" y="2143354"/>
            <a:ext cx="285293" cy="285293"/>
          </a:xfrm>
          <a:prstGeom prst="rect">
            <a:avLst/>
          </a:prstGeom>
        </p:spPr>
      </p:pic>
      <p:sp>
        <p:nvSpPr>
          <p:cNvPr id="34" name="Text 26"/>
          <p:cNvSpPr txBox="1"/>
          <p:nvPr/>
        </p:nvSpPr>
        <p:spPr>
          <a:xfrm>
            <a:off x="10378440" y="2011680"/>
            <a:ext cx="1051560" cy="548640"/>
          </a:xfrm>
          <a:prstGeom prst="rect">
            <a:avLst/>
          </a:prstGeom>
          <a:noFill/>
          <a:ln/>
        </p:spPr>
        <p:txBody>
          <a:bodyPr wrap="square" lIns="0" tIns="0" rIns="0" bIns="0" rtlCol="0" anchor="ctr"/>
          <a:lstStyle/>
          <a:p>
            <a:pPr indent="0" marL="0">
              <a:buNone/>
            </a:pPr>
            <a:r>
              <a:rPr lang="en-US" sz="1500" b="1" dirty="0">
                <a:solidFill>
                  <a:srgbClr val="292524"/>
                </a:solidFill>
                <a:latin typeface="Arial" pitchFamily="34" charset="0"/>
                <a:ea typeface="Arial" pitchFamily="34" charset="-122"/>
                <a:cs typeface="Arial" pitchFamily="34" charset="-120"/>
              </a:rPr>
              <a:t>Admin &amp; keamanan</a:t>
            </a:r>
            <a:endParaRPr lang="en-US" sz="1500" dirty="0"/>
          </a:p>
        </p:txBody>
      </p:sp>
      <p:sp>
        <p:nvSpPr>
          <p:cNvPr id="35" name="Text 27"/>
          <p:cNvSpPr txBox="1"/>
          <p:nvPr/>
        </p:nvSpPr>
        <p:spPr>
          <a:xfrm>
            <a:off x="9738360" y="2651760"/>
            <a:ext cx="1554480" cy="274320"/>
          </a:xfrm>
          <a:prstGeom prst="rect">
            <a:avLst/>
          </a:prstGeom>
          <a:noFill/>
          <a:ln/>
        </p:spPr>
        <p:txBody>
          <a:bodyPr wrap="square" lIns="0" tIns="0" rIns="0" bIns="0" rtlCol="0" anchor="ctr"/>
          <a:lstStyle/>
          <a:p>
            <a:pPr indent="0" marL="0">
              <a:buNone/>
            </a:pPr>
            <a:r>
              <a:rPr lang="en-US" sz="1150" b="1" dirty="0">
                <a:solidFill>
                  <a:srgbClr val="C2410C"/>
                </a:solidFill>
                <a:latin typeface="Arial" pitchFamily="34" charset="0"/>
                <a:ea typeface="Arial" pitchFamily="34" charset="-122"/>
                <a:cs typeface="Arial" pitchFamily="34" charset="-120"/>
              </a:rPr>
              <a:t>6 tabel</a:t>
            </a:r>
            <a:endParaRPr lang="en-US" sz="1150" dirty="0"/>
          </a:p>
        </p:txBody>
      </p:sp>
      <p:sp>
        <p:nvSpPr>
          <p:cNvPr id="36" name="Text 28"/>
          <p:cNvSpPr txBox="1"/>
          <p:nvPr/>
        </p:nvSpPr>
        <p:spPr>
          <a:xfrm>
            <a:off x="9738360" y="2990088"/>
            <a:ext cx="1645920" cy="2834640"/>
          </a:xfrm>
          <a:prstGeom prst="rect">
            <a:avLst/>
          </a:prstGeom>
          <a:noFill/>
          <a:ln/>
        </p:spPr>
        <p:txBody>
          <a:bodyPr wrap="square" lIns="0" tIns="0" rIns="0" bIns="0" rtlCol="0" anchor="t"/>
          <a:lstStyle/>
          <a:p>
            <a:pPr indent="0" marL="0">
              <a:spcAft>
                <a:spcPts val="300"/>
              </a:spcAft>
              <a:buNone/>
            </a:pPr>
            <a:r>
              <a:rPr lang="en-US" sz="1050" dirty="0">
                <a:solidFill>
                  <a:srgbClr val="44403C"/>
                </a:solidFill>
                <a:latin typeface="Arial" pitchFamily="34" charset="0"/>
                <a:ea typeface="Arial" pitchFamily="34" charset="-122"/>
                <a:cs typeface="Arial" pitchFamily="34" charset="-120"/>
              </a:rPr>
              <a:t>audit_logs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security_events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admin_events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platform_settings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saved_views</a:t>
            </a:r>
            <a:endParaRPr lang="en-US" sz="1050" dirty="0"/>
          </a:p>
          <a:p>
            <a:pPr indent="0" marL="0">
              <a:spcAft>
                <a:spcPts val="300"/>
              </a:spcAft>
              <a:buNone/>
            </a:pPr>
            <a:r>
              <a:rPr lang="en-US" sz="1050" dirty="0">
                <a:solidFill>
                  <a:srgbClr val="44403C"/>
                </a:solidFill>
                <a:latin typeface="Arial" pitchFamily="34" charset="0"/>
                <a:ea typeface="Arial" pitchFamily="34" charset="-122"/>
                <a:cs typeface="Arial" pitchFamily="34" charset="-120"/>
              </a:rPr>
              <a:t>export_jobs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KEAMANAN &amp; PRIVASI</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Aturan ditegakkan di database, bukan hanya di layar</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19 / 24</a:t>
            </a:r>
            <a:endParaRPr lang="en-US" sz="1100" dirty="0"/>
          </a:p>
        </p:txBody>
      </p:sp>
      <p:sp>
        <p:nvSpPr>
          <p:cNvPr id="7" name="Shape 4"/>
          <p:cNvSpPr/>
          <p:nvPr/>
        </p:nvSpPr>
        <p:spPr>
          <a:xfrm>
            <a:off x="640080" y="1828800"/>
            <a:ext cx="731520" cy="731520"/>
          </a:xfrm>
          <a:prstGeom prst="roundRect">
            <a:avLst>
              <a:gd name="adj" fmla="val 27000"/>
            </a:avLst>
          </a:prstGeom>
          <a:solidFill>
            <a:srgbClr val="F8E8D0"/>
          </a:solidFill>
          <a:ln/>
        </p:spPr>
      </p:sp>
      <p:pic>
        <p:nvPicPr>
          <p:cNvPr id="8" name="Image 1" descr="preencoded.png">    </p:cNvPr>
          <p:cNvPicPr>
            <a:picLocks noChangeAspect="1"/>
          </p:cNvPicPr>
          <p:nvPr/>
        </p:nvPicPr>
        <p:blipFill>
          <a:blip r:embed="rId2"/>
          <a:stretch>
            <a:fillRect/>
          </a:stretch>
        </p:blipFill>
        <p:spPr>
          <a:xfrm>
            <a:off x="815645" y="2004365"/>
            <a:ext cx="380390" cy="380390"/>
          </a:xfrm>
          <a:prstGeom prst="rect">
            <a:avLst/>
          </a:prstGeom>
        </p:spPr>
      </p:pic>
      <p:sp>
        <p:nvSpPr>
          <p:cNvPr id="9" name="Text 5"/>
          <p:cNvSpPr txBox="1"/>
          <p:nvPr/>
        </p:nvSpPr>
        <p:spPr>
          <a:xfrm>
            <a:off x="1600200" y="18105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Row-level security di semua tabel</a:t>
            </a:r>
            <a:endParaRPr lang="en-US" sz="1700" dirty="0"/>
          </a:p>
        </p:txBody>
      </p:sp>
      <p:sp>
        <p:nvSpPr>
          <p:cNvPr id="10" name="Text 6"/>
          <p:cNvSpPr txBox="1"/>
          <p:nvPr/>
        </p:nvSpPr>
        <p:spPr>
          <a:xfrm>
            <a:off x="1600200" y="21945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Ke-41 tabel memakai RLS. 190+ fungsi SQL mengecek peran sebelum bertindak.</a:t>
            </a:r>
            <a:endParaRPr lang="en-US" sz="1300" dirty="0"/>
          </a:p>
        </p:txBody>
      </p:sp>
      <p:sp>
        <p:nvSpPr>
          <p:cNvPr id="11" name="Shape 7"/>
          <p:cNvSpPr/>
          <p:nvPr/>
        </p:nvSpPr>
        <p:spPr>
          <a:xfrm>
            <a:off x="6217920" y="1828800"/>
            <a:ext cx="731520" cy="731520"/>
          </a:xfrm>
          <a:prstGeom prst="roundRect">
            <a:avLst>
              <a:gd name="adj" fmla="val 27000"/>
            </a:avLst>
          </a:prstGeom>
          <a:solidFill>
            <a:srgbClr val="F8E8D0"/>
          </a:solidFill>
          <a:ln/>
        </p:spPr>
      </p:sp>
      <p:pic>
        <p:nvPicPr>
          <p:cNvPr id="12" name="Image 2" descr="preencoded.png">    </p:cNvPr>
          <p:cNvPicPr>
            <a:picLocks noChangeAspect="1"/>
          </p:cNvPicPr>
          <p:nvPr/>
        </p:nvPicPr>
        <p:blipFill>
          <a:blip r:embed="rId3"/>
          <a:stretch>
            <a:fillRect/>
          </a:stretch>
        </p:blipFill>
        <p:spPr>
          <a:xfrm>
            <a:off x="6393485" y="2004365"/>
            <a:ext cx="380390" cy="380390"/>
          </a:xfrm>
          <a:prstGeom prst="rect">
            <a:avLst/>
          </a:prstGeom>
        </p:spPr>
      </p:pic>
      <p:sp>
        <p:nvSpPr>
          <p:cNvPr id="13" name="Text 8"/>
          <p:cNvSpPr txBox="1"/>
          <p:nvPr/>
        </p:nvSpPr>
        <p:spPr>
          <a:xfrm>
            <a:off x="7178040" y="18105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Privasi lokasi</a:t>
            </a:r>
            <a:endParaRPr lang="en-US" sz="1700" dirty="0"/>
          </a:p>
        </p:txBody>
      </p:sp>
      <p:sp>
        <p:nvSpPr>
          <p:cNvPr id="14" name="Text 9"/>
          <p:cNvSpPr txBox="1"/>
          <p:nvPr/>
        </p:nvSpPr>
        <p:spPr>
          <a:xfrm>
            <a:off x="7178040" y="21945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GPS dipakai per permintaan dan tidak disimpan. Profil hanya menyimpan titik tengah wilayah.</a:t>
            </a:r>
            <a:endParaRPr lang="en-US" sz="1300" dirty="0"/>
          </a:p>
        </p:txBody>
      </p:sp>
      <p:sp>
        <p:nvSpPr>
          <p:cNvPr id="15" name="Shape 10"/>
          <p:cNvSpPr/>
          <p:nvPr/>
        </p:nvSpPr>
        <p:spPr>
          <a:xfrm>
            <a:off x="640080" y="3200400"/>
            <a:ext cx="731520" cy="731520"/>
          </a:xfrm>
          <a:prstGeom prst="roundRect">
            <a:avLst>
              <a:gd name="adj" fmla="val 27000"/>
            </a:avLst>
          </a:prstGeom>
          <a:solidFill>
            <a:srgbClr val="F8E8D0"/>
          </a:solidFill>
          <a:ln/>
        </p:spPr>
      </p:sp>
      <p:pic>
        <p:nvPicPr>
          <p:cNvPr id="16" name="Image 3" descr="preencoded.png">    </p:cNvPr>
          <p:cNvPicPr>
            <a:picLocks noChangeAspect="1"/>
          </p:cNvPicPr>
          <p:nvPr/>
        </p:nvPicPr>
        <p:blipFill>
          <a:blip r:embed="rId4"/>
          <a:stretch>
            <a:fillRect/>
          </a:stretch>
        </p:blipFill>
        <p:spPr>
          <a:xfrm>
            <a:off x="815645" y="3375965"/>
            <a:ext cx="380390" cy="380390"/>
          </a:xfrm>
          <a:prstGeom prst="rect">
            <a:avLst/>
          </a:prstGeom>
        </p:spPr>
      </p:pic>
      <p:sp>
        <p:nvSpPr>
          <p:cNvPr id="17" name="Text 11"/>
          <p:cNvSpPr txBox="1"/>
          <p:nvPr/>
        </p:nvSpPr>
        <p:spPr>
          <a:xfrm>
            <a:off x="1600200" y="31821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Masuk dengan PIN</a:t>
            </a:r>
            <a:endParaRPr lang="en-US" sz="1700" dirty="0"/>
          </a:p>
        </p:txBody>
      </p:sp>
      <p:sp>
        <p:nvSpPr>
          <p:cNvPr id="18" name="Text 12"/>
          <p:cNvSpPr txBox="1"/>
          <p:nvPr/>
        </p:nvSpPr>
        <p:spPr>
          <a:xfrm>
            <a:off x="1600200" y="35661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Di-hash dengan bcrypt, dikunci 15 menit setelah gagal berulang, dan dibatasi per jaringan.</a:t>
            </a:r>
            <a:endParaRPr lang="en-US" sz="1300" dirty="0"/>
          </a:p>
        </p:txBody>
      </p:sp>
      <p:sp>
        <p:nvSpPr>
          <p:cNvPr id="19" name="Shape 13"/>
          <p:cNvSpPr/>
          <p:nvPr/>
        </p:nvSpPr>
        <p:spPr>
          <a:xfrm>
            <a:off x="6217920" y="3200400"/>
            <a:ext cx="731520" cy="731520"/>
          </a:xfrm>
          <a:prstGeom prst="roundRect">
            <a:avLst>
              <a:gd name="adj" fmla="val 27000"/>
            </a:avLst>
          </a:prstGeom>
          <a:solidFill>
            <a:srgbClr val="F8E8D0"/>
          </a:solidFill>
          <a:ln/>
        </p:spPr>
      </p:sp>
      <p:pic>
        <p:nvPicPr>
          <p:cNvPr id="20" name="Image 4" descr="preencoded.png">    </p:cNvPr>
          <p:cNvPicPr>
            <a:picLocks noChangeAspect="1"/>
          </p:cNvPicPr>
          <p:nvPr/>
        </p:nvPicPr>
        <p:blipFill>
          <a:blip r:embed="rId5"/>
          <a:stretch>
            <a:fillRect/>
          </a:stretch>
        </p:blipFill>
        <p:spPr>
          <a:xfrm>
            <a:off x="6393485" y="3375965"/>
            <a:ext cx="380390" cy="380390"/>
          </a:xfrm>
          <a:prstGeom prst="rect">
            <a:avLst/>
          </a:prstGeom>
        </p:spPr>
      </p:pic>
      <p:sp>
        <p:nvSpPr>
          <p:cNvPr id="21" name="Text 14"/>
          <p:cNvSpPr txBox="1"/>
          <p:nvPr/>
        </p:nvSpPr>
        <p:spPr>
          <a:xfrm>
            <a:off x="7178040" y="31821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Data profil pribadi</a:t>
            </a:r>
            <a:endParaRPr lang="en-US" sz="1700" dirty="0"/>
          </a:p>
        </p:txBody>
      </p:sp>
      <p:sp>
        <p:nvSpPr>
          <p:cNvPr id="22" name="Text 15"/>
          <p:cNvSpPr txBox="1"/>
          <p:nvPr/>
        </p:nvSpPr>
        <p:spPr>
          <a:xfrm>
            <a:off x="7178040" y="35661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Nama lengkap, WhatsApp, usia, dan wilayah persis tidak bisa dibaca anggota lain.</a:t>
            </a:r>
            <a:endParaRPr lang="en-US" sz="1300" dirty="0"/>
          </a:p>
        </p:txBody>
      </p:sp>
      <p:sp>
        <p:nvSpPr>
          <p:cNvPr id="23" name="Shape 16"/>
          <p:cNvSpPr/>
          <p:nvPr/>
        </p:nvSpPr>
        <p:spPr>
          <a:xfrm>
            <a:off x="640080" y="4572000"/>
            <a:ext cx="731520" cy="731520"/>
          </a:xfrm>
          <a:prstGeom prst="roundRect">
            <a:avLst>
              <a:gd name="adj" fmla="val 27000"/>
            </a:avLst>
          </a:prstGeom>
          <a:solidFill>
            <a:srgbClr val="F8E8D0"/>
          </a:solidFill>
          <a:ln/>
        </p:spPr>
      </p:sp>
      <p:pic>
        <p:nvPicPr>
          <p:cNvPr id="24" name="Image 5" descr="preencoded.png">    </p:cNvPr>
          <p:cNvPicPr>
            <a:picLocks noChangeAspect="1"/>
          </p:cNvPicPr>
          <p:nvPr/>
        </p:nvPicPr>
        <p:blipFill>
          <a:blip r:embed="rId6"/>
          <a:stretch>
            <a:fillRect/>
          </a:stretch>
        </p:blipFill>
        <p:spPr>
          <a:xfrm>
            <a:off x="815645" y="4747565"/>
            <a:ext cx="380390" cy="380390"/>
          </a:xfrm>
          <a:prstGeom prst="rect">
            <a:avLst/>
          </a:prstGeom>
        </p:spPr>
      </p:pic>
      <p:sp>
        <p:nvSpPr>
          <p:cNvPr id="25" name="Text 17"/>
          <p:cNvSpPr txBox="1"/>
          <p:nvPr/>
        </p:nvSpPr>
        <p:spPr>
          <a:xfrm>
            <a:off x="1600200" y="45537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Jejak audit</a:t>
            </a:r>
            <a:endParaRPr lang="en-US" sz="1700" dirty="0"/>
          </a:p>
        </p:txBody>
      </p:sp>
      <p:sp>
        <p:nvSpPr>
          <p:cNvPr id="26" name="Text 18"/>
          <p:cNvSpPr txBox="1"/>
          <p:nvPr/>
        </p:nvSpPr>
        <p:spPr>
          <a:xfrm>
            <a:off x="1600200" y="49377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Setiap perubahan oleh admin masuk ke log audit yang tidak bisa diubah; kejadian keamanan dicatat.</a:t>
            </a:r>
            <a:endParaRPr lang="en-US" sz="1300" dirty="0"/>
          </a:p>
        </p:txBody>
      </p:sp>
      <p:sp>
        <p:nvSpPr>
          <p:cNvPr id="27" name="Shape 19"/>
          <p:cNvSpPr/>
          <p:nvPr/>
        </p:nvSpPr>
        <p:spPr>
          <a:xfrm>
            <a:off x="6217920" y="4572000"/>
            <a:ext cx="731520" cy="731520"/>
          </a:xfrm>
          <a:prstGeom prst="roundRect">
            <a:avLst>
              <a:gd name="adj" fmla="val 27000"/>
            </a:avLst>
          </a:prstGeom>
          <a:solidFill>
            <a:srgbClr val="F8E8D0"/>
          </a:solidFill>
          <a:ln/>
        </p:spPr>
      </p:sp>
      <p:pic>
        <p:nvPicPr>
          <p:cNvPr id="28" name="Image 6" descr="preencoded.png">    </p:cNvPr>
          <p:cNvPicPr>
            <a:picLocks noChangeAspect="1"/>
          </p:cNvPicPr>
          <p:nvPr/>
        </p:nvPicPr>
        <p:blipFill>
          <a:blip r:embed="rId7"/>
          <a:stretch>
            <a:fillRect/>
          </a:stretch>
        </p:blipFill>
        <p:spPr>
          <a:xfrm>
            <a:off x="6393485" y="4747565"/>
            <a:ext cx="380390" cy="380390"/>
          </a:xfrm>
          <a:prstGeom prst="rect">
            <a:avLst/>
          </a:prstGeom>
        </p:spPr>
      </p:pic>
      <p:sp>
        <p:nvSpPr>
          <p:cNvPr id="29" name="Text 20"/>
          <p:cNvSpPr txBox="1"/>
          <p:nvPr/>
        </p:nvSpPr>
        <p:spPr>
          <a:xfrm>
            <a:off x="7178040" y="4553712"/>
            <a:ext cx="4389120" cy="365760"/>
          </a:xfrm>
          <a:prstGeom prst="rect">
            <a:avLst/>
          </a:prstGeom>
          <a:noFill/>
          <a:ln/>
        </p:spPr>
        <p:txBody>
          <a:bodyPr wrap="square" lIns="0" tIns="0" rIns="0" bIns="0" rtlCol="0" anchor="ctr"/>
          <a:lstStyle/>
          <a:p>
            <a:pPr indent="0" marL="0">
              <a:buNone/>
            </a:pPr>
            <a:r>
              <a:rPr lang="en-US" sz="1700" b="1" dirty="0">
                <a:solidFill>
                  <a:srgbClr val="292524"/>
                </a:solidFill>
                <a:latin typeface="Arial" pitchFamily="34" charset="0"/>
                <a:ea typeface="Arial" pitchFamily="34" charset="-122"/>
                <a:cs typeface="Arial" pitchFamily="34" charset="-120"/>
              </a:rPr>
              <a:t>Keamanan komunitas</a:t>
            </a:r>
            <a:endParaRPr lang="en-US" sz="1700" dirty="0"/>
          </a:p>
        </p:txBody>
      </p:sp>
      <p:sp>
        <p:nvSpPr>
          <p:cNvPr id="30" name="Text 21"/>
          <p:cNvSpPr txBox="1"/>
          <p:nvPr/>
        </p:nvSpPr>
        <p:spPr>
          <a:xfrm>
            <a:off x="7178040" y="4937760"/>
            <a:ext cx="4389120" cy="731520"/>
          </a:xfrm>
          <a:prstGeom prst="rect">
            <a:avLst/>
          </a:prstGeom>
          <a:noFill/>
          <a:ln/>
        </p:spPr>
        <p:txBody>
          <a:bodyPr wrap="square" lIns="0" tIns="0" rIns="0" bIns="0" rtlCol="0" anchor="t"/>
          <a:lstStyle/>
          <a:p>
            <a:pPr indent="0" marL="0">
              <a:buNone/>
            </a:pPr>
            <a:r>
              <a:rPr lang="en-US" sz="1300" dirty="0">
                <a:solidFill>
                  <a:srgbClr val="78716C"/>
                </a:solidFill>
                <a:latin typeface="Arial" pitchFamily="34" charset="0"/>
                <a:ea typeface="Arial" pitchFamily="34" charset="-122"/>
                <a:cs typeface="Arial" pitchFamily="34" charset="-120"/>
              </a:rPr>
              <a:t>Laporkan komentar dan pesan, blokir pengguna, dan kirim keluhan ke staf.</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FED7AA"/>
                </a:solidFill>
                <a:latin typeface="Arial" pitchFamily="34" charset="0"/>
                <a:ea typeface="Arial" pitchFamily="34" charset="-122"/>
                <a:cs typeface="Arial" pitchFamily="34" charset="-120"/>
              </a:rPr>
              <a:t>05</a:t>
            </a:r>
            <a:endParaRPr lang="en-US" sz="7200" dirty="0"/>
          </a:p>
        </p:txBody>
      </p:sp>
      <p:sp>
        <p:nvSpPr>
          <p:cNvPr id="3" name="Text 1"/>
          <p:cNvSpPr txBox="1"/>
          <p:nvPr/>
        </p:nvSpPr>
        <p:spPr>
          <a:xfrm>
            <a:off x="731520" y="3063240"/>
            <a:ext cx="10515600" cy="1005840"/>
          </a:xfrm>
          <a:prstGeom prst="rect">
            <a:avLst/>
          </a:prstGeom>
          <a:noFill/>
          <a:ln/>
        </p:spPr>
        <p:txBody>
          <a:bodyPr wrap="square" lIns="0" tIns="0" rIns="0" bIns="0" rtlCol="0" anchor="ctr"/>
          <a:lstStyle/>
          <a:p>
            <a:pPr indent="0" marL="0">
              <a:buNone/>
            </a:pPr>
            <a:r>
              <a:rPr lang="en-US" sz="5400" b="1" dirty="0">
                <a:solidFill>
                  <a:srgbClr val="FFF8ED"/>
                </a:solidFill>
                <a:latin typeface="Arial" pitchFamily="34" charset="0"/>
                <a:ea typeface="Arial" pitchFamily="34" charset="-122"/>
                <a:cs typeface="Arial" pitchFamily="34" charset="-120"/>
              </a:rPr>
              <a:t>Hasil akhir</a:t>
            </a:r>
            <a:endParaRPr lang="en-US" sz="5400" dirty="0"/>
          </a:p>
        </p:txBody>
      </p:sp>
      <p:sp>
        <p:nvSpPr>
          <p:cNvPr id="4" name="Text 2"/>
          <p:cNvSpPr txBox="1"/>
          <p:nvPr/>
        </p:nvSpPr>
        <p:spPr>
          <a:xfrm>
            <a:off x="731520" y="4114800"/>
            <a:ext cx="9601200" cy="548640"/>
          </a:xfrm>
          <a:prstGeom prst="rect">
            <a:avLst/>
          </a:prstGeom>
          <a:noFill/>
          <a:ln/>
        </p:spPr>
        <p:txBody>
          <a:bodyPr wrap="square" lIns="0" tIns="0" rIns="0" bIns="0" rtlCol="0" anchor="ctr"/>
          <a:lstStyle/>
          <a:p>
            <a:pPr indent="0" marL="0">
              <a:buNone/>
            </a:pPr>
            <a:r>
              <a:rPr lang="en-US" sz="2000" dirty="0">
                <a:solidFill>
                  <a:srgbClr val="FFF8ED"/>
                </a:solidFill>
                <a:latin typeface="Arial" pitchFamily="34" charset="0"/>
                <a:ea typeface="Arial" pitchFamily="34" charset="-122"/>
                <a:cs typeface="Arial" pitchFamily="34" charset="-120"/>
              </a:rPr>
              <a:t>Apa yang kami hasilkan, dan langkah berikutnya</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HASIL AKHIR</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Yang kami hasilkan</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21 / 24</a:t>
            </a:r>
            <a:endParaRPr lang="en-US" sz="1100" dirty="0"/>
          </a:p>
        </p:txBody>
      </p:sp>
      <p:sp>
        <p:nvSpPr>
          <p:cNvPr id="7" name="Shape 4"/>
          <p:cNvSpPr/>
          <p:nvPr/>
        </p:nvSpPr>
        <p:spPr>
          <a:xfrm>
            <a:off x="64008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91440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52</a:t>
            </a:r>
            <a:endParaRPr lang="en-US" sz="4400" dirty="0"/>
          </a:p>
        </p:txBody>
      </p:sp>
      <p:sp>
        <p:nvSpPr>
          <p:cNvPr id="9" name="Text 6"/>
          <p:cNvSpPr txBox="1"/>
          <p:nvPr/>
        </p:nvSpPr>
        <p:spPr>
          <a:xfrm>
            <a:off x="91440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layar</a:t>
            </a:r>
            <a:endParaRPr lang="en-US" sz="1600" dirty="0"/>
          </a:p>
        </p:txBody>
      </p:sp>
      <p:sp>
        <p:nvSpPr>
          <p:cNvPr id="10" name="Text 7"/>
          <p:cNvSpPr txBox="1"/>
          <p:nvPr/>
        </p:nvSpPr>
        <p:spPr>
          <a:xfrm>
            <a:off x="91440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Aplikasi anggota, admin, dan masuk</a:t>
            </a:r>
            <a:endParaRPr lang="en-US" sz="1250" dirty="0"/>
          </a:p>
        </p:txBody>
      </p:sp>
      <p:sp>
        <p:nvSpPr>
          <p:cNvPr id="11" name="Shape 8"/>
          <p:cNvSpPr/>
          <p:nvPr/>
        </p:nvSpPr>
        <p:spPr>
          <a:xfrm>
            <a:off x="432054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459486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74</a:t>
            </a:r>
            <a:endParaRPr lang="en-US" sz="4400" dirty="0"/>
          </a:p>
        </p:txBody>
      </p:sp>
      <p:sp>
        <p:nvSpPr>
          <p:cNvPr id="13" name="Text 10"/>
          <p:cNvSpPr txBox="1"/>
          <p:nvPr/>
        </p:nvSpPr>
        <p:spPr>
          <a:xfrm>
            <a:off x="459486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komponen UI</a:t>
            </a:r>
            <a:endParaRPr lang="en-US" sz="1600" dirty="0"/>
          </a:p>
        </p:txBody>
      </p:sp>
      <p:sp>
        <p:nvSpPr>
          <p:cNvPr id="14" name="Text 11"/>
          <p:cNvSpPr txBox="1"/>
          <p:nvPr/>
        </p:nvSpPr>
        <p:spPr>
          <a:xfrm>
            <a:off x="459486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Blok penyusun yang dipakai bersama</a:t>
            </a:r>
            <a:endParaRPr lang="en-US" sz="1250" dirty="0"/>
          </a:p>
        </p:txBody>
      </p:sp>
      <p:sp>
        <p:nvSpPr>
          <p:cNvPr id="15" name="Shape 12"/>
          <p:cNvSpPr/>
          <p:nvPr/>
        </p:nvSpPr>
        <p:spPr>
          <a:xfrm>
            <a:off x="8001000" y="178308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8275320" y="201168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25,6 rb</a:t>
            </a:r>
            <a:endParaRPr lang="en-US" sz="4400" dirty="0"/>
          </a:p>
        </p:txBody>
      </p:sp>
      <p:sp>
        <p:nvSpPr>
          <p:cNvPr id="17" name="Text 14"/>
          <p:cNvSpPr txBox="1"/>
          <p:nvPr/>
        </p:nvSpPr>
        <p:spPr>
          <a:xfrm>
            <a:off x="8275320" y="278892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baris TypeScript</a:t>
            </a:r>
            <a:endParaRPr lang="en-US" sz="1600" dirty="0"/>
          </a:p>
        </p:txBody>
      </p:sp>
      <p:sp>
        <p:nvSpPr>
          <p:cNvPr id="18" name="Text 15"/>
          <p:cNvSpPr txBox="1"/>
          <p:nvPr/>
        </p:nvSpPr>
        <p:spPr>
          <a:xfrm>
            <a:off x="8275320" y="313639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Di 194 file sumber, 43 unit test</a:t>
            </a:r>
            <a:endParaRPr lang="en-US" sz="1250" dirty="0"/>
          </a:p>
        </p:txBody>
      </p:sp>
      <p:sp>
        <p:nvSpPr>
          <p:cNvPr id="19" name="Shape 16"/>
          <p:cNvSpPr/>
          <p:nvPr/>
        </p:nvSpPr>
        <p:spPr>
          <a:xfrm>
            <a:off x="64008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91440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5,9 rb</a:t>
            </a:r>
            <a:endParaRPr lang="en-US" sz="4400" dirty="0"/>
          </a:p>
        </p:txBody>
      </p:sp>
      <p:sp>
        <p:nvSpPr>
          <p:cNvPr id="21" name="Text 18"/>
          <p:cNvSpPr txBox="1"/>
          <p:nvPr/>
        </p:nvSpPr>
        <p:spPr>
          <a:xfrm>
            <a:off x="91440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baris SQL</a:t>
            </a:r>
            <a:endParaRPr lang="en-US" sz="1600" dirty="0"/>
          </a:p>
        </p:txBody>
      </p:sp>
      <p:sp>
        <p:nvSpPr>
          <p:cNvPr id="22" name="Text 19"/>
          <p:cNvSpPr txBox="1"/>
          <p:nvPr/>
        </p:nvSpPr>
        <p:spPr>
          <a:xfrm>
            <a:off x="91440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Skema plus 26 migrasi</a:t>
            </a:r>
            <a:endParaRPr lang="en-US" sz="1250" dirty="0"/>
          </a:p>
        </p:txBody>
      </p:sp>
      <p:sp>
        <p:nvSpPr>
          <p:cNvPr id="23" name="Shape 20"/>
          <p:cNvSpPr/>
          <p:nvPr/>
        </p:nvSpPr>
        <p:spPr>
          <a:xfrm>
            <a:off x="432054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459486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41</a:t>
            </a:r>
            <a:endParaRPr lang="en-US" sz="4400" dirty="0"/>
          </a:p>
        </p:txBody>
      </p:sp>
      <p:sp>
        <p:nvSpPr>
          <p:cNvPr id="25" name="Text 22"/>
          <p:cNvSpPr txBox="1"/>
          <p:nvPr/>
        </p:nvSpPr>
        <p:spPr>
          <a:xfrm>
            <a:off x="459486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tabel database</a:t>
            </a:r>
            <a:endParaRPr lang="en-US" sz="1600" dirty="0"/>
          </a:p>
        </p:txBody>
      </p:sp>
      <p:sp>
        <p:nvSpPr>
          <p:cNvPr id="26" name="Text 23"/>
          <p:cNvSpPr txBox="1"/>
          <p:nvPr/>
        </p:nvSpPr>
        <p:spPr>
          <a:xfrm>
            <a:off x="459486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Semua dengan row-level security</a:t>
            </a:r>
            <a:endParaRPr lang="en-US" sz="1250" dirty="0"/>
          </a:p>
        </p:txBody>
      </p:sp>
      <p:sp>
        <p:nvSpPr>
          <p:cNvPr id="27" name="Shape 24"/>
          <p:cNvSpPr/>
          <p:nvPr/>
        </p:nvSpPr>
        <p:spPr>
          <a:xfrm>
            <a:off x="8001000" y="3794760"/>
            <a:ext cx="3520440" cy="1783080"/>
          </a:xfrm>
          <a:prstGeom prst="roundRect">
            <a:avLst>
              <a:gd name="adj" fmla="val 10256"/>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Text 25"/>
          <p:cNvSpPr txBox="1"/>
          <p:nvPr/>
        </p:nvSpPr>
        <p:spPr>
          <a:xfrm>
            <a:off x="8275320" y="4023360"/>
            <a:ext cx="2971800" cy="777240"/>
          </a:xfrm>
          <a:prstGeom prst="rect">
            <a:avLst/>
          </a:prstGeom>
          <a:noFill/>
          <a:ln/>
        </p:spPr>
        <p:txBody>
          <a:bodyPr wrap="square" lIns="0" tIns="0" rIns="0" bIns="0" rtlCol="0" anchor="ctr"/>
          <a:lstStyle/>
          <a:p>
            <a:pPr indent="0" marL="0">
              <a:buNone/>
            </a:pPr>
            <a:r>
              <a:rPr lang="en-US" sz="4400" b="1" dirty="0">
                <a:solidFill>
                  <a:srgbClr val="F97316"/>
                </a:solidFill>
                <a:latin typeface="Arial" pitchFamily="34" charset="0"/>
                <a:ea typeface="Arial" pitchFamily="34" charset="-122"/>
                <a:cs typeface="Arial" pitchFamily="34" charset="-120"/>
              </a:rPr>
              <a:t>1.700+</a:t>
            </a:r>
            <a:endParaRPr lang="en-US" sz="4400" dirty="0"/>
          </a:p>
        </p:txBody>
      </p:sp>
      <p:sp>
        <p:nvSpPr>
          <p:cNvPr id="29" name="Text 26"/>
          <p:cNvSpPr txBox="1"/>
          <p:nvPr/>
        </p:nvSpPr>
        <p:spPr>
          <a:xfrm>
            <a:off x="8275320" y="4800600"/>
            <a:ext cx="297180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teks × 2 bahasa</a:t>
            </a:r>
            <a:endParaRPr lang="en-US" sz="1600" dirty="0"/>
          </a:p>
        </p:txBody>
      </p:sp>
      <p:sp>
        <p:nvSpPr>
          <p:cNvPr id="30" name="Text 27"/>
          <p:cNvSpPr txBox="1"/>
          <p:nvPr/>
        </p:nvSpPr>
        <p:spPr>
          <a:xfrm>
            <a:off x="8275320" y="5148072"/>
            <a:ext cx="2971800" cy="320040"/>
          </a:xfrm>
          <a:prstGeom prst="rect">
            <a:avLst/>
          </a:prstGeom>
          <a:noFill/>
          <a:ln/>
        </p:spPr>
        <p:txBody>
          <a:bodyPr wrap="square" lIns="0" tIns="0" rIns="0" bIns="0" rtlCol="0" anchor="ctr"/>
          <a:lstStyle/>
          <a:p>
            <a:pPr indent="0" marL="0">
              <a:buNone/>
            </a:pPr>
            <a:r>
              <a:rPr lang="en-US" sz="1250" dirty="0">
                <a:solidFill>
                  <a:srgbClr val="78716C"/>
                </a:solidFill>
                <a:latin typeface="Arial" pitchFamily="34" charset="0"/>
                <a:ea typeface="Arial" pitchFamily="34" charset="-122"/>
                <a:cs typeface="Arial" pitchFamily="34" charset="-120"/>
              </a:rPr>
              <a:t>Bahasa Inggris dan Indonesia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HASIL AKHIR · TERBARU</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Fitur terbaru</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22 / 24</a:t>
            </a:r>
            <a:endParaRPr lang="en-US" sz="1100" dirty="0"/>
          </a:p>
        </p:txBody>
      </p:sp>
      <p:sp>
        <p:nvSpPr>
          <p:cNvPr id="7" name="Shape 4"/>
          <p:cNvSpPr/>
          <p:nvPr/>
        </p:nvSpPr>
        <p:spPr>
          <a:xfrm>
            <a:off x="640080" y="178308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Shape 5"/>
          <p:cNvSpPr/>
          <p:nvPr/>
        </p:nvSpPr>
        <p:spPr>
          <a:xfrm>
            <a:off x="822960" y="1938528"/>
            <a:ext cx="603504" cy="603504"/>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967801" y="2083369"/>
            <a:ext cx="313822" cy="313822"/>
          </a:xfrm>
          <a:prstGeom prst="rect">
            <a:avLst/>
          </a:prstGeom>
        </p:spPr>
      </p:pic>
      <p:sp>
        <p:nvSpPr>
          <p:cNvPr id="10" name="Text 6"/>
          <p:cNvSpPr txBox="1"/>
          <p:nvPr/>
        </p:nvSpPr>
        <p:spPr>
          <a:xfrm>
            <a:off x="1645920" y="189280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Daftar tunggu &amp; peringatan</a:t>
            </a:r>
            <a:endParaRPr lang="en-US" sz="1550" dirty="0"/>
          </a:p>
        </p:txBody>
      </p:sp>
      <p:sp>
        <p:nvSpPr>
          <p:cNvPr id="11" name="Text 7"/>
          <p:cNvSpPr txBox="1"/>
          <p:nvPr/>
        </p:nvSpPr>
        <p:spPr>
          <a:xfrm>
            <a:off x="1645920" y="221284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Aktivitas penuh punya daftar tunggu yang maju sendiri. Peringatan untuk aktivitas baru sesuai hobi dan grupmu.</a:t>
            </a:r>
            <a:endParaRPr lang="en-US" sz="1200" dirty="0"/>
          </a:p>
        </p:txBody>
      </p:sp>
      <p:sp>
        <p:nvSpPr>
          <p:cNvPr id="12" name="Shape 8"/>
          <p:cNvSpPr/>
          <p:nvPr/>
        </p:nvSpPr>
        <p:spPr>
          <a:xfrm>
            <a:off x="640080" y="283464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Shape 9"/>
          <p:cNvSpPr/>
          <p:nvPr/>
        </p:nvSpPr>
        <p:spPr>
          <a:xfrm>
            <a:off x="822960" y="2990088"/>
            <a:ext cx="603504" cy="603504"/>
          </a:xfrm>
          <a:prstGeom prst="roundRect">
            <a:avLst>
              <a:gd name="adj" fmla="val 27000"/>
            </a:avLst>
          </a:prstGeom>
          <a:solidFill>
            <a:srgbClr val="F97316"/>
          </a:solidFill>
          <a:ln/>
        </p:spPr>
      </p:sp>
      <p:pic>
        <p:nvPicPr>
          <p:cNvPr id="14" name="Image 2" descr="preencoded.png">    </p:cNvPr>
          <p:cNvPicPr>
            <a:picLocks noChangeAspect="1"/>
          </p:cNvPicPr>
          <p:nvPr/>
        </p:nvPicPr>
        <p:blipFill>
          <a:blip r:embed="rId3"/>
          <a:stretch>
            <a:fillRect/>
          </a:stretch>
        </p:blipFill>
        <p:spPr>
          <a:xfrm>
            <a:off x="967801" y="3134929"/>
            <a:ext cx="313822" cy="313822"/>
          </a:xfrm>
          <a:prstGeom prst="rect">
            <a:avLst/>
          </a:prstGeom>
        </p:spPr>
      </p:pic>
      <p:sp>
        <p:nvSpPr>
          <p:cNvPr id="15" name="Text 10"/>
          <p:cNvSpPr txBox="1"/>
          <p:nvPr/>
        </p:nvSpPr>
        <p:spPr>
          <a:xfrm>
            <a:off x="1645920" y="294436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Check-in &amp; penilaian</a:t>
            </a:r>
            <a:endParaRPr lang="en-US" sz="1550" dirty="0"/>
          </a:p>
        </p:txBody>
      </p:sp>
      <p:sp>
        <p:nvSpPr>
          <p:cNvPr id="16" name="Text 11"/>
          <p:cNvSpPr txBox="1"/>
          <p:nvPr/>
        </p:nvSpPr>
        <p:spPr>
          <a:xfrm>
            <a:off x="1645920" y="326440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Penyelenggara menampilkan kode QR di lokasi; yang datang menilai aktivitasnya, membentuk skor penyelenggara.</a:t>
            </a:r>
            <a:endParaRPr lang="en-US" sz="1200" dirty="0"/>
          </a:p>
        </p:txBody>
      </p:sp>
      <p:sp>
        <p:nvSpPr>
          <p:cNvPr id="17" name="Shape 12"/>
          <p:cNvSpPr/>
          <p:nvPr/>
        </p:nvSpPr>
        <p:spPr>
          <a:xfrm>
            <a:off x="640080" y="388620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822960" y="4041648"/>
            <a:ext cx="603504" cy="603504"/>
          </a:xfrm>
          <a:prstGeom prst="roundRect">
            <a:avLst>
              <a:gd name="adj" fmla="val 27000"/>
            </a:avLst>
          </a:prstGeom>
          <a:solidFill>
            <a:srgbClr val="F97316"/>
          </a:solidFill>
          <a:ln/>
        </p:spPr>
      </p:sp>
      <p:pic>
        <p:nvPicPr>
          <p:cNvPr id="19" name="Image 3" descr="preencoded.png">    </p:cNvPr>
          <p:cNvPicPr>
            <a:picLocks noChangeAspect="1"/>
          </p:cNvPicPr>
          <p:nvPr/>
        </p:nvPicPr>
        <p:blipFill>
          <a:blip r:embed="rId4"/>
          <a:stretch>
            <a:fillRect/>
          </a:stretch>
        </p:blipFill>
        <p:spPr>
          <a:xfrm>
            <a:off x="967801" y="4186489"/>
            <a:ext cx="313822" cy="313822"/>
          </a:xfrm>
          <a:prstGeom prst="rect">
            <a:avLst/>
          </a:prstGeom>
        </p:spPr>
      </p:pic>
      <p:sp>
        <p:nvSpPr>
          <p:cNvPr id="20" name="Text 14"/>
          <p:cNvSpPr txBox="1"/>
          <p:nvPr/>
        </p:nvSpPr>
        <p:spPr>
          <a:xfrm>
            <a:off x="1645920" y="399592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Pengingat &amp; push</a:t>
            </a:r>
            <a:endParaRPr lang="en-US" sz="1550" dirty="0"/>
          </a:p>
        </p:txBody>
      </p:sp>
      <p:sp>
        <p:nvSpPr>
          <p:cNvPr id="21" name="Text 15"/>
          <p:cNvSpPr txBox="1"/>
          <p:nvPr/>
        </p:nvSpPr>
        <p:spPr>
          <a:xfrm>
            <a:off x="1645920" y="431596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Pengingat sehari sebelumnya dan pertanyaan "Bagaimana acaranya?" sesudahnya, lewat email dan notifikasi ponsel.</a:t>
            </a:r>
            <a:endParaRPr lang="en-US" sz="1200" dirty="0"/>
          </a:p>
        </p:txBody>
      </p:sp>
      <p:sp>
        <p:nvSpPr>
          <p:cNvPr id="22" name="Shape 16"/>
          <p:cNvSpPr/>
          <p:nvPr/>
        </p:nvSpPr>
        <p:spPr>
          <a:xfrm>
            <a:off x="640080" y="4937760"/>
            <a:ext cx="6949440" cy="914400"/>
          </a:xfrm>
          <a:prstGeom prst="roundRect">
            <a:avLst>
              <a:gd name="adj" fmla="val 20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3" name="Shape 17"/>
          <p:cNvSpPr/>
          <p:nvPr/>
        </p:nvSpPr>
        <p:spPr>
          <a:xfrm>
            <a:off x="822960" y="5093208"/>
            <a:ext cx="603504" cy="603504"/>
          </a:xfrm>
          <a:prstGeom prst="roundRect">
            <a:avLst>
              <a:gd name="adj" fmla="val 27000"/>
            </a:avLst>
          </a:prstGeom>
          <a:solidFill>
            <a:srgbClr val="F97316"/>
          </a:solidFill>
          <a:ln/>
        </p:spPr>
      </p:sp>
      <p:pic>
        <p:nvPicPr>
          <p:cNvPr id="24" name="Image 4" descr="preencoded.png">    </p:cNvPr>
          <p:cNvPicPr>
            <a:picLocks noChangeAspect="1"/>
          </p:cNvPicPr>
          <p:nvPr/>
        </p:nvPicPr>
        <p:blipFill>
          <a:blip r:embed="rId5"/>
          <a:stretch>
            <a:fillRect/>
          </a:stretch>
        </p:blipFill>
        <p:spPr>
          <a:xfrm>
            <a:off x="967801" y="5238049"/>
            <a:ext cx="313822" cy="313822"/>
          </a:xfrm>
          <a:prstGeom prst="rect">
            <a:avLst/>
          </a:prstGeom>
        </p:spPr>
      </p:pic>
      <p:sp>
        <p:nvSpPr>
          <p:cNvPr id="25" name="Text 18"/>
          <p:cNvSpPr txBox="1"/>
          <p:nvPr/>
        </p:nvSpPr>
        <p:spPr>
          <a:xfrm>
            <a:off x="1645920" y="5047488"/>
            <a:ext cx="5760720" cy="320040"/>
          </a:xfrm>
          <a:prstGeom prst="rect">
            <a:avLst/>
          </a:prstGeom>
          <a:noFill/>
          <a:ln/>
        </p:spPr>
        <p:txBody>
          <a:bodyPr wrap="square" lIns="0" tIns="0" rIns="0" bIns="0" rtlCol="0" anchor="ctr"/>
          <a:lstStyle/>
          <a:p>
            <a:pPr indent="0" marL="0">
              <a:buNone/>
            </a:pPr>
            <a:r>
              <a:rPr lang="en-US" sz="1550" b="1" dirty="0">
                <a:solidFill>
                  <a:srgbClr val="292524"/>
                </a:solidFill>
                <a:latin typeface="Arial" pitchFamily="34" charset="0"/>
                <a:ea typeface="Arial" pitchFamily="34" charset="-122"/>
                <a:cs typeface="Arial" pitchFamily="34" charset="-120"/>
              </a:rPr>
              <a:t>Alat penyelenggara</a:t>
            </a:r>
            <a:endParaRPr lang="en-US" sz="1550" dirty="0"/>
          </a:p>
        </p:txBody>
      </p:sp>
      <p:sp>
        <p:nvSpPr>
          <p:cNvPr id="26" name="Text 19"/>
          <p:cNvSpPr txBox="1"/>
          <p:nvPr/>
        </p:nvSpPr>
        <p:spPr>
          <a:xfrm>
            <a:off x="1645920" y="5367528"/>
            <a:ext cx="5760720" cy="438912"/>
          </a:xfrm>
          <a:prstGeom prst="rect">
            <a:avLst/>
          </a:prstGeom>
          <a:noFill/>
          <a:ln/>
        </p:spPr>
        <p:txBody>
          <a:bodyPr wrap="square" lIns="0" tIns="0" rIns="0" bIns="0" rtlCol="0" anchor="t"/>
          <a:lstStyle/>
          <a:p>
            <a:pPr indent="0" marL="0">
              <a:buNone/>
            </a:pPr>
            <a:r>
              <a:rPr lang="en-US" sz="1200" dirty="0">
                <a:solidFill>
                  <a:srgbClr val="78716C"/>
                </a:solidFill>
                <a:latin typeface="Arial" pitchFamily="34" charset="0"/>
                <a:ea typeface="Arial" pitchFamily="34" charset="-122"/>
                <a:cs typeface="Arial" pitchFamily="34" charset="-120"/>
              </a:rPr>
              <a:t>Duplikat, ubah seri mingguan sekaligus, ekspor CSV, QR layar besar, teman yang ikut, dan feed kalender.</a:t>
            </a:r>
            <a:endParaRPr lang="en-US" sz="1200" dirty="0"/>
          </a:p>
        </p:txBody>
      </p:sp>
      <p:sp>
        <p:nvSpPr>
          <p:cNvPr id="27" name="Shape 20"/>
          <p:cNvSpPr/>
          <p:nvPr/>
        </p:nvSpPr>
        <p:spPr>
          <a:xfrm>
            <a:off x="8001000" y="1783080"/>
            <a:ext cx="3520440" cy="4069080"/>
          </a:xfrm>
          <a:prstGeom prst="roundRect">
            <a:avLst>
              <a:gd name="adj" fmla="val 5195"/>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pic>
        <p:nvPicPr>
          <p:cNvPr id="28" name="Image 5" descr="preencoded.png">    </p:cNvPr>
          <p:cNvPicPr>
            <a:picLocks noChangeAspect="1"/>
          </p:cNvPicPr>
          <p:nvPr/>
        </p:nvPicPr>
        <p:blipFill>
          <a:blip r:embed="rId6"/>
          <a:stretch>
            <a:fillRect/>
          </a:stretch>
        </p:blipFill>
        <p:spPr>
          <a:xfrm>
            <a:off x="8503920" y="2148840"/>
            <a:ext cx="2514600" cy="2514600"/>
          </a:xfrm>
          <a:prstGeom prst="rect">
            <a:avLst/>
          </a:prstGeom>
        </p:spPr>
      </p:pic>
      <p:sp>
        <p:nvSpPr>
          <p:cNvPr id="29" name="Text 21"/>
          <p:cNvSpPr txBox="1"/>
          <p:nvPr/>
        </p:nvSpPr>
        <p:spPr>
          <a:xfrm>
            <a:off x="8001000" y="4846320"/>
            <a:ext cx="3520440" cy="365760"/>
          </a:xfrm>
          <a:prstGeom prst="rect">
            <a:avLst/>
          </a:prstGeom>
          <a:noFill/>
          <a:ln/>
        </p:spPr>
        <p:txBody>
          <a:bodyPr wrap="square" lIns="0" tIns="0" rIns="0" bIns="0" rtlCol="0" anchor="ctr"/>
          <a:lstStyle/>
          <a:p>
            <a:pPr algn="ctr" indent="0" marL="0">
              <a:buNone/>
            </a:pPr>
            <a:r>
              <a:rPr lang="en-US" sz="1700" b="1" dirty="0">
                <a:solidFill>
                  <a:srgbClr val="292524"/>
                </a:solidFill>
                <a:latin typeface="Arial" pitchFamily="34" charset="0"/>
                <a:ea typeface="Arial" pitchFamily="34" charset="-122"/>
                <a:cs typeface="Arial" pitchFamily="34" charset="-120"/>
              </a:rPr>
              <a:t>Coba sekarang</a:t>
            </a:r>
            <a:endParaRPr lang="en-US" sz="1700" dirty="0"/>
          </a:p>
        </p:txBody>
      </p:sp>
      <p:sp>
        <p:nvSpPr>
          <p:cNvPr id="30" name="Text 22"/>
          <p:cNvSpPr txBox="1"/>
          <p:nvPr/>
        </p:nvSpPr>
        <p:spPr>
          <a:xfrm>
            <a:off x="8001000" y="5212080"/>
            <a:ext cx="3520440" cy="320040"/>
          </a:xfrm>
          <a:prstGeom prst="rect">
            <a:avLst/>
          </a:prstGeom>
          <a:noFill/>
          <a:ln/>
        </p:spPr>
        <p:txBody>
          <a:bodyPr wrap="square" lIns="0" tIns="0" rIns="0" bIns="0" rtlCol="0" anchor="ctr"/>
          <a:lstStyle/>
          <a:p>
            <a:pPr algn="ctr" indent="0" marL="0">
              <a:buNone/>
            </a:pPr>
            <a:r>
              <a:rPr lang="en-US" sz="1300" dirty="0">
                <a:solidFill>
                  <a:srgbClr val="C2410C"/>
                </a:solidFill>
                <a:latin typeface="Arial" pitchFamily="34" charset="0"/>
                <a:ea typeface="Arial" pitchFamily="34" charset="-122"/>
                <a:cs typeface="Arial" pitchFamily="34" charset="-120"/>
              </a:rPr>
              <a:t>komunitasa.vercel.app</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LANGKAH BERIKUTNYA</a:t>
            </a:r>
            <a:endParaRPr lang="en-US" sz="1300" dirty="0"/>
          </a:p>
        </p:txBody>
      </p:sp>
      <p:sp>
        <p:nvSpPr>
          <p:cNvPr id="3" name="Text 1"/>
          <p:cNvSpPr txBox="1"/>
          <p:nvPr/>
        </p:nvSpPr>
        <p:spPr>
          <a:xfrm>
            <a:off x="640080" y="777240"/>
            <a:ext cx="10881360" cy="731520"/>
          </a:xfrm>
          <a:prstGeom prst="rect">
            <a:avLst/>
          </a:prstGeom>
          <a:noFill/>
          <a:ln/>
        </p:spPr>
        <p:txBody>
          <a:bodyPr wrap="square" lIns="0" tIns="0" rIns="0" bIns="0" rtlCol="0" anchor="ctr"/>
          <a:lstStyle/>
          <a:p>
            <a:pPr indent="0" marL="0">
              <a:buNone/>
            </a:pPr>
            <a:r>
              <a:rPr lang="en-US" sz="3400" b="1" dirty="0">
                <a:solidFill>
                  <a:srgbClr val="292524"/>
                </a:solidFill>
                <a:latin typeface="Arial" pitchFamily="34" charset="0"/>
                <a:ea typeface="Arial" pitchFamily="34" charset="-122"/>
                <a:cs typeface="Arial" pitchFamily="34" charset="-120"/>
              </a:rPr>
              <a:t>Kekurangan yang diketahui dan rencana ke depan</a:t>
            </a:r>
            <a:endParaRPr lang="en-US" sz="3400" dirty="0"/>
          </a:p>
        </p:txBody>
      </p:sp>
      <p:pic>
        <p:nvPicPr>
          <p:cNvPr id="4" name="Image 0" descr="/Users/gerejastanislaus/Capstone Project/flyer/a-team-logo.png">    </p:cNvPr>
          <p:cNvPicPr>
            <a:picLocks noChangeAspect="1"/>
          </p:cNvPicPr>
          <p:nvPr/>
        </p:nvPicPr>
        <p:blipFill>
          <a:blip r:embed="rId1"/>
          <a:stretch>
            <a:fillRect/>
          </a:stretch>
        </p:blipFill>
        <p:spPr>
          <a:xfrm>
            <a:off x="640080" y="6281928"/>
            <a:ext cx="274320" cy="274320"/>
          </a:xfrm>
          <a:prstGeom prst="rect">
            <a:avLst/>
          </a:prstGeom>
        </p:spPr>
      </p:pic>
      <p:sp>
        <p:nvSpPr>
          <p:cNvPr id="5" name="Text 2"/>
          <p:cNvSpPr txBox="1"/>
          <p:nvPr/>
        </p:nvSpPr>
        <p:spPr>
          <a:xfrm>
            <a:off x="1005840" y="6281928"/>
            <a:ext cx="5486400" cy="274320"/>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Komunitas · Proyek Capstone · A Team</a:t>
            </a:r>
            <a:endParaRPr lang="en-US" sz="1100" dirty="0"/>
          </a:p>
        </p:txBody>
      </p:sp>
      <p:sp>
        <p:nvSpPr>
          <p:cNvPr id="6" name="Text 3"/>
          <p:cNvSpPr txBox="1"/>
          <p:nvPr/>
        </p:nvSpPr>
        <p:spPr>
          <a:xfrm>
            <a:off x="10637215" y="6281928"/>
            <a:ext cx="914400" cy="274320"/>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23 / 24</a:t>
            </a:r>
            <a:endParaRPr lang="en-US" sz="1100" dirty="0"/>
          </a:p>
        </p:txBody>
      </p:sp>
      <p:sp>
        <p:nvSpPr>
          <p:cNvPr id="7" name="Shape 4"/>
          <p:cNvSpPr/>
          <p:nvPr/>
        </p:nvSpPr>
        <p:spPr>
          <a:xfrm>
            <a:off x="640080" y="182880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8" name="Text 5"/>
          <p:cNvSpPr txBox="1"/>
          <p:nvPr/>
        </p:nvSpPr>
        <p:spPr>
          <a:xfrm>
            <a:off x="868680" y="205740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1</a:t>
            </a:r>
            <a:endParaRPr lang="en-US" sz="3000" dirty="0"/>
          </a:p>
        </p:txBody>
      </p:sp>
      <p:sp>
        <p:nvSpPr>
          <p:cNvPr id="9" name="Text 6"/>
          <p:cNvSpPr txBox="1"/>
          <p:nvPr/>
        </p:nvSpPr>
        <p:spPr>
          <a:xfrm>
            <a:off x="1463040" y="201168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Faktor kedua lebih kuat</a:t>
            </a:r>
            <a:endParaRPr lang="en-US" sz="1600" dirty="0"/>
          </a:p>
        </p:txBody>
      </p:sp>
      <p:sp>
        <p:nvSpPr>
          <p:cNvPr id="10" name="Text 7"/>
          <p:cNvSpPr txBox="1"/>
          <p:nvPr/>
        </p:nvSpPr>
        <p:spPr>
          <a:xfrm>
            <a:off x="1463040" y="235915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Pindahkan langkah kode email ke endpoint login di server, atau pakai MFA Supabase.</a:t>
            </a:r>
            <a:endParaRPr lang="en-US" sz="1250" dirty="0"/>
          </a:p>
        </p:txBody>
      </p:sp>
      <p:sp>
        <p:nvSpPr>
          <p:cNvPr id="11" name="Shape 8"/>
          <p:cNvSpPr/>
          <p:nvPr/>
        </p:nvSpPr>
        <p:spPr>
          <a:xfrm>
            <a:off x="6217920" y="182880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Text 9"/>
          <p:cNvSpPr txBox="1"/>
          <p:nvPr/>
        </p:nvSpPr>
        <p:spPr>
          <a:xfrm>
            <a:off x="6446520" y="205740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2</a:t>
            </a:r>
            <a:endParaRPr lang="en-US" sz="3000" dirty="0"/>
          </a:p>
        </p:txBody>
      </p:sp>
      <p:sp>
        <p:nvSpPr>
          <p:cNvPr id="13" name="Text 10"/>
          <p:cNvSpPr txBox="1"/>
          <p:nvPr/>
        </p:nvSpPr>
        <p:spPr>
          <a:xfrm>
            <a:off x="7040880" y="201168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Laporan terjadwal</a:t>
            </a:r>
            <a:endParaRPr lang="en-US" sz="1600" dirty="0"/>
          </a:p>
        </p:txBody>
      </p:sp>
      <p:sp>
        <p:nvSpPr>
          <p:cNvPr id="14" name="Text 11"/>
          <p:cNvSpPr txBox="1"/>
          <p:nvPr/>
        </p:nvSpPr>
        <p:spPr>
          <a:xfrm>
            <a:off x="7040880" y="235915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Penjadwal sudah menjalankan pengingat; email admin mingguan bisa dibangun di atasnya.</a:t>
            </a:r>
            <a:endParaRPr lang="en-US" sz="1250" dirty="0"/>
          </a:p>
        </p:txBody>
      </p:sp>
      <p:sp>
        <p:nvSpPr>
          <p:cNvPr id="15" name="Shape 12"/>
          <p:cNvSpPr/>
          <p:nvPr/>
        </p:nvSpPr>
        <p:spPr>
          <a:xfrm>
            <a:off x="640080" y="315468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6" name="Text 13"/>
          <p:cNvSpPr txBox="1"/>
          <p:nvPr/>
        </p:nvSpPr>
        <p:spPr>
          <a:xfrm>
            <a:off x="868680" y="338328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3</a:t>
            </a:r>
            <a:endParaRPr lang="en-US" sz="3000" dirty="0"/>
          </a:p>
        </p:txBody>
      </p:sp>
      <p:sp>
        <p:nvSpPr>
          <p:cNvPr id="17" name="Text 14"/>
          <p:cNvSpPr txBox="1"/>
          <p:nvPr/>
        </p:nvSpPr>
        <p:spPr>
          <a:xfrm>
            <a:off x="1463040" y="333756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Pembayaran</a:t>
            </a:r>
            <a:endParaRPr lang="en-US" sz="1600" dirty="0"/>
          </a:p>
        </p:txBody>
      </p:sp>
      <p:sp>
        <p:nvSpPr>
          <p:cNvPr id="18" name="Text 15"/>
          <p:cNvSpPr txBox="1"/>
          <p:nvPr/>
        </p:nvSpPr>
        <p:spPr>
          <a:xfrm>
            <a:off x="1463040" y="368503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Aktivitas berbayar saat ini dibayar di luar aplikasi; pembayaran di aplikasi menyusul.</a:t>
            </a:r>
            <a:endParaRPr lang="en-US" sz="1250" dirty="0"/>
          </a:p>
        </p:txBody>
      </p:sp>
      <p:sp>
        <p:nvSpPr>
          <p:cNvPr id="19" name="Shape 16"/>
          <p:cNvSpPr/>
          <p:nvPr/>
        </p:nvSpPr>
        <p:spPr>
          <a:xfrm>
            <a:off x="6217920" y="315468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0" name="Text 17"/>
          <p:cNvSpPr txBox="1"/>
          <p:nvPr/>
        </p:nvSpPr>
        <p:spPr>
          <a:xfrm>
            <a:off x="6446520" y="338328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4</a:t>
            </a:r>
            <a:endParaRPr lang="en-US" sz="3000" dirty="0"/>
          </a:p>
        </p:txBody>
      </p:sp>
      <p:sp>
        <p:nvSpPr>
          <p:cNvPr id="21" name="Text 18"/>
          <p:cNvSpPr txBox="1"/>
          <p:nvPr/>
        </p:nvSpPr>
        <p:spPr>
          <a:xfrm>
            <a:off x="7040880" y="333756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Hapus akun sepenuhnya</a:t>
            </a:r>
            <a:endParaRPr lang="en-US" sz="1600" dirty="0"/>
          </a:p>
        </p:txBody>
      </p:sp>
      <p:sp>
        <p:nvSpPr>
          <p:cNvPr id="22" name="Text 19"/>
          <p:cNvSpPr txBox="1"/>
          <p:nvPr/>
        </p:nvSpPr>
        <p:spPr>
          <a:xfrm>
            <a:off x="7040880" y="368503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Anonimisasi sudah jalan; menghapus login butuh langkah di sisi server.</a:t>
            </a:r>
            <a:endParaRPr lang="en-US" sz="1250" dirty="0"/>
          </a:p>
        </p:txBody>
      </p:sp>
      <p:sp>
        <p:nvSpPr>
          <p:cNvPr id="23" name="Shape 20"/>
          <p:cNvSpPr/>
          <p:nvPr/>
        </p:nvSpPr>
        <p:spPr>
          <a:xfrm>
            <a:off x="640080" y="448056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4" name="Text 21"/>
          <p:cNvSpPr txBox="1"/>
          <p:nvPr/>
        </p:nvSpPr>
        <p:spPr>
          <a:xfrm>
            <a:off x="868680" y="470916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5</a:t>
            </a:r>
            <a:endParaRPr lang="en-US" sz="3000" dirty="0"/>
          </a:p>
        </p:txBody>
      </p:sp>
      <p:sp>
        <p:nvSpPr>
          <p:cNvPr id="25" name="Text 22"/>
          <p:cNvSpPr txBox="1"/>
          <p:nvPr/>
        </p:nvSpPr>
        <p:spPr>
          <a:xfrm>
            <a:off x="1463040" y="466344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Ekspor besar</a:t>
            </a:r>
            <a:endParaRPr lang="en-US" sz="1600" dirty="0"/>
          </a:p>
        </p:txBody>
      </p:sp>
      <p:sp>
        <p:nvSpPr>
          <p:cNvPr id="26" name="Text 23"/>
          <p:cNvSpPr txBox="1"/>
          <p:nvPr/>
        </p:nvSpPr>
        <p:spPr>
          <a:xfrm>
            <a:off x="1463040" y="501091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Ekspor berjalan di browser dan dibatasi 10.000 baris per dataset.</a:t>
            </a:r>
            <a:endParaRPr lang="en-US" sz="1250" dirty="0"/>
          </a:p>
        </p:txBody>
      </p:sp>
      <p:sp>
        <p:nvSpPr>
          <p:cNvPr id="27" name="Shape 24"/>
          <p:cNvSpPr/>
          <p:nvPr/>
        </p:nvSpPr>
        <p:spPr>
          <a:xfrm>
            <a:off x="6217920" y="4480560"/>
            <a:ext cx="5303520" cy="1143000"/>
          </a:xfrm>
          <a:prstGeom prst="roundRect">
            <a:avLst>
              <a:gd name="adj" fmla="val 160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8" name="Text 25"/>
          <p:cNvSpPr txBox="1"/>
          <p:nvPr/>
        </p:nvSpPr>
        <p:spPr>
          <a:xfrm>
            <a:off x="6446520" y="4709160"/>
            <a:ext cx="457200" cy="685800"/>
          </a:xfrm>
          <a:prstGeom prst="rect">
            <a:avLst/>
          </a:prstGeom>
          <a:noFill/>
          <a:ln/>
        </p:spPr>
        <p:txBody>
          <a:bodyPr wrap="square" lIns="0" tIns="0" rIns="0" bIns="0" rtlCol="0" anchor="ctr"/>
          <a:lstStyle/>
          <a:p>
            <a:pPr indent="0" marL="0">
              <a:buNone/>
            </a:pPr>
            <a:r>
              <a:rPr lang="en-US" sz="3000" b="1" dirty="0">
                <a:solidFill>
                  <a:srgbClr val="FED7AA"/>
                </a:solidFill>
                <a:latin typeface="Arial" pitchFamily="34" charset="0"/>
                <a:ea typeface="Arial" pitchFamily="34" charset="-122"/>
                <a:cs typeface="Arial" pitchFamily="34" charset="-120"/>
              </a:rPr>
              <a:t>6</a:t>
            </a:r>
            <a:endParaRPr lang="en-US" sz="3000" dirty="0"/>
          </a:p>
        </p:txBody>
      </p:sp>
      <p:sp>
        <p:nvSpPr>
          <p:cNvPr id="29" name="Text 26"/>
          <p:cNvSpPr txBox="1"/>
          <p:nvPr/>
        </p:nvSpPr>
        <p:spPr>
          <a:xfrm>
            <a:off x="7040880" y="4663440"/>
            <a:ext cx="4297680" cy="347472"/>
          </a:xfrm>
          <a:prstGeom prst="rect">
            <a:avLst/>
          </a:prstGeom>
          <a:noFill/>
          <a:ln/>
        </p:spPr>
        <p:txBody>
          <a:bodyPr wrap="square" lIns="0" tIns="0" rIns="0" bIns="0" rtlCol="0" anchor="ctr"/>
          <a:lstStyle/>
          <a:p>
            <a:pPr indent="0" marL="0">
              <a:buNone/>
            </a:pPr>
            <a:r>
              <a:rPr lang="en-US" sz="1600" b="1" dirty="0">
                <a:solidFill>
                  <a:srgbClr val="292524"/>
                </a:solidFill>
                <a:latin typeface="Arial" pitchFamily="34" charset="0"/>
                <a:ea typeface="Arial" pitchFamily="34" charset="-122"/>
                <a:cs typeface="Arial" pitchFamily="34" charset="-120"/>
              </a:rPr>
              <a:t>Chat grup &amp; foto</a:t>
            </a:r>
            <a:endParaRPr lang="en-US" sz="1600" dirty="0"/>
          </a:p>
        </p:txBody>
      </p:sp>
      <p:sp>
        <p:nvSpPr>
          <p:cNvPr id="30" name="Text 27"/>
          <p:cNvSpPr txBox="1"/>
          <p:nvPr/>
        </p:nvSpPr>
        <p:spPr>
          <a:xfrm>
            <a:off x="7040880" y="5010912"/>
            <a:ext cx="4297680" cy="548640"/>
          </a:xfrm>
          <a:prstGeom prst="rect">
            <a:avLst/>
          </a:prstGeom>
          <a:noFill/>
          <a:ln/>
        </p:spPr>
        <p:txBody>
          <a:bodyPr wrap="square" lIns="0" tIns="0" rIns="0" bIns="0" rtlCol="0" anchor="t"/>
          <a:lstStyle/>
          <a:p>
            <a:pPr indent="0" marL="0">
              <a:buNone/>
            </a:pPr>
            <a:r>
              <a:rPr lang="en-US" sz="1250" dirty="0">
                <a:solidFill>
                  <a:srgbClr val="78716C"/>
                </a:solidFill>
                <a:latin typeface="Arial" pitchFamily="34" charset="0"/>
                <a:ea typeface="Arial" pitchFamily="34" charset="-122"/>
                <a:cs typeface="Arial" pitchFamily="34" charset="-120"/>
              </a:rPr>
              <a:t>Chat per aktivitas dan album foto bersama setelahnya.</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547208" y="1097280"/>
            <a:ext cx="1097280" cy="1097280"/>
          </a:xfrm>
          <a:prstGeom prst="rect">
            <a:avLst/>
          </a:prstGeom>
        </p:spPr>
      </p:pic>
      <p:sp>
        <p:nvSpPr>
          <p:cNvPr id="3" name="Text 0"/>
          <p:cNvSpPr txBox="1"/>
          <p:nvPr/>
        </p:nvSpPr>
        <p:spPr>
          <a:xfrm>
            <a:off x="640080" y="2468880"/>
            <a:ext cx="10911535" cy="914400"/>
          </a:xfrm>
          <a:prstGeom prst="rect">
            <a:avLst/>
          </a:prstGeom>
          <a:noFill/>
          <a:ln/>
        </p:spPr>
        <p:txBody>
          <a:bodyPr wrap="square" lIns="0" tIns="0" rIns="0" bIns="0" rtlCol="0" anchor="ctr"/>
          <a:lstStyle/>
          <a:p>
            <a:pPr algn="ctr" indent="0" marL="0">
              <a:buNone/>
            </a:pPr>
            <a:r>
              <a:rPr lang="en-US" sz="5400" b="1" dirty="0">
                <a:solidFill>
                  <a:srgbClr val="FFF8ED"/>
                </a:solidFill>
                <a:latin typeface="Arial" pitchFamily="34" charset="0"/>
                <a:ea typeface="Arial" pitchFamily="34" charset="-122"/>
                <a:cs typeface="Arial" pitchFamily="34" charset="-120"/>
              </a:rPr>
              <a:t>Terima kasih</a:t>
            </a:r>
            <a:endParaRPr lang="en-US" sz="5400" dirty="0"/>
          </a:p>
        </p:txBody>
      </p:sp>
      <p:sp>
        <p:nvSpPr>
          <p:cNvPr id="4" name="Text 1"/>
          <p:cNvSpPr txBox="1"/>
          <p:nvPr/>
        </p:nvSpPr>
        <p:spPr>
          <a:xfrm>
            <a:off x="640080" y="3383280"/>
            <a:ext cx="10911535" cy="548640"/>
          </a:xfrm>
          <a:prstGeom prst="rect">
            <a:avLst/>
          </a:prstGeom>
          <a:noFill/>
          <a:ln/>
        </p:spPr>
        <p:txBody>
          <a:bodyPr wrap="square" lIns="0" tIns="0" rIns="0" bIns="0" rtlCol="0" anchor="ctr"/>
          <a:lstStyle/>
          <a:p>
            <a:pPr algn="ctr" indent="0" marL="0">
              <a:buNone/>
            </a:pPr>
            <a:r>
              <a:rPr lang="en-US" sz="2200" dirty="0">
                <a:solidFill>
                  <a:srgbClr val="FED7AA"/>
                </a:solidFill>
                <a:latin typeface="Arial" pitchFamily="34" charset="0"/>
                <a:ea typeface="Arial" pitchFamily="34" charset="-122"/>
                <a:cs typeface="Arial" pitchFamily="34" charset="-120"/>
              </a:rPr>
              <a:t>Temukan aktivitas. Temui orang baru. Bangun komunitas.</a:t>
            </a:r>
            <a:endParaRPr lang="en-US" sz="2200" dirty="0"/>
          </a:p>
        </p:txBody>
      </p:sp>
      <p:sp>
        <p:nvSpPr>
          <p:cNvPr id="5" name="Shape 2"/>
          <p:cNvSpPr/>
          <p:nvPr/>
        </p:nvSpPr>
        <p:spPr>
          <a:xfrm>
            <a:off x="3718408" y="4343400"/>
            <a:ext cx="4754880" cy="685800"/>
          </a:xfrm>
          <a:prstGeom prst="roundRect">
            <a:avLst>
              <a:gd name="adj" fmla="val 50000"/>
            </a:avLst>
          </a:prstGeom>
          <a:solidFill>
            <a:srgbClr val="FFF8ED"/>
          </a:solidFill>
          <a:ln/>
        </p:spPr>
      </p:sp>
      <p:sp>
        <p:nvSpPr>
          <p:cNvPr id="6" name="Text 3"/>
          <p:cNvSpPr txBox="1"/>
          <p:nvPr/>
        </p:nvSpPr>
        <p:spPr>
          <a:xfrm>
            <a:off x="3718408" y="4343400"/>
            <a:ext cx="4754880" cy="685800"/>
          </a:xfrm>
          <a:prstGeom prst="rect">
            <a:avLst/>
          </a:prstGeom>
          <a:noFill/>
          <a:ln/>
        </p:spPr>
        <p:txBody>
          <a:bodyPr wrap="square" lIns="0" tIns="0" rIns="0" bIns="0" rtlCol="0" anchor="ctr"/>
          <a:lstStyle/>
          <a:p>
            <a:pPr algn="ctr" indent="0" marL="0">
              <a:buNone/>
            </a:pPr>
            <a:r>
              <a:rPr lang="en-US" sz="2400" b="1" dirty="0">
                <a:solidFill>
                  <a:srgbClr val="C2410C"/>
                </a:solidFill>
                <a:latin typeface="Arial" pitchFamily="34" charset="0"/>
                <a:ea typeface="Arial" pitchFamily="34" charset="-122"/>
                <a:cs typeface="Arial" pitchFamily="34" charset="-120"/>
              </a:rPr>
              <a:t>komunitasa.vercel.app</a:t>
            </a:r>
            <a:endParaRPr lang="en-US" sz="2400" dirty="0"/>
          </a:p>
        </p:txBody>
      </p:sp>
      <p:sp>
        <p:nvSpPr>
          <p:cNvPr id="7" name="Text 4"/>
          <p:cNvSpPr txBox="1"/>
          <p:nvPr/>
        </p:nvSpPr>
        <p:spPr>
          <a:xfrm>
            <a:off x="640080" y="5760720"/>
            <a:ext cx="10911535" cy="365760"/>
          </a:xfrm>
          <a:prstGeom prst="rect">
            <a:avLst/>
          </a:prstGeom>
          <a:noFill/>
          <a:ln/>
        </p:spPr>
        <p:txBody>
          <a:bodyPr wrap="square" lIns="0" tIns="0" rIns="0" bIns="0" rtlCol="0" anchor="ctr"/>
          <a:lstStyle/>
          <a:p>
            <a:pPr algn="ctr" indent="0" marL="0">
              <a:buNone/>
            </a:pPr>
            <a:r>
              <a:rPr lang="en-US" sz="1500" b="1" dirty="0">
                <a:solidFill>
                  <a:srgbClr val="FED7AA"/>
                </a:solidFill>
                <a:latin typeface="Arial" pitchFamily="34" charset="0"/>
                <a:ea typeface="Arial" pitchFamily="34" charset="-122"/>
                <a:cs typeface="Arial" pitchFamily="34" charset="-120"/>
              </a:rPr>
              <a:t>A Team · Proyek Capstone · Universitas Terbuka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Komunitas: Gambaran Proyek</dc:title>
  <dc:subject>PptxGenJS Presentation</dc:subject>
  <dc:creator>A Team</dc:creator>
  <cp:lastModifiedBy>A Team</cp:lastModifiedBy>
  <cp:revision>1</cp:revision>
  <dcterms:created xsi:type="dcterms:W3CDTF">2026-10-03T09:47:48Z</dcterms:created>
  <dcterms:modified xsi:type="dcterms:W3CDTF">2026-10-03T09:47:48Z</dcterms:modified>
</cp:coreProperties>
</file>