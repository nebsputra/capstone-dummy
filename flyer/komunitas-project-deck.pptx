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A Team, and this is Komunitas, our capstone project. This deck covers the whole project from the bottom up: why we built it, how people use it, how it's built, where the data is stored, and what we ended up delivering.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aim and goals, how to use the app, how it's built, where the data lives, and the end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why we built Komunitas.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local activities live in closed WhatsApp groups and scattered posts. Newcomers can't find them, and organizers do everything by hand. Our aim is one place to discover, create and join activities nearby, based on your interests and location, without ever storing your exact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turned the aim into five concrete goals: nearby-first discovery within 20 kilometres, joining in one tap, four ways to share, zero stored GPS positions, and full English and Indonesian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how people actually use Komunitas.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landing page. Komunitas is a web app, so there's nothing to install. It's designed for phones first, has light and dark themes, and every screen is available in English and Indonesian.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roles. Participants and organizers are the same people: anyone who creates an activity becomes its organizer. Moderators, admins and super admins work in the admin area, with more power at each level. Permissions are enforced in the database, not only in the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participant signs up with email, a password and an emailed code, then sets a PIN for quick sign-in. They choose hobbies, then share their location or pick their area to see activities within 20 kilometres. They join in one tap or request a spot, and then use comments, private messages and friends to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Organizers fill in the activity details, drop a pin on the map and crop a banner. They choose whether it's public or private and whether joiners need approval. Then they share it by link, WhatsApp, QR code or a generated flyer, and manage requests and comments. The status moves from open to almost full, full, ongoing and completed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in the app on one slide: the nearby dashboard, explore and search, my activities with check-in and ratings, sharing, comments, private messages, community profiles, friends and groups, notifications by email and phone push, and help and support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it's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three layers. The browser runs the React interface, reads GPS on the device and draws maps and images. Vercel runs Next.js: it renders pages on the server, checks the login on every request, and hosts five small API routes. Supabase holds the database, sign-in, file storage and realtime messaging. Around it we use OpenStreetMap for maps, an SMTP service for emails, and GitHub for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Next.js 16 with React 19 and TypeScript, Tailwind for styling, Supabase for the backend, Leaflet and OpenStreetMap for maps, Recharts and ExcelJS for admin reports, and qrcode.react plus html-to-image for QR codes and flyers.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code locally, then run three checks: lint, type check and a full production build. Pushing to the main branch on GitHub makes Vercel build and publish automatically, so a push is a release. Database changes are separate: numbered SQL migrations, each safe to re-run, applied by hand in the Supabase SQL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lives in five places. The main one is the Supabase Postgres database with 41 tables, all protected by row-level security. Supabase Auth holds accounts and sessions. Supabase Storage holds banner images and complaint attachments. The user's own device keeps their language and location preference; live GPS never leaves it. And Vercel holds the few server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41 tables fall into five groups: people and their settings, activities with participation, waiting lists, check-in and ratings, groups and private messaging, support and notifications, and admin and safety records such as the audit log. Views like my_profile expose only what each user is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enforced in the database. Every table has row-level security, and over 190 SQL functions check the caller's role. GPS is never stored. PINs are hashed with bcrypt and lock after repeated failures. Other members can't read private profile fields. Admin actions are written to an audit log, and members can report, block and file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numbers: 52 screens, 74 shared components, about 25,600 lines of TypeScript with 43 unit tests, 5,900 lines of SQL across 26 migrations, 41 database tables all protected by row-level security, and more than 1,700 interface strings in both English and Indonesian.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newest features: full activities keep a waiting list that moves up automatically, and people get alerts for new activities that match their hobbies. Organizers can check people in with a QR code, and attendees rate the activity afterwards. Reminders and rating prompts go out by email and phone push. And organizers get time-savers: duplicate, edit a whole weekly series, CSV export and a big-screen QR so a room can join live. Scan this code to try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open about what's left: a stronger second sign-in factor, scheduled admin reports, in-app payments, full account deletion, larger exports, and a group chat and photo albums per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from A Team. We're happy to take questions, and please try Komunitas on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31520" y="731520"/>
            <a:ext cx="914400" cy="914400"/>
          </a:xfrm>
          <a:prstGeom prst="rect">
            <a:avLst/>
          </a:prstGeom>
        </p:spPr>
      </p:pic>
      <p:sp>
        <p:nvSpPr>
          <p:cNvPr id="3" name="Text 0"/>
          <p:cNvSpPr txBox="1"/>
          <p:nvPr/>
        </p:nvSpPr>
        <p:spPr>
          <a:xfrm>
            <a:off x="731520" y="2148840"/>
            <a:ext cx="9144000" cy="457200"/>
          </a:xfrm>
          <a:prstGeom prst="rect">
            <a:avLst/>
          </a:prstGeom>
          <a:noFill/>
          <a:ln/>
        </p:spPr>
        <p:txBody>
          <a:bodyPr wrap="square" lIns="0" tIns="0" rIns="0" bIns="0" rtlCol="0" anchor="ctr"/>
          <a:lstStyle/>
          <a:p>
            <a:pPr indent="0" marL="0">
              <a:buNone/>
            </a:pPr>
            <a:r>
              <a:rPr lang="en-US" sz="1800" b="1" spc="500" kern="0" dirty="0">
                <a:solidFill>
                  <a:srgbClr val="FED7AA"/>
                </a:solidFill>
                <a:latin typeface="Arial" pitchFamily="34" charset="0"/>
                <a:ea typeface="Arial" pitchFamily="34" charset="-122"/>
                <a:cs typeface="Arial" pitchFamily="34" charset="-120"/>
              </a:rPr>
              <a:t>CAPSTONE PROJECT · A TEAM</a:t>
            </a:r>
            <a:endParaRPr lang="en-US" sz="1800" dirty="0"/>
          </a:p>
        </p:txBody>
      </p:sp>
      <p:sp>
        <p:nvSpPr>
          <p:cNvPr id="4" name="Text 1"/>
          <p:cNvSpPr txBox="1"/>
          <p:nvPr/>
        </p:nvSpPr>
        <p:spPr>
          <a:xfrm>
            <a:off x="731520" y="2560320"/>
            <a:ext cx="10058400" cy="1371600"/>
          </a:xfrm>
          <a:prstGeom prst="rect">
            <a:avLst/>
          </a:prstGeom>
          <a:noFill/>
          <a:ln/>
        </p:spPr>
        <p:txBody>
          <a:bodyPr wrap="square" lIns="0" tIns="0" rIns="0" bIns="0" rtlCol="0" anchor="ctr"/>
          <a:lstStyle/>
          <a:p>
            <a:pPr indent="0" marL="0">
              <a:buNone/>
            </a:pPr>
            <a:r>
              <a:rPr lang="en-US" sz="8800" b="1" dirty="0">
                <a:solidFill>
                  <a:srgbClr val="FFF8ED"/>
                </a:solidFill>
                <a:latin typeface="Arial" pitchFamily="34" charset="0"/>
                <a:ea typeface="Arial" pitchFamily="34" charset="-122"/>
                <a:cs typeface="Arial" pitchFamily="34" charset="-120"/>
              </a:rPr>
              <a:t>Komunitas</a:t>
            </a:r>
            <a:endParaRPr lang="en-US" sz="8800" dirty="0"/>
          </a:p>
        </p:txBody>
      </p:sp>
      <p:sp>
        <p:nvSpPr>
          <p:cNvPr id="5" name="Text 2"/>
          <p:cNvSpPr txBox="1"/>
          <p:nvPr/>
        </p:nvSpPr>
        <p:spPr>
          <a:xfrm>
            <a:off x="731520" y="3977640"/>
            <a:ext cx="10515600" cy="548640"/>
          </a:xfrm>
          <a:prstGeom prst="rect">
            <a:avLst/>
          </a:prstGeom>
          <a:noFill/>
          <a:ln/>
        </p:spPr>
        <p:txBody>
          <a:bodyPr wrap="square" lIns="0" tIns="0" rIns="0" bIns="0" rtlCol="0" anchor="ctr"/>
          <a:lstStyle/>
          <a:p>
            <a:pPr indent="0" marL="0">
              <a:buNone/>
            </a:pPr>
            <a:r>
              <a:rPr lang="en-US" sz="2600" dirty="0">
                <a:solidFill>
                  <a:srgbClr val="FFF8ED"/>
                </a:solidFill>
                <a:latin typeface="Arial" pitchFamily="34" charset="0"/>
                <a:ea typeface="Arial" pitchFamily="34" charset="-122"/>
                <a:cs typeface="Arial" pitchFamily="34" charset="-120"/>
              </a:rPr>
              <a:t>Find activities. Meet people. Build community.</a:t>
            </a:r>
            <a:endParaRPr lang="en-US" sz="2600" dirty="0"/>
          </a:p>
        </p:txBody>
      </p:sp>
      <p:sp>
        <p:nvSpPr>
          <p:cNvPr id="6" name="Text 3"/>
          <p:cNvSpPr txBox="1"/>
          <p:nvPr/>
        </p:nvSpPr>
        <p:spPr>
          <a:xfrm>
            <a:off x="731520" y="4572000"/>
            <a:ext cx="10058400" cy="457200"/>
          </a:xfrm>
          <a:prstGeom prst="rect">
            <a:avLst/>
          </a:prstGeom>
          <a:noFill/>
          <a:ln/>
        </p:spPr>
        <p:txBody>
          <a:bodyPr wrap="square" lIns="0" tIns="0" rIns="0" bIns="0" rtlCol="0" anchor="ctr"/>
          <a:lstStyle/>
          <a:p>
            <a:pPr indent="0" marL="0">
              <a:buNone/>
            </a:pPr>
            <a:r>
              <a:rPr lang="en-US" sz="1600" dirty="0">
                <a:solidFill>
                  <a:srgbClr val="FED7AA"/>
                </a:solidFill>
                <a:latin typeface="Arial" pitchFamily="34" charset="0"/>
                <a:ea typeface="Arial" pitchFamily="34" charset="-122"/>
                <a:cs typeface="Arial" pitchFamily="34" charset="-120"/>
              </a:rPr>
              <a:t>The whole project: aim, how to use it, how it's built, where data lives, and what we delivered.</a:t>
            </a:r>
            <a:endParaRPr lang="en-US" sz="1600" dirty="0"/>
          </a:p>
        </p:txBody>
      </p:sp>
      <p:sp>
        <p:nvSpPr>
          <p:cNvPr id="7" name="Text 4"/>
          <p:cNvSpPr txBox="1"/>
          <p:nvPr/>
        </p:nvSpPr>
        <p:spPr>
          <a:xfrm>
            <a:off x="731520" y="5897880"/>
            <a:ext cx="10058400" cy="365760"/>
          </a:xfrm>
          <a:prstGeom prst="rect">
            <a:avLst/>
          </a:prstGeom>
          <a:noFill/>
          <a:ln/>
        </p:spPr>
        <p:txBody>
          <a:bodyPr wrap="square" lIns="0" tIns="0" rIns="0" bIns="0" rtlCol="0" anchor="ctr"/>
          <a:lstStyle/>
          <a:p>
            <a:pPr indent="0" marL="0">
              <a:buNone/>
            </a:pPr>
            <a:r>
              <a:rPr lang="en-US" sz="1500" b="1" dirty="0">
                <a:solidFill>
                  <a:srgbClr val="FED7AA"/>
                </a:solidFill>
                <a:latin typeface="Arial" pitchFamily="34" charset="0"/>
                <a:ea typeface="Arial" pitchFamily="34" charset="-122"/>
                <a:cs typeface="Arial" pitchFamily="34" charset="-120"/>
              </a:rPr>
              <a:t>komunitasa.vercel.app   ·   Universitas Terbuka   ·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AGENDA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What this deck covers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 / 24</a:t>
            </a:r>
            <a:endParaRPr lang="en-US" sz="1100" dirty="0"/>
          </a:p>
        </p:txBody>
      </p:sp>
      <p:sp>
        <p:nvSpPr>
          <p:cNvPr id="7" name="Shape 4"/>
          <p:cNvSpPr/>
          <p:nvPr/>
        </p:nvSpPr>
        <p:spPr>
          <a:xfrm>
            <a:off x="640080" y="1783080"/>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914400" y="1783080"/>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01</a:t>
            </a:r>
            <a:endParaRPr lang="en-US" sz="2400" dirty="0"/>
          </a:p>
        </p:txBody>
      </p:sp>
      <p:sp>
        <p:nvSpPr>
          <p:cNvPr id="9" name="Text 6"/>
          <p:cNvSpPr txBox="1"/>
          <p:nvPr/>
        </p:nvSpPr>
        <p:spPr>
          <a:xfrm>
            <a:off x="1828800" y="1783080"/>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Aim &amp; goals</a:t>
            </a:r>
            <a:endParaRPr lang="en-US" sz="2000" dirty="0"/>
          </a:p>
        </p:txBody>
      </p:sp>
      <p:sp>
        <p:nvSpPr>
          <p:cNvPr id="10" name="Text 7"/>
          <p:cNvSpPr txBox="1"/>
          <p:nvPr/>
        </p:nvSpPr>
        <p:spPr>
          <a:xfrm>
            <a:off x="5394960" y="1783080"/>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The problem and what we set out to do</a:t>
            </a:r>
            <a:endParaRPr lang="en-US" sz="1500" dirty="0"/>
          </a:p>
        </p:txBody>
      </p:sp>
      <p:sp>
        <p:nvSpPr>
          <p:cNvPr id="11" name="Shape 8"/>
          <p:cNvSpPr/>
          <p:nvPr/>
        </p:nvSpPr>
        <p:spPr>
          <a:xfrm>
            <a:off x="640080" y="2633472"/>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914400" y="2633472"/>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02</a:t>
            </a:r>
            <a:endParaRPr lang="en-US" sz="2400" dirty="0"/>
          </a:p>
        </p:txBody>
      </p:sp>
      <p:sp>
        <p:nvSpPr>
          <p:cNvPr id="13" name="Text 10"/>
          <p:cNvSpPr txBox="1"/>
          <p:nvPr/>
        </p:nvSpPr>
        <p:spPr>
          <a:xfrm>
            <a:off x="1828800" y="2633472"/>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How to use it</a:t>
            </a:r>
            <a:endParaRPr lang="en-US" sz="2000" dirty="0"/>
          </a:p>
        </p:txBody>
      </p:sp>
      <p:sp>
        <p:nvSpPr>
          <p:cNvPr id="14" name="Text 11"/>
          <p:cNvSpPr txBox="1"/>
          <p:nvPr/>
        </p:nvSpPr>
        <p:spPr>
          <a:xfrm>
            <a:off x="5394960" y="2633472"/>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Participants, organizers and admins</a:t>
            </a:r>
            <a:endParaRPr lang="en-US" sz="1500" dirty="0"/>
          </a:p>
        </p:txBody>
      </p:sp>
      <p:sp>
        <p:nvSpPr>
          <p:cNvPr id="15" name="Shape 12"/>
          <p:cNvSpPr/>
          <p:nvPr/>
        </p:nvSpPr>
        <p:spPr>
          <a:xfrm>
            <a:off x="640080" y="3483864"/>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914400" y="3483864"/>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03</a:t>
            </a:r>
            <a:endParaRPr lang="en-US" sz="2400" dirty="0"/>
          </a:p>
        </p:txBody>
      </p:sp>
      <p:sp>
        <p:nvSpPr>
          <p:cNvPr id="17" name="Text 14"/>
          <p:cNvSpPr txBox="1"/>
          <p:nvPr/>
        </p:nvSpPr>
        <p:spPr>
          <a:xfrm>
            <a:off x="1828800" y="3483864"/>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How it's built</a:t>
            </a:r>
            <a:endParaRPr lang="en-US" sz="2000" dirty="0"/>
          </a:p>
        </p:txBody>
      </p:sp>
      <p:sp>
        <p:nvSpPr>
          <p:cNvPr id="18" name="Text 15"/>
          <p:cNvSpPr txBox="1"/>
          <p:nvPr/>
        </p:nvSpPr>
        <p:spPr>
          <a:xfrm>
            <a:off x="5394960" y="3483864"/>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Architecture, stack and delivery pipeline</a:t>
            </a:r>
            <a:endParaRPr lang="en-US" sz="1500" dirty="0"/>
          </a:p>
        </p:txBody>
      </p:sp>
      <p:sp>
        <p:nvSpPr>
          <p:cNvPr id="19" name="Shape 16"/>
          <p:cNvSpPr/>
          <p:nvPr/>
        </p:nvSpPr>
        <p:spPr>
          <a:xfrm>
            <a:off x="640080" y="4334256"/>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914400" y="4334256"/>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04</a:t>
            </a:r>
            <a:endParaRPr lang="en-US" sz="2400" dirty="0"/>
          </a:p>
        </p:txBody>
      </p:sp>
      <p:sp>
        <p:nvSpPr>
          <p:cNvPr id="21" name="Text 18"/>
          <p:cNvSpPr txBox="1"/>
          <p:nvPr/>
        </p:nvSpPr>
        <p:spPr>
          <a:xfrm>
            <a:off x="1828800" y="4334256"/>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Data stores</a:t>
            </a:r>
            <a:endParaRPr lang="en-US" sz="2000" dirty="0"/>
          </a:p>
        </p:txBody>
      </p:sp>
      <p:sp>
        <p:nvSpPr>
          <p:cNvPr id="22" name="Text 19"/>
          <p:cNvSpPr txBox="1"/>
          <p:nvPr/>
        </p:nvSpPr>
        <p:spPr>
          <a:xfrm>
            <a:off x="5394960" y="4334256"/>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Where every piece of data lives, and how it's protected</a:t>
            </a:r>
            <a:endParaRPr lang="en-US" sz="1500" dirty="0"/>
          </a:p>
        </p:txBody>
      </p:sp>
      <p:sp>
        <p:nvSpPr>
          <p:cNvPr id="23" name="Shape 20"/>
          <p:cNvSpPr/>
          <p:nvPr/>
        </p:nvSpPr>
        <p:spPr>
          <a:xfrm>
            <a:off x="640080" y="5184648"/>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914400" y="5184648"/>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05</a:t>
            </a:r>
            <a:endParaRPr lang="en-US" sz="2400" dirty="0"/>
          </a:p>
        </p:txBody>
      </p:sp>
      <p:sp>
        <p:nvSpPr>
          <p:cNvPr id="25" name="Text 22"/>
          <p:cNvSpPr txBox="1"/>
          <p:nvPr/>
        </p:nvSpPr>
        <p:spPr>
          <a:xfrm>
            <a:off x="1828800" y="5184648"/>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End results</a:t>
            </a:r>
            <a:endParaRPr lang="en-US" sz="2000" dirty="0"/>
          </a:p>
        </p:txBody>
      </p:sp>
      <p:sp>
        <p:nvSpPr>
          <p:cNvPr id="26" name="Text 23"/>
          <p:cNvSpPr txBox="1"/>
          <p:nvPr/>
        </p:nvSpPr>
        <p:spPr>
          <a:xfrm>
            <a:off x="5394960" y="5184648"/>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What we shipped, by the numbers, and what's next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01</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Aim &amp; goals</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Why Komunitas exists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THE PROBLEM</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Local activities are hard to find and hard to run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4 / 24</a:t>
            </a:r>
            <a:endParaRPr lang="en-US" sz="1100" dirty="0"/>
          </a:p>
        </p:txBody>
      </p:sp>
      <p:sp>
        <p:nvSpPr>
          <p:cNvPr id="7" name="Shape 4"/>
          <p:cNvSpPr/>
          <p:nvPr/>
        </p:nvSpPr>
        <p:spPr>
          <a:xfrm>
            <a:off x="640080" y="1828800"/>
            <a:ext cx="731520" cy="731520"/>
          </a:xfrm>
          <a:prstGeom prst="roundRect">
            <a:avLst>
              <a:gd name="adj" fmla="val 27000"/>
            </a:avLst>
          </a:prstGeom>
          <a:solidFill>
            <a:srgbClr val="F8E8D0"/>
          </a:solidFill>
          <a:ln/>
        </p:spPr>
      </p:sp>
      <p:pic>
        <p:nvPicPr>
          <p:cNvPr id="8" name="Image 1" descr="preencoded.png">    </p:cNvPr>
          <p:cNvPicPr>
            <a:picLocks noChangeAspect="1"/>
          </p:cNvPicPr>
          <p:nvPr/>
        </p:nvPicPr>
        <p:blipFill>
          <a:blip r:embed="rId2"/>
          <a:stretch>
            <a:fillRect/>
          </a:stretch>
        </p:blipFill>
        <p:spPr>
          <a:xfrm>
            <a:off x="815645" y="2004365"/>
            <a:ext cx="380390" cy="380390"/>
          </a:xfrm>
          <a:prstGeom prst="rect">
            <a:avLst/>
          </a:prstGeom>
        </p:spPr>
      </p:pic>
      <p:sp>
        <p:nvSpPr>
          <p:cNvPr id="9" name="Text 5"/>
          <p:cNvSpPr txBox="1"/>
          <p:nvPr/>
        </p:nvSpPr>
        <p:spPr>
          <a:xfrm>
            <a:off x="1600200" y="18105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Scattered</a:t>
            </a:r>
            <a:endParaRPr lang="en-US" sz="1900" dirty="0"/>
          </a:p>
        </p:txBody>
      </p:sp>
      <p:sp>
        <p:nvSpPr>
          <p:cNvPr id="10" name="Text 6"/>
          <p:cNvSpPr txBox="1"/>
          <p:nvPr/>
        </p:nvSpPr>
        <p:spPr>
          <a:xfrm>
            <a:off x="1600200" y="22128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Runs, book clubs and games are announced in private WhatsApp groups and social posts. If you're not in the group, you never hear about them.</a:t>
            </a:r>
            <a:endParaRPr lang="en-US" sz="1400" dirty="0"/>
          </a:p>
        </p:txBody>
      </p:sp>
      <p:sp>
        <p:nvSpPr>
          <p:cNvPr id="11" name="Shape 7"/>
          <p:cNvSpPr/>
          <p:nvPr/>
        </p:nvSpPr>
        <p:spPr>
          <a:xfrm>
            <a:off x="640080" y="3200400"/>
            <a:ext cx="731520" cy="731520"/>
          </a:xfrm>
          <a:prstGeom prst="roundRect">
            <a:avLst>
              <a:gd name="adj" fmla="val 27000"/>
            </a:avLst>
          </a:prstGeom>
          <a:solidFill>
            <a:srgbClr val="F8E8D0"/>
          </a:solidFill>
          <a:ln/>
        </p:spPr>
      </p:sp>
      <p:pic>
        <p:nvPicPr>
          <p:cNvPr id="12" name="Image 2" descr="preencoded.png">    </p:cNvPr>
          <p:cNvPicPr>
            <a:picLocks noChangeAspect="1"/>
          </p:cNvPicPr>
          <p:nvPr/>
        </p:nvPicPr>
        <p:blipFill>
          <a:blip r:embed="rId3"/>
          <a:stretch>
            <a:fillRect/>
          </a:stretch>
        </p:blipFill>
        <p:spPr>
          <a:xfrm>
            <a:off x="815645" y="3375965"/>
            <a:ext cx="380390" cy="380390"/>
          </a:xfrm>
          <a:prstGeom prst="rect">
            <a:avLst/>
          </a:prstGeom>
        </p:spPr>
      </p:pic>
      <p:sp>
        <p:nvSpPr>
          <p:cNvPr id="13" name="Text 8"/>
          <p:cNvSpPr txBox="1"/>
          <p:nvPr/>
        </p:nvSpPr>
        <p:spPr>
          <a:xfrm>
            <a:off x="1600200" y="31821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Hard to join</a:t>
            </a:r>
            <a:endParaRPr lang="en-US" sz="1900" dirty="0"/>
          </a:p>
        </p:txBody>
      </p:sp>
      <p:sp>
        <p:nvSpPr>
          <p:cNvPr id="14" name="Text 9"/>
          <p:cNvSpPr txBox="1"/>
          <p:nvPr/>
        </p:nvSpPr>
        <p:spPr>
          <a:xfrm>
            <a:off x="1600200" y="35844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Newcomers don't know who to ask, whether there's room, or whether it's even open to them.</a:t>
            </a:r>
            <a:endParaRPr lang="en-US" sz="1400" dirty="0"/>
          </a:p>
        </p:txBody>
      </p:sp>
      <p:sp>
        <p:nvSpPr>
          <p:cNvPr id="15" name="Shape 10"/>
          <p:cNvSpPr/>
          <p:nvPr/>
        </p:nvSpPr>
        <p:spPr>
          <a:xfrm>
            <a:off x="640080" y="4572000"/>
            <a:ext cx="731520" cy="731520"/>
          </a:xfrm>
          <a:prstGeom prst="roundRect">
            <a:avLst>
              <a:gd name="adj" fmla="val 27000"/>
            </a:avLst>
          </a:prstGeom>
          <a:solidFill>
            <a:srgbClr val="F8E8D0"/>
          </a:solidFill>
          <a:ln/>
        </p:spPr>
      </p:sp>
      <p:pic>
        <p:nvPicPr>
          <p:cNvPr id="16" name="Image 3" descr="preencoded.png">    </p:cNvPr>
          <p:cNvPicPr>
            <a:picLocks noChangeAspect="1"/>
          </p:cNvPicPr>
          <p:nvPr/>
        </p:nvPicPr>
        <p:blipFill>
          <a:blip r:embed="rId4"/>
          <a:stretch>
            <a:fillRect/>
          </a:stretch>
        </p:blipFill>
        <p:spPr>
          <a:xfrm>
            <a:off x="815645" y="4747565"/>
            <a:ext cx="380390" cy="380390"/>
          </a:xfrm>
          <a:prstGeom prst="rect">
            <a:avLst/>
          </a:prstGeom>
        </p:spPr>
      </p:pic>
      <p:sp>
        <p:nvSpPr>
          <p:cNvPr id="17" name="Text 11"/>
          <p:cNvSpPr txBox="1"/>
          <p:nvPr/>
        </p:nvSpPr>
        <p:spPr>
          <a:xfrm>
            <a:off x="1600200" y="45537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Manual work</a:t>
            </a:r>
            <a:endParaRPr lang="en-US" sz="1900" dirty="0"/>
          </a:p>
        </p:txBody>
      </p:sp>
      <p:sp>
        <p:nvSpPr>
          <p:cNvPr id="18" name="Text 12"/>
          <p:cNvSpPr txBox="1"/>
          <p:nvPr/>
        </p:nvSpPr>
        <p:spPr>
          <a:xfrm>
            <a:off x="1600200" y="49560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Organizers track sign-ups, capacity and contact numbers by hand, in chats and spreadsheets.</a:t>
            </a:r>
            <a:endParaRPr lang="en-US" sz="1400" dirty="0"/>
          </a:p>
        </p:txBody>
      </p:sp>
      <p:sp>
        <p:nvSpPr>
          <p:cNvPr id="19" name="Shape 13"/>
          <p:cNvSpPr/>
          <p:nvPr/>
        </p:nvSpPr>
        <p:spPr>
          <a:xfrm>
            <a:off x="6858000" y="1828800"/>
            <a:ext cx="4663440" cy="4023360"/>
          </a:xfrm>
          <a:prstGeom prst="roundRect">
            <a:avLst>
              <a:gd name="adj" fmla="val 454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4"/>
          <p:cNvSpPr/>
          <p:nvPr/>
        </p:nvSpPr>
        <p:spPr>
          <a:xfrm>
            <a:off x="7223760" y="2194560"/>
            <a:ext cx="731520" cy="731520"/>
          </a:xfrm>
          <a:prstGeom prst="roundRect">
            <a:avLst>
              <a:gd name="adj" fmla="val 27000"/>
            </a:avLst>
          </a:prstGeom>
          <a:solidFill>
            <a:srgbClr val="F97316"/>
          </a:solidFill>
          <a:ln/>
        </p:spPr>
      </p:sp>
      <p:pic>
        <p:nvPicPr>
          <p:cNvPr id="21" name="Image 4" descr="preencoded.png">    </p:cNvPr>
          <p:cNvPicPr>
            <a:picLocks noChangeAspect="1"/>
          </p:cNvPicPr>
          <p:nvPr/>
        </p:nvPicPr>
        <p:blipFill>
          <a:blip r:embed="rId5"/>
          <a:stretch>
            <a:fillRect/>
          </a:stretch>
        </p:blipFill>
        <p:spPr>
          <a:xfrm>
            <a:off x="7399325" y="2370125"/>
            <a:ext cx="380390" cy="380390"/>
          </a:xfrm>
          <a:prstGeom prst="rect">
            <a:avLst/>
          </a:prstGeom>
        </p:spPr>
      </p:pic>
      <p:sp>
        <p:nvSpPr>
          <p:cNvPr id="22" name="Text 15"/>
          <p:cNvSpPr txBox="1"/>
          <p:nvPr/>
        </p:nvSpPr>
        <p:spPr>
          <a:xfrm>
            <a:off x="7223760" y="3154680"/>
            <a:ext cx="393192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OUR AIM</a:t>
            </a:r>
            <a:endParaRPr lang="en-US" sz="1300" dirty="0"/>
          </a:p>
        </p:txBody>
      </p:sp>
      <p:sp>
        <p:nvSpPr>
          <p:cNvPr id="23" name="Text 16"/>
          <p:cNvSpPr txBox="1"/>
          <p:nvPr/>
        </p:nvSpPr>
        <p:spPr>
          <a:xfrm>
            <a:off x="7223760" y="3520440"/>
            <a:ext cx="3931920" cy="2103120"/>
          </a:xfrm>
          <a:prstGeom prst="rect">
            <a:avLst/>
          </a:prstGeom>
          <a:noFill/>
          <a:ln/>
        </p:spPr>
        <p:txBody>
          <a:bodyPr wrap="square" lIns="0" tIns="0" rIns="0" bIns="0" rtlCol="0" anchor="t"/>
          <a:lstStyle/>
          <a:p>
            <a:pPr indent="0" marL="0">
              <a:lnSpc>
                <a:spcPct val="110000"/>
              </a:lnSpc>
              <a:buNone/>
            </a:pPr>
            <a:r>
              <a:rPr lang="en-US" sz="1900" b="1" dirty="0">
                <a:solidFill>
                  <a:srgbClr val="292524"/>
                </a:solidFill>
                <a:latin typeface="Arial" pitchFamily="34" charset="0"/>
                <a:ea typeface="Arial" pitchFamily="34" charset="-122"/>
                <a:cs typeface="Arial" pitchFamily="34" charset="-120"/>
              </a:rPr>
              <a:t>One place to discover, create and join social activities near you, based on your interests and location, while keeping your exact location private.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GOALS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Five goals the product had to meet</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5 / 24</a:t>
            </a:r>
            <a:endParaRPr lang="en-US" sz="1100" dirty="0"/>
          </a:p>
        </p:txBody>
      </p:sp>
      <p:sp>
        <p:nvSpPr>
          <p:cNvPr id="7" name="Shape 4"/>
          <p:cNvSpPr/>
          <p:nvPr/>
        </p:nvSpPr>
        <p:spPr>
          <a:xfrm>
            <a:off x="64008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86868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20 km</a:t>
            </a:r>
            <a:endParaRPr lang="en-US" sz="4000" dirty="0"/>
          </a:p>
        </p:txBody>
      </p:sp>
      <p:sp>
        <p:nvSpPr>
          <p:cNvPr id="9" name="Text 6"/>
          <p:cNvSpPr txBox="1"/>
          <p:nvPr/>
        </p:nvSpPr>
        <p:spPr>
          <a:xfrm>
            <a:off x="86868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Nearby first</a:t>
            </a:r>
            <a:endParaRPr lang="en-US" sz="1700" dirty="0"/>
          </a:p>
        </p:txBody>
      </p:sp>
      <p:sp>
        <p:nvSpPr>
          <p:cNvPr id="10" name="Text 7"/>
          <p:cNvSpPr txBox="1"/>
          <p:nvPr/>
        </p:nvSpPr>
        <p:spPr>
          <a:xfrm>
            <a:off x="86868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The dashboard shows open activities within 20 km of you, matched to your hobbies.</a:t>
            </a:r>
            <a:endParaRPr lang="en-US" sz="1350" dirty="0"/>
          </a:p>
        </p:txBody>
      </p:sp>
      <p:sp>
        <p:nvSpPr>
          <p:cNvPr id="11" name="Shape 8"/>
          <p:cNvSpPr/>
          <p:nvPr/>
        </p:nvSpPr>
        <p:spPr>
          <a:xfrm>
            <a:off x="285750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308610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1 tap</a:t>
            </a:r>
            <a:endParaRPr lang="en-US" sz="4000" dirty="0"/>
          </a:p>
        </p:txBody>
      </p:sp>
      <p:sp>
        <p:nvSpPr>
          <p:cNvPr id="13" name="Text 10"/>
          <p:cNvSpPr txBox="1"/>
          <p:nvPr/>
        </p:nvSpPr>
        <p:spPr>
          <a:xfrm>
            <a:off x="308610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Easy to join</a:t>
            </a:r>
            <a:endParaRPr lang="en-US" sz="1700" dirty="0"/>
          </a:p>
        </p:txBody>
      </p:sp>
      <p:sp>
        <p:nvSpPr>
          <p:cNvPr id="14" name="Text 11"/>
          <p:cNvSpPr txBox="1"/>
          <p:nvPr/>
        </p:nvSpPr>
        <p:spPr>
          <a:xfrm>
            <a:off x="308610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Join open activities instantly, or request a spot when the organizer approves joiners.</a:t>
            </a:r>
            <a:endParaRPr lang="en-US" sz="1350" dirty="0"/>
          </a:p>
        </p:txBody>
      </p:sp>
      <p:sp>
        <p:nvSpPr>
          <p:cNvPr id="15" name="Shape 12"/>
          <p:cNvSpPr/>
          <p:nvPr/>
        </p:nvSpPr>
        <p:spPr>
          <a:xfrm>
            <a:off x="507492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530352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4 ways</a:t>
            </a:r>
            <a:endParaRPr lang="en-US" sz="3000" dirty="0"/>
          </a:p>
        </p:txBody>
      </p:sp>
      <p:sp>
        <p:nvSpPr>
          <p:cNvPr id="17" name="Text 14"/>
          <p:cNvSpPr txBox="1"/>
          <p:nvPr/>
        </p:nvSpPr>
        <p:spPr>
          <a:xfrm>
            <a:off x="530352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Easy to share</a:t>
            </a:r>
            <a:endParaRPr lang="en-US" sz="1700" dirty="0"/>
          </a:p>
        </p:txBody>
      </p:sp>
      <p:sp>
        <p:nvSpPr>
          <p:cNvPr id="18" name="Text 15"/>
          <p:cNvSpPr txBox="1"/>
          <p:nvPr/>
        </p:nvSpPr>
        <p:spPr>
          <a:xfrm>
            <a:off x="530352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Invite link, WhatsApp, QR code and a ready-made flyer for every activity.</a:t>
            </a:r>
            <a:endParaRPr lang="en-US" sz="1350" dirty="0"/>
          </a:p>
        </p:txBody>
      </p:sp>
      <p:sp>
        <p:nvSpPr>
          <p:cNvPr id="19" name="Shape 16"/>
          <p:cNvSpPr/>
          <p:nvPr/>
        </p:nvSpPr>
        <p:spPr>
          <a:xfrm>
            <a:off x="729234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752094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0</a:t>
            </a:r>
            <a:endParaRPr lang="en-US" sz="4000" dirty="0"/>
          </a:p>
        </p:txBody>
      </p:sp>
      <p:sp>
        <p:nvSpPr>
          <p:cNvPr id="21" name="Text 18"/>
          <p:cNvSpPr txBox="1"/>
          <p:nvPr/>
        </p:nvSpPr>
        <p:spPr>
          <a:xfrm>
            <a:off x="752094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GPS stored</a:t>
            </a:r>
            <a:endParaRPr lang="en-US" sz="1700" dirty="0"/>
          </a:p>
        </p:txBody>
      </p:sp>
      <p:sp>
        <p:nvSpPr>
          <p:cNvPr id="22" name="Text 19"/>
          <p:cNvSpPr txBox="1"/>
          <p:nvPr/>
        </p:nvSpPr>
        <p:spPr>
          <a:xfrm>
            <a:off x="752094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Your live location is used in the moment only and never saved to the database.</a:t>
            </a:r>
            <a:endParaRPr lang="en-US" sz="1350" dirty="0"/>
          </a:p>
        </p:txBody>
      </p:sp>
      <p:sp>
        <p:nvSpPr>
          <p:cNvPr id="23" name="Shape 20"/>
          <p:cNvSpPr/>
          <p:nvPr/>
        </p:nvSpPr>
        <p:spPr>
          <a:xfrm>
            <a:off x="950976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973836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EN · ID</a:t>
            </a:r>
            <a:endParaRPr lang="en-US" sz="3000" dirty="0"/>
          </a:p>
        </p:txBody>
      </p:sp>
      <p:sp>
        <p:nvSpPr>
          <p:cNvPr id="25" name="Text 22"/>
          <p:cNvSpPr txBox="1"/>
          <p:nvPr/>
        </p:nvSpPr>
        <p:spPr>
          <a:xfrm>
            <a:off x="973836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Bilingual</a:t>
            </a:r>
            <a:endParaRPr lang="en-US" sz="1700" dirty="0"/>
          </a:p>
        </p:txBody>
      </p:sp>
      <p:sp>
        <p:nvSpPr>
          <p:cNvPr id="26" name="Text 23"/>
          <p:cNvSpPr txBox="1"/>
          <p:nvPr/>
        </p:nvSpPr>
        <p:spPr>
          <a:xfrm>
            <a:off x="973836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Every screen in English and Bahasa Indonesia, switchable at any time.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02</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How to use it</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For participants, organizers and admins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MEET THE APP</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 mobile-first web app, no install needed</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7 / 24</a:t>
            </a:r>
            <a:endParaRPr lang="en-US" sz="1100" dirty="0"/>
          </a:p>
        </p:txBody>
      </p:sp>
      <p:sp>
        <p:nvSpPr>
          <p:cNvPr id="7" name="Shape 4"/>
          <p:cNvSpPr/>
          <p:nvPr/>
        </p:nvSpPr>
        <p:spPr>
          <a:xfrm>
            <a:off x="640080" y="1783080"/>
            <a:ext cx="6766560" cy="4251960"/>
          </a:xfrm>
          <a:prstGeom prst="roundRect">
            <a:avLst>
              <a:gd name="adj" fmla="val 4301"/>
            </a:avLst>
          </a:prstGeom>
          <a:solidFill>
            <a:srgbClr val="292524"/>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8" name="Image 1" descr="/Users/gerejastanislaus/Capstone Project/flyer/deck-assets/landing.png">    </p:cNvPr>
          <p:cNvPicPr>
            <a:picLocks noChangeAspect="1"/>
          </p:cNvPicPr>
          <p:nvPr/>
        </p:nvPicPr>
        <p:blipFill>
          <a:blip r:embed="rId2"/>
          <a:stretch>
            <a:fillRect/>
          </a:stretch>
        </p:blipFill>
        <p:spPr>
          <a:xfrm>
            <a:off x="777240" y="1920240"/>
            <a:ext cx="6492240" cy="4057650"/>
          </a:xfrm>
          <a:prstGeom prst="rect">
            <a:avLst/>
          </a:prstGeom>
        </p:spPr>
      </p:pic>
      <p:sp>
        <p:nvSpPr>
          <p:cNvPr id="9" name="Shape 5"/>
          <p:cNvSpPr/>
          <p:nvPr/>
        </p:nvSpPr>
        <p:spPr>
          <a:xfrm>
            <a:off x="7772400" y="1828800"/>
            <a:ext cx="640080" cy="640080"/>
          </a:xfrm>
          <a:prstGeom prst="roundRect">
            <a:avLst>
              <a:gd name="adj" fmla="val 27000"/>
            </a:avLst>
          </a:prstGeom>
          <a:solidFill>
            <a:srgbClr val="F97316"/>
          </a:solidFill>
          <a:ln/>
        </p:spPr>
      </p:sp>
      <p:pic>
        <p:nvPicPr>
          <p:cNvPr id="10" name="Image 2" descr="preencoded.png">    </p:cNvPr>
          <p:cNvPicPr>
            <a:picLocks noChangeAspect="1"/>
          </p:cNvPicPr>
          <p:nvPr/>
        </p:nvPicPr>
        <p:blipFill>
          <a:blip r:embed="rId3"/>
          <a:stretch>
            <a:fillRect/>
          </a:stretch>
        </p:blipFill>
        <p:spPr>
          <a:xfrm>
            <a:off x="7926019" y="1982419"/>
            <a:ext cx="332842" cy="332842"/>
          </a:xfrm>
          <a:prstGeom prst="rect">
            <a:avLst/>
          </a:prstGeom>
        </p:spPr>
      </p:pic>
      <p:sp>
        <p:nvSpPr>
          <p:cNvPr id="11" name="Text 6"/>
          <p:cNvSpPr txBox="1"/>
          <p:nvPr/>
        </p:nvSpPr>
        <p:spPr>
          <a:xfrm>
            <a:off x="8595360" y="180136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Works in any browser</a:t>
            </a:r>
            <a:endParaRPr lang="en-US" sz="1600" dirty="0"/>
          </a:p>
        </p:txBody>
      </p:sp>
      <p:sp>
        <p:nvSpPr>
          <p:cNvPr id="12" name="Text 7"/>
          <p:cNvSpPr txBox="1"/>
          <p:nvPr/>
        </p:nvSpPr>
        <p:spPr>
          <a:xfrm>
            <a:off x="8595360" y="214884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Phone first, with a bottom nav on mobile and a sidebar on desktop.</a:t>
            </a:r>
            <a:endParaRPr lang="en-US" sz="1250" dirty="0"/>
          </a:p>
        </p:txBody>
      </p:sp>
      <p:sp>
        <p:nvSpPr>
          <p:cNvPr id="13" name="Shape 8"/>
          <p:cNvSpPr/>
          <p:nvPr/>
        </p:nvSpPr>
        <p:spPr>
          <a:xfrm>
            <a:off x="7772400" y="2880360"/>
            <a:ext cx="640080" cy="640080"/>
          </a:xfrm>
          <a:prstGeom prst="roundRect">
            <a:avLst>
              <a:gd name="adj" fmla="val 27000"/>
            </a:avLst>
          </a:prstGeom>
          <a:solidFill>
            <a:srgbClr val="F97316"/>
          </a:solidFill>
          <a:ln/>
        </p:spPr>
      </p:sp>
      <p:pic>
        <p:nvPicPr>
          <p:cNvPr id="14" name="Image 3" descr="preencoded.png">    </p:cNvPr>
          <p:cNvPicPr>
            <a:picLocks noChangeAspect="1"/>
          </p:cNvPicPr>
          <p:nvPr/>
        </p:nvPicPr>
        <p:blipFill>
          <a:blip r:embed="rId4"/>
          <a:stretch>
            <a:fillRect/>
          </a:stretch>
        </p:blipFill>
        <p:spPr>
          <a:xfrm>
            <a:off x="7926019" y="3033979"/>
            <a:ext cx="332842" cy="332842"/>
          </a:xfrm>
          <a:prstGeom prst="rect">
            <a:avLst/>
          </a:prstGeom>
        </p:spPr>
      </p:pic>
      <p:sp>
        <p:nvSpPr>
          <p:cNvPr id="15" name="Text 9"/>
          <p:cNvSpPr txBox="1"/>
          <p:nvPr/>
        </p:nvSpPr>
        <p:spPr>
          <a:xfrm>
            <a:off x="8595360" y="285292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Light, dark or system</a:t>
            </a:r>
            <a:endParaRPr lang="en-US" sz="1600" dirty="0"/>
          </a:p>
        </p:txBody>
      </p:sp>
      <p:sp>
        <p:nvSpPr>
          <p:cNvPr id="16" name="Text 10"/>
          <p:cNvSpPr txBox="1"/>
          <p:nvPr/>
        </p:nvSpPr>
        <p:spPr>
          <a:xfrm>
            <a:off x="8595360" y="320040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Warm orange and cream design, Plus Jakarta Sans.</a:t>
            </a:r>
            <a:endParaRPr lang="en-US" sz="1250" dirty="0"/>
          </a:p>
        </p:txBody>
      </p:sp>
      <p:sp>
        <p:nvSpPr>
          <p:cNvPr id="17" name="Shape 11"/>
          <p:cNvSpPr/>
          <p:nvPr/>
        </p:nvSpPr>
        <p:spPr>
          <a:xfrm>
            <a:off x="7772400" y="3931920"/>
            <a:ext cx="640080" cy="640080"/>
          </a:xfrm>
          <a:prstGeom prst="roundRect">
            <a:avLst>
              <a:gd name="adj" fmla="val 27000"/>
            </a:avLst>
          </a:prstGeom>
          <a:solidFill>
            <a:srgbClr val="F97316"/>
          </a:solidFill>
          <a:ln/>
        </p:spPr>
      </p:sp>
      <p:pic>
        <p:nvPicPr>
          <p:cNvPr id="18" name="Image 4" descr="preencoded.png">    </p:cNvPr>
          <p:cNvPicPr>
            <a:picLocks noChangeAspect="1"/>
          </p:cNvPicPr>
          <p:nvPr/>
        </p:nvPicPr>
        <p:blipFill>
          <a:blip r:embed="rId5"/>
          <a:stretch>
            <a:fillRect/>
          </a:stretch>
        </p:blipFill>
        <p:spPr>
          <a:xfrm>
            <a:off x="7926019" y="4085539"/>
            <a:ext cx="332842" cy="332842"/>
          </a:xfrm>
          <a:prstGeom prst="rect">
            <a:avLst/>
          </a:prstGeom>
        </p:spPr>
      </p:pic>
      <p:sp>
        <p:nvSpPr>
          <p:cNvPr id="19" name="Text 12"/>
          <p:cNvSpPr txBox="1"/>
          <p:nvPr/>
        </p:nvSpPr>
        <p:spPr>
          <a:xfrm>
            <a:off x="8595360" y="390448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English / Indonesian</a:t>
            </a:r>
            <a:endParaRPr lang="en-US" sz="1600" dirty="0"/>
          </a:p>
        </p:txBody>
      </p:sp>
      <p:sp>
        <p:nvSpPr>
          <p:cNvPr id="20" name="Text 13"/>
          <p:cNvSpPr txBox="1"/>
          <p:nvPr/>
        </p:nvSpPr>
        <p:spPr>
          <a:xfrm>
            <a:off x="8595360" y="425196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Switch language from the header on any page.</a:t>
            </a:r>
            <a:endParaRPr lang="en-US" sz="1250" dirty="0"/>
          </a:p>
        </p:txBody>
      </p:sp>
      <p:sp>
        <p:nvSpPr>
          <p:cNvPr id="21" name="Shape 14"/>
          <p:cNvSpPr/>
          <p:nvPr/>
        </p:nvSpPr>
        <p:spPr>
          <a:xfrm>
            <a:off x="7772400" y="4983480"/>
            <a:ext cx="640080" cy="640080"/>
          </a:xfrm>
          <a:prstGeom prst="roundRect">
            <a:avLst>
              <a:gd name="adj" fmla="val 27000"/>
            </a:avLst>
          </a:prstGeom>
          <a:solidFill>
            <a:srgbClr val="F97316"/>
          </a:solidFill>
          <a:ln/>
        </p:spPr>
      </p:sp>
      <p:pic>
        <p:nvPicPr>
          <p:cNvPr id="22" name="Image 5" descr="preencoded.png">    </p:cNvPr>
          <p:cNvPicPr>
            <a:picLocks noChangeAspect="1"/>
          </p:cNvPicPr>
          <p:nvPr/>
        </p:nvPicPr>
        <p:blipFill>
          <a:blip r:embed="rId6"/>
          <a:stretch>
            <a:fillRect/>
          </a:stretch>
        </p:blipFill>
        <p:spPr>
          <a:xfrm>
            <a:off x="7926019" y="5137099"/>
            <a:ext cx="332842" cy="332842"/>
          </a:xfrm>
          <a:prstGeom prst="rect">
            <a:avLst/>
          </a:prstGeom>
        </p:spPr>
      </p:pic>
      <p:sp>
        <p:nvSpPr>
          <p:cNvPr id="23" name="Text 15"/>
          <p:cNvSpPr txBox="1"/>
          <p:nvPr/>
        </p:nvSpPr>
        <p:spPr>
          <a:xfrm>
            <a:off x="8595360" y="495604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Always up to date</a:t>
            </a:r>
            <a:endParaRPr lang="en-US" sz="1600" dirty="0"/>
          </a:p>
        </p:txBody>
      </p:sp>
      <p:sp>
        <p:nvSpPr>
          <p:cNvPr id="24" name="Text 16"/>
          <p:cNvSpPr txBox="1"/>
          <p:nvPr/>
        </p:nvSpPr>
        <p:spPr>
          <a:xfrm>
            <a:off x="8595360" y="530352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Live at komunitasa.vercel.app, updated on every release.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WHO USES IT</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Five roles, each with clear permissions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8 / 24</a:t>
            </a:r>
            <a:endParaRPr lang="en-US" sz="1100" dirty="0"/>
          </a:p>
        </p:txBody>
      </p:sp>
      <p:sp>
        <p:nvSpPr>
          <p:cNvPr id="7" name="Shape 4"/>
          <p:cNvSpPr/>
          <p:nvPr/>
        </p:nvSpPr>
        <p:spPr>
          <a:xfrm>
            <a:off x="64008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94560"/>
            <a:ext cx="731520" cy="73152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89965" y="2370125"/>
            <a:ext cx="380390" cy="380390"/>
          </a:xfrm>
          <a:prstGeom prst="rect">
            <a:avLst/>
          </a:prstGeom>
        </p:spPr>
      </p:pic>
      <p:sp>
        <p:nvSpPr>
          <p:cNvPr id="10" name="Text 6"/>
          <p:cNvSpPr txBox="1"/>
          <p:nvPr/>
        </p:nvSpPr>
        <p:spPr>
          <a:xfrm>
            <a:off x="91440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Participant</a:t>
            </a:r>
            <a:endParaRPr lang="en-US" sz="1600" dirty="0"/>
          </a:p>
        </p:txBody>
      </p:sp>
      <p:sp>
        <p:nvSpPr>
          <p:cNvPr id="11" name="Text 7"/>
          <p:cNvSpPr txBox="1"/>
          <p:nvPr/>
        </p:nvSpPr>
        <p:spPr>
          <a:xfrm>
            <a:off x="91440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Discovers, joins, comments and messages. Every new member starts here.</a:t>
            </a:r>
            <a:endParaRPr lang="en-US" sz="1350" dirty="0"/>
          </a:p>
        </p:txBody>
      </p:sp>
      <p:sp>
        <p:nvSpPr>
          <p:cNvPr id="12" name="Shape 8"/>
          <p:cNvSpPr/>
          <p:nvPr/>
        </p:nvSpPr>
        <p:spPr>
          <a:xfrm>
            <a:off x="2857500" y="1874520"/>
            <a:ext cx="2011680" cy="3931920"/>
          </a:xfrm>
          <a:prstGeom prst="roundRect">
            <a:avLst>
              <a:gd name="adj" fmla="val 9091"/>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3131820" y="2194560"/>
            <a:ext cx="731520" cy="731520"/>
          </a:xfrm>
          <a:prstGeom prst="roundRect">
            <a:avLst>
              <a:gd name="adj" fmla="val 27000"/>
            </a:avLst>
          </a:prstGeom>
          <a:solidFill>
            <a:srgbClr val="C2410C"/>
          </a:solidFill>
          <a:ln/>
        </p:spPr>
      </p:sp>
      <p:pic>
        <p:nvPicPr>
          <p:cNvPr id="14" name="Image 2" descr="preencoded.png">    </p:cNvPr>
          <p:cNvPicPr>
            <a:picLocks noChangeAspect="1"/>
          </p:cNvPicPr>
          <p:nvPr/>
        </p:nvPicPr>
        <p:blipFill>
          <a:blip r:embed="rId3"/>
          <a:stretch>
            <a:fillRect/>
          </a:stretch>
        </p:blipFill>
        <p:spPr>
          <a:xfrm>
            <a:off x="3307385" y="2370125"/>
            <a:ext cx="380390" cy="380390"/>
          </a:xfrm>
          <a:prstGeom prst="rect">
            <a:avLst/>
          </a:prstGeom>
        </p:spPr>
      </p:pic>
      <p:sp>
        <p:nvSpPr>
          <p:cNvPr id="15" name="Text 10"/>
          <p:cNvSpPr txBox="1"/>
          <p:nvPr/>
        </p:nvSpPr>
        <p:spPr>
          <a:xfrm>
            <a:off x="313182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Organizer</a:t>
            </a:r>
            <a:endParaRPr lang="en-US" sz="1600" dirty="0"/>
          </a:p>
        </p:txBody>
      </p:sp>
      <p:sp>
        <p:nvSpPr>
          <p:cNvPr id="16" name="Text 11"/>
          <p:cNvSpPr txBox="1"/>
          <p:nvPr/>
        </p:nvSpPr>
        <p:spPr>
          <a:xfrm>
            <a:off x="313182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Any participant who creates an activity: edits it, approves joiners, shares it, makes flyers.</a:t>
            </a:r>
            <a:endParaRPr lang="en-US" sz="1350" dirty="0"/>
          </a:p>
        </p:txBody>
      </p:sp>
      <p:sp>
        <p:nvSpPr>
          <p:cNvPr id="17" name="Shape 12"/>
          <p:cNvSpPr/>
          <p:nvPr/>
        </p:nvSpPr>
        <p:spPr>
          <a:xfrm>
            <a:off x="507492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5349240" y="2194560"/>
            <a:ext cx="731520" cy="731520"/>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5524805" y="2370125"/>
            <a:ext cx="380390" cy="380390"/>
          </a:xfrm>
          <a:prstGeom prst="rect">
            <a:avLst/>
          </a:prstGeom>
        </p:spPr>
      </p:pic>
      <p:sp>
        <p:nvSpPr>
          <p:cNvPr id="20" name="Text 14"/>
          <p:cNvSpPr txBox="1"/>
          <p:nvPr/>
        </p:nvSpPr>
        <p:spPr>
          <a:xfrm>
            <a:off x="534924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Moderator</a:t>
            </a:r>
            <a:endParaRPr lang="en-US" sz="1600" dirty="0"/>
          </a:p>
        </p:txBody>
      </p:sp>
      <p:sp>
        <p:nvSpPr>
          <p:cNvPr id="21" name="Text 15"/>
          <p:cNvSpPr txBox="1"/>
          <p:nvPr/>
        </p:nvSpPr>
        <p:spPr>
          <a:xfrm>
            <a:off x="534924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Handles complaints and reported comments or messages.</a:t>
            </a:r>
            <a:endParaRPr lang="en-US" sz="1350" dirty="0"/>
          </a:p>
        </p:txBody>
      </p:sp>
      <p:sp>
        <p:nvSpPr>
          <p:cNvPr id="22" name="Shape 16"/>
          <p:cNvSpPr/>
          <p:nvPr/>
        </p:nvSpPr>
        <p:spPr>
          <a:xfrm>
            <a:off x="729234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7566660" y="2194560"/>
            <a:ext cx="731520" cy="731520"/>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7742225" y="2370125"/>
            <a:ext cx="380390" cy="380390"/>
          </a:xfrm>
          <a:prstGeom prst="rect">
            <a:avLst/>
          </a:prstGeom>
        </p:spPr>
      </p:pic>
      <p:sp>
        <p:nvSpPr>
          <p:cNvPr id="25" name="Text 18"/>
          <p:cNvSpPr txBox="1"/>
          <p:nvPr/>
        </p:nvSpPr>
        <p:spPr>
          <a:xfrm>
            <a:off x="756666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Admin</a:t>
            </a:r>
            <a:endParaRPr lang="en-US" sz="1600" dirty="0"/>
          </a:p>
        </p:txBody>
      </p:sp>
      <p:sp>
        <p:nvSpPr>
          <p:cNvPr id="26" name="Text 19"/>
          <p:cNvSpPr txBox="1"/>
          <p:nvPr/>
        </p:nvSpPr>
        <p:spPr>
          <a:xfrm>
            <a:off x="756666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Also manages users, events, categories, settings and data exports.</a:t>
            </a:r>
            <a:endParaRPr lang="en-US" sz="1350" dirty="0"/>
          </a:p>
        </p:txBody>
      </p:sp>
      <p:sp>
        <p:nvSpPr>
          <p:cNvPr id="27" name="Shape 20"/>
          <p:cNvSpPr/>
          <p:nvPr/>
        </p:nvSpPr>
        <p:spPr>
          <a:xfrm>
            <a:off x="950976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9784080" y="2194560"/>
            <a:ext cx="731520" cy="731520"/>
          </a:xfrm>
          <a:prstGeom prst="roundRect">
            <a:avLst>
              <a:gd name="adj" fmla="val 27000"/>
            </a:avLst>
          </a:prstGeom>
          <a:solidFill>
            <a:srgbClr val="F97316"/>
          </a:solidFill>
          <a:ln/>
        </p:spPr>
      </p:sp>
      <p:pic>
        <p:nvPicPr>
          <p:cNvPr id="29" name="Image 5" descr="preencoded.png">    </p:cNvPr>
          <p:cNvPicPr>
            <a:picLocks noChangeAspect="1"/>
          </p:cNvPicPr>
          <p:nvPr/>
        </p:nvPicPr>
        <p:blipFill>
          <a:blip r:embed="rId6"/>
          <a:stretch>
            <a:fillRect/>
          </a:stretch>
        </p:blipFill>
        <p:spPr>
          <a:xfrm>
            <a:off x="9959645" y="2370125"/>
            <a:ext cx="380390" cy="380390"/>
          </a:xfrm>
          <a:prstGeom prst="rect">
            <a:avLst/>
          </a:prstGeom>
        </p:spPr>
      </p:pic>
      <p:sp>
        <p:nvSpPr>
          <p:cNvPr id="30" name="Text 22"/>
          <p:cNvSpPr txBox="1"/>
          <p:nvPr/>
        </p:nvSpPr>
        <p:spPr>
          <a:xfrm>
            <a:off x="978408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Super admin</a:t>
            </a:r>
            <a:endParaRPr lang="en-US" sz="1600" dirty="0"/>
          </a:p>
        </p:txBody>
      </p:sp>
      <p:sp>
        <p:nvSpPr>
          <p:cNvPr id="31" name="Text 23"/>
          <p:cNvSpPr txBox="1"/>
          <p:nvPr/>
        </p:nvSpPr>
        <p:spPr>
          <a:xfrm>
            <a:off x="978408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Also changes roles and anonymizes users. Every admin action is audited.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HOW TO USE · PARTICIPANTS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From sign-up to showing up in five steps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9 / 24</a:t>
            </a:r>
            <a:endParaRPr lang="en-US" sz="1100" dirty="0"/>
          </a:p>
        </p:txBody>
      </p:sp>
      <p:sp>
        <p:nvSpPr>
          <p:cNvPr id="7" name="Shape 4"/>
          <p:cNvSpPr/>
          <p:nvPr/>
        </p:nvSpPr>
        <p:spPr>
          <a:xfrm>
            <a:off x="64008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240280"/>
            <a:ext cx="685800" cy="68580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78992" y="2404872"/>
            <a:ext cx="356616" cy="356616"/>
          </a:xfrm>
          <a:prstGeom prst="rect">
            <a:avLst/>
          </a:prstGeom>
        </p:spPr>
      </p:pic>
      <p:sp>
        <p:nvSpPr>
          <p:cNvPr id="10" name="Text 6"/>
          <p:cNvSpPr txBox="1"/>
          <p:nvPr/>
        </p:nvSpPr>
        <p:spPr>
          <a:xfrm>
            <a:off x="173736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01</a:t>
            </a:r>
            <a:endParaRPr lang="en-US" sz="2000" dirty="0"/>
          </a:p>
        </p:txBody>
      </p:sp>
      <p:sp>
        <p:nvSpPr>
          <p:cNvPr id="11" name="Text 7"/>
          <p:cNvSpPr txBox="1"/>
          <p:nvPr/>
        </p:nvSpPr>
        <p:spPr>
          <a:xfrm>
            <a:off x="91440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Sign up</a:t>
            </a:r>
            <a:endParaRPr lang="en-US" sz="1800" dirty="0"/>
          </a:p>
        </p:txBody>
      </p:sp>
      <p:sp>
        <p:nvSpPr>
          <p:cNvPr id="12" name="Text 8"/>
          <p:cNvSpPr txBox="1"/>
          <p:nvPr/>
        </p:nvSpPr>
        <p:spPr>
          <a:xfrm>
            <a:off x="91440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Email, password and a 6-digit code sent by email. Then set a 6-digit PIN for quick sign-in.</a:t>
            </a:r>
            <a:endParaRPr lang="en-US" sz="1300" dirty="0"/>
          </a:p>
        </p:txBody>
      </p:sp>
      <p:pic>
        <p:nvPicPr>
          <p:cNvPr id="13" name="Image 2" descr="preencoded.png">    </p:cNvPr>
          <p:cNvPicPr>
            <a:picLocks noChangeAspect="1"/>
          </p:cNvPicPr>
          <p:nvPr/>
        </p:nvPicPr>
        <p:blipFill>
          <a:blip r:embed="rId3"/>
          <a:stretch>
            <a:fillRect/>
          </a:stretch>
        </p:blipFill>
        <p:spPr>
          <a:xfrm>
            <a:off x="2642616" y="3534156"/>
            <a:ext cx="201168" cy="201168"/>
          </a:xfrm>
          <a:prstGeom prst="rect">
            <a:avLst/>
          </a:prstGeom>
        </p:spPr>
      </p:pic>
      <p:sp>
        <p:nvSpPr>
          <p:cNvPr id="14" name="Shape 9"/>
          <p:cNvSpPr/>
          <p:nvPr/>
        </p:nvSpPr>
        <p:spPr>
          <a:xfrm>
            <a:off x="288036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5" name="Shape 10"/>
          <p:cNvSpPr/>
          <p:nvPr/>
        </p:nvSpPr>
        <p:spPr>
          <a:xfrm>
            <a:off x="3154680" y="2240280"/>
            <a:ext cx="685800" cy="685800"/>
          </a:xfrm>
          <a:prstGeom prst="roundRect">
            <a:avLst>
              <a:gd name="adj" fmla="val 27000"/>
            </a:avLst>
          </a:prstGeom>
          <a:solidFill>
            <a:srgbClr val="F97316"/>
          </a:solidFill>
          <a:ln/>
        </p:spPr>
      </p:sp>
      <p:pic>
        <p:nvPicPr>
          <p:cNvPr id="16" name="Image 3" descr="preencoded.png">    </p:cNvPr>
          <p:cNvPicPr>
            <a:picLocks noChangeAspect="1"/>
          </p:cNvPicPr>
          <p:nvPr/>
        </p:nvPicPr>
        <p:blipFill>
          <a:blip r:embed="rId4"/>
          <a:stretch>
            <a:fillRect/>
          </a:stretch>
        </p:blipFill>
        <p:spPr>
          <a:xfrm>
            <a:off x="3319272" y="2404872"/>
            <a:ext cx="356616" cy="356616"/>
          </a:xfrm>
          <a:prstGeom prst="rect">
            <a:avLst/>
          </a:prstGeom>
        </p:spPr>
      </p:pic>
      <p:sp>
        <p:nvSpPr>
          <p:cNvPr id="17" name="Text 11"/>
          <p:cNvSpPr txBox="1"/>
          <p:nvPr/>
        </p:nvSpPr>
        <p:spPr>
          <a:xfrm>
            <a:off x="397764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02</a:t>
            </a:r>
            <a:endParaRPr lang="en-US" sz="2000" dirty="0"/>
          </a:p>
        </p:txBody>
      </p:sp>
      <p:sp>
        <p:nvSpPr>
          <p:cNvPr id="18" name="Text 12"/>
          <p:cNvSpPr txBox="1"/>
          <p:nvPr/>
        </p:nvSpPr>
        <p:spPr>
          <a:xfrm>
            <a:off x="315468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Pick hobbies</a:t>
            </a:r>
            <a:endParaRPr lang="en-US" sz="1800" dirty="0"/>
          </a:p>
        </p:txBody>
      </p:sp>
      <p:sp>
        <p:nvSpPr>
          <p:cNvPr id="19" name="Text 13"/>
          <p:cNvSpPr txBox="1"/>
          <p:nvPr/>
        </p:nvSpPr>
        <p:spPr>
          <a:xfrm>
            <a:off x="315468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Choose interests such as running, reading, cycling, badminton or basketball.</a:t>
            </a:r>
            <a:endParaRPr lang="en-US" sz="1300" dirty="0"/>
          </a:p>
        </p:txBody>
      </p:sp>
      <p:pic>
        <p:nvPicPr>
          <p:cNvPr id="20" name="Image 4" descr="preencoded.png">    </p:cNvPr>
          <p:cNvPicPr>
            <a:picLocks noChangeAspect="1"/>
          </p:cNvPicPr>
          <p:nvPr/>
        </p:nvPicPr>
        <p:blipFill>
          <a:blip r:embed="rId5"/>
          <a:stretch>
            <a:fillRect/>
          </a:stretch>
        </p:blipFill>
        <p:spPr>
          <a:xfrm>
            <a:off x="4882896" y="3534156"/>
            <a:ext cx="201168" cy="201168"/>
          </a:xfrm>
          <a:prstGeom prst="rect">
            <a:avLst/>
          </a:prstGeom>
        </p:spPr>
      </p:pic>
      <p:sp>
        <p:nvSpPr>
          <p:cNvPr id="21" name="Shape 14"/>
          <p:cNvSpPr/>
          <p:nvPr/>
        </p:nvSpPr>
        <p:spPr>
          <a:xfrm>
            <a:off x="512064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2" name="Shape 15"/>
          <p:cNvSpPr/>
          <p:nvPr/>
        </p:nvSpPr>
        <p:spPr>
          <a:xfrm>
            <a:off x="5394960" y="2240280"/>
            <a:ext cx="685800" cy="685800"/>
          </a:xfrm>
          <a:prstGeom prst="roundRect">
            <a:avLst>
              <a:gd name="adj" fmla="val 27000"/>
            </a:avLst>
          </a:prstGeom>
          <a:solidFill>
            <a:srgbClr val="F97316"/>
          </a:solidFill>
          <a:ln/>
        </p:spPr>
      </p:sp>
      <p:pic>
        <p:nvPicPr>
          <p:cNvPr id="23" name="Image 5" descr="preencoded.png">    </p:cNvPr>
          <p:cNvPicPr>
            <a:picLocks noChangeAspect="1"/>
          </p:cNvPicPr>
          <p:nvPr/>
        </p:nvPicPr>
        <p:blipFill>
          <a:blip r:embed="rId6"/>
          <a:stretch>
            <a:fillRect/>
          </a:stretch>
        </p:blipFill>
        <p:spPr>
          <a:xfrm>
            <a:off x="5559552" y="2404872"/>
            <a:ext cx="356616" cy="356616"/>
          </a:xfrm>
          <a:prstGeom prst="rect">
            <a:avLst/>
          </a:prstGeom>
        </p:spPr>
      </p:pic>
      <p:sp>
        <p:nvSpPr>
          <p:cNvPr id="24" name="Text 16"/>
          <p:cNvSpPr txBox="1"/>
          <p:nvPr/>
        </p:nvSpPr>
        <p:spPr>
          <a:xfrm>
            <a:off x="621792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03</a:t>
            </a:r>
            <a:endParaRPr lang="en-US" sz="2000" dirty="0"/>
          </a:p>
        </p:txBody>
      </p:sp>
      <p:sp>
        <p:nvSpPr>
          <p:cNvPr id="25" name="Text 17"/>
          <p:cNvSpPr txBox="1"/>
          <p:nvPr/>
        </p:nvSpPr>
        <p:spPr>
          <a:xfrm>
            <a:off x="539496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Find nearby</a:t>
            </a:r>
            <a:endParaRPr lang="en-US" sz="1800" dirty="0"/>
          </a:p>
        </p:txBody>
      </p:sp>
      <p:sp>
        <p:nvSpPr>
          <p:cNvPr id="26" name="Text 18"/>
          <p:cNvSpPr txBox="1"/>
          <p:nvPr/>
        </p:nvSpPr>
        <p:spPr>
          <a:xfrm>
            <a:off x="539496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Use live GPS or pick your area. The dashboard lists activities within 20 km.</a:t>
            </a:r>
            <a:endParaRPr lang="en-US" sz="1300" dirty="0"/>
          </a:p>
        </p:txBody>
      </p:sp>
      <p:pic>
        <p:nvPicPr>
          <p:cNvPr id="27" name="Image 6" descr="preencoded.png">    </p:cNvPr>
          <p:cNvPicPr>
            <a:picLocks noChangeAspect="1"/>
          </p:cNvPicPr>
          <p:nvPr/>
        </p:nvPicPr>
        <p:blipFill>
          <a:blip r:embed="rId7"/>
          <a:stretch>
            <a:fillRect/>
          </a:stretch>
        </p:blipFill>
        <p:spPr>
          <a:xfrm>
            <a:off x="7123176" y="3534156"/>
            <a:ext cx="201168" cy="201168"/>
          </a:xfrm>
          <a:prstGeom prst="rect">
            <a:avLst/>
          </a:prstGeom>
        </p:spPr>
      </p:pic>
      <p:sp>
        <p:nvSpPr>
          <p:cNvPr id="28" name="Shape 19"/>
          <p:cNvSpPr/>
          <p:nvPr/>
        </p:nvSpPr>
        <p:spPr>
          <a:xfrm>
            <a:off x="736092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9" name="Shape 20"/>
          <p:cNvSpPr/>
          <p:nvPr/>
        </p:nvSpPr>
        <p:spPr>
          <a:xfrm>
            <a:off x="7635240" y="2240280"/>
            <a:ext cx="685800" cy="685800"/>
          </a:xfrm>
          <a:prstGeom prst="roundRect">
            <a:avLst>
              <a:gd name="adj" fmla="val 27000"/>
            </a:avLst>
          </a:prstGeom>
          <a:solidFill>
            <a:srgbClr val="F97316"/>
          </a:solidFill>
          <a:ln/>
        </p:spPr>
      </p:sp>
      <p:pic>
        <p:nvPicPr>
          <p:cNvPr id="30" name="Image 7" descr="preencoded.png">    </p:cNvPr>
          <p:cNvPicPr>
            <a:picLocks noChangeAspect="1"/>
          </p:cNvPicPr>
          <p:nvPr/>
        </p:nvPicPr>
        <p:blipFill>
          <a:blip r:embed="rId8"/>
          <a:stretch>
            <a:fillRect/>
          </a:stretch>
        </p:blipFill>
        <p:spPr>
          <a:xfrm>
            <a:off x="7799832" y="2404872"/>
            <a:ext cx="356616" cy="356616"/>
          </a:xfrm>
          <a:prstGeom prst="rect">
            <a:avLst/>
          </a:prstGeom>
        </p:spPr>
      </p:pic>
      <p:sp>
        <p:nvSpPr>
          <p:cNvPr id="31" name="Text 21"/>
          <p:cNvSpPr txBox="1"/>
          <p:nvPr/>
        </p:nvSpPr>
        <p:spPr>
          <a:xfrm>
            <a:off x="845820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04</a:t>
            </a:r>
            <a:endParaRPr lang="en-US" sz="2000" dirty="0"/>
          </a:p>
        </p:txBody>
      </p:sp>
      <p:sp>
        <p:nvSpPr>
          <p:cNvPr id="32" name="Text 22"/>
          <p:cNvSpPr txBox="1"/>
          <p:nvPr/>
        </p:nvSpPr>
        <p:spPr>
          <a:xfrm>
            <a:off x="763524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Join</a:t>
            </a:r>
            <a:endParaRPr lang="en-US" sz="1800" dirty="0"/>
          </a:p>
        </p:txBody>
      </p:sp>
      <p:sp>
        <p:nvSpPr>
          <p:cNvPr id="33" name="Text 23"/>
          <p:cNvSpPr txBox="1"/>
          <p:nvPr/>
        </p:nvSpPr>
        <p:spPr>
          <a:xfrm>
            <a:off x="763524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Join in one tap, or request a spot. Get notified when you're approved.</a:t>
            </a:r>
            <a:endParaRPr lang="en-US" sz="1300" dirty="0"/>
          </a:p>
        </p:txBody>
      </p:sp>
      <p:pic>
        <p:nvPicPr>
          <p:cNvPr id="34" name="Image 8" descr="preencoded.png">    </p:cNvPr>
          <p:cNvPicPr>
            <a:picLocks noChangeAspect="1"/>
          </p:cNvPicPr>
          <p:nvPr/>
        </p:nvPicPr>
        <p:blipFill>
          <a:blip r:embed="rId9"/>
          <a:stretch>
            <a:fillRect/>
          </a:stretch>
        </p:blipFill>
        <p:spPr>
          <a:xfrm>
            <a:off x="9363456" y="3534156"/>
            <a:ext cx="201168" cy="201168"/>
          </a:xfrm>
          <a:prstGeom prst="rect">
            <a:avLst/>
          </a:prstGeom>
        </p:spPr>
      </p:pic>
      <p:sp>
        <p:nvSpPr>
          <p:cNvPr id="35" name="Shape 24"/>
          <p:cNvSpPr/>
          <p:nvPr/>
        </p:nvSpPr>
        <p:spPr>
          <a:xfrm>
            <a:off x="960120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6" name="Shape 25"/>
          <p:cNvSpPr/>
          <p:nvPr/>
        </p:nvSpPr>
        <p:spPr>
          <a:xfrm>
            <a:off x="9875520" y="2240280"/>
            <a:ext cx="685800" cy="685800"/>
          </a:xfrm>
          <a:prstGeom prst="roundRect">
            <a:avLst>
              <a:gd name="adj" fmla="val 27000"/>
            </a:avLst>
          </a:prstGeom>
          <a:solidFill>
            <a:srgbClr val="F97316"/>
          </a:solidFill>
          <a:ln/>
        </p:spPr>
      </p:sp>
      <p:pic>
        <p:nvPicPr>
          <p:cNvPr id="37" name="Image 9" descr="preencoded.png">    </p:cNvPr>
          <p:cNvPicPr>
            <a:picLocks noChangeAspect="1"/>
          </p:cNvPicPr>
          <p:nvPr/>
        </p:nvPicPr>
        <p:blipFill>
          <a:blip r:embed="rId10"/>
          <a:stretch>
            <a:fillRect/>
          </a:stretch>
        </p:blipFill>
        <p:spPr>
          <a:xfrm>
            <a:off x="10040112" y="2404872"/>
            <a:ext cx="356616" cy="356616"/>
          </a:xfrm>
          <a:prstGeom prst="rect">
            <a:avLst/>
          </a:prstGeom>
        </p:spPr>
      </p:pic>
      <p:sp>
        <p:nvSpPr>
          <p:cNvPr id="38" name="Text 26"/>
          <p:cNvSpPr txBox="1"/>
          <p:nvPr/>
        </p:nvSpPr>
        <p:spPr>
          <a:xfrm>
            <a:off x="1069848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05</a:t>
            </a:r>
            <a:endParaRPr lang="en-US" sz="2000" dirty="0"/>
          </a:p>
        </p:txBody>
      </p:sp>
      <p:sp>
        <p:nvSpPr>
          <p:cNvPr id="39" name="Text 27"/>
          <p:cNvSpPr txBox="1"/>
          <p:nvPr/>
        </p:nvSpPr>
        <p:spPr>
          <a:xfrm>
            <a:off x="987552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Meet up</a:t>
            </a:r>
            <a:endParaRPr lang="en-US" sz="1800" dirty="0"/>
          </a:p>
        </p:txBody>
      </p:sp>
      <p:sp>
        <p:nvSpPr>
          <p:cNvPr id="40" name="Text 28"/>
          <p:cNvSpPr txBox="1"/>
          <p:nvPr/>
        </p:nvSpPr>
        <p:spPr>
          <a:xfrm>
            <a:off x="987552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Ask questions in comments, message people privately, and add friends.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HOW TO USE · ORGANIZERS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Create, share and run an activity</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10 / 24</a:t>
            </a:r>
            <a:endParaRPr lang="en-US" sz="1100" dirty="0"/>
          </a:p>
        </p:txBody>
      </p:sp>
      <p:sp>
        <p:nvSpPr>
          <p:cNvPr id="7" name="Shape 4"/>
          <p:cNvSpPr/>
          <p:nvPr/>
        </p:nvSpPr>
        <p:spPr>
          <a:xfrm>
            <a:off x="64008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03120"/>
            <a:ext cx="658368" cy="658368"/>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72408" y="2261128"/>
            <a:ext cx="342351" cy="342351"/>
          </a:xfrm>
          <a:prstGeom prst="rect">
            <a:avLst/>
          </a:prstGeom>
        </p:spPr>
      </p:pic>
      <p:sp>
        <p:nvSpPr>
          <p:cNvPr id="10" name="Text 6"/>
          <p:cNvSpPr txBox="1"/>
          <p:nvPr/>
        </p:nvSpPr>
        <p:spPr>
          <a:xfrm>
            <a:off x="173736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Create</a:t>
            </a:r>
            <a:endParaRPr lang="en-US" sz="1900" dirty="0"/>
          </a:p>
        </p:txBody>
      </p:sp>
      <p:sp>
        <p:nvSpPr>
          <p:cNvPr id="11" name="Text 7"/>
          <p:cNvSpPr txBox="1"/>
          <p:nvPr/>
        </p:nvSpPr>
        <p:spPr>
          <a:xfrm>
            <a:off x="91440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Title, category, date and time, fee, capacity, and a pin on the map. Upload and crop a banner.</a:t>
            </a:r>
            <a:endParaRPr lang="en-US" sz="1350" dirty="0"/>
          </a:p>
        </p:txBody>
      </p:sp>
      <p:pic>
        <p:nvPicPr>
          <p:cNvPr id="12" name="Image 2" descr="preencoded.png">    </p:cNvPr>
          <p:cNvPicPr>
            <a:picLocks noChangeAspect="1"/>
          </p:cNvPicPr>
          <p:nvPr/>
        </p:nvPicPr>
        <p:blipFill>
          <a:blip r:embed="rId3"/>
          <a:stretch>
            <a:fillRect/>
          </a:stretch>
        </p:blipFill>
        <p:spPr>
          <a:xfrm>
            <a:off x="3191256" y="3214116"/>
            <a:ext cx="201168" cy="201168"/>
          </a:xfrm>
          <a:prstGeom prst="rect">
            <a:avLst/>
          </a:prstGeom>
        </p:spPr>
      </p:pic>
      <p:sp>
        <p:nvSpPr>
          <p:cNvPr id="13" name="Shape 8"/>
          <p:cNvSpPr/>
          <p:nvPr/>
        </p:nvSpPr>
        <p:spPr>
          <a:xfrm>
            <a:off x="342900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9"/>
          <p:cNvSpPr/>
          <p:nvPr/>
        </p:nvSpPr>
        <p:spPr>
          <a:xfrm>
            <a:off x="3703320" y="2103120"/>
            <a:ext cx="658368" cy="658368"/>
          </a:xfrm>
          <a:prstGeom prst="roundRect">
            <a:avLst>
              <a:gd name="adj" fmla="val 27000"/>
            </a:avLst>
          </a:prstGeom>
          <a:solidFill>
            <a:srgbClr val="F97316"/>
          </a:solidFill>
          <a:ln/>
        </p:spPr>
      </p:sp>
      <p:pic>
        <p:nvPicPr>
          <p:cNvPr id="15" name="Image 3" descr="preencoded.png">    </p:cNvPr>
          <p:cNvPicPr>
            <a:picLocks noChangeAspect="1"/>
          </p:cNvPicPr>
          <p:nvPr/>
        </p:nvPicPr>
        <p:blipFill>
          <a:blip r:embed="rId4"/>
          <a:stretch>
            <a:fillRect/>
          </a:stretch>
        </p:blipFill>
        <p:spPr>
          <a:xfrm>
            <a:off x="3861328" y="2261128"/>
            <a:ext cx="342351" cy="342351"/>
          </a:xfrm>
          <a:prstGeom prst="rect">
            <a:avLst/>
          </a:prstGeom>
        </p:spPr>
      </p:pic>
      <p:sp>
        <p:nvSpPr>
          <p:cNvPr id="16" name="Text 10"/>
          <p:cNvSpPr txBox="1"/>
          <p:nvPr/>
        </p:nvSpPr>
        <p:spPr>
          <a:xfrm>
            <a:off x="452628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Set the rules</a:t>
            </a:r>
            <a:endParaRPr lang="en-US" sz="1900" dirty="0"/>
          </a:p>
        </p:txBody>
      </p:sp>
      <p:sp>
        <p:nvSpPr>
          <p:cNvPr id="17" name="Text 11"/>
          <p:cNvSpPr txBox="1"/>
          <p:nvPr/>
        </p:nvSpPr>
        <p:spPr>
          <a:xfrm>
            <a:off x="370332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Public or private. Open joining, or approval required. Add a contact person and WhatsApp.</a:t>
            </a:r>
            <a:endParaRPr lang="en-US" sz="1350" dirty="0"/>
          </a:p>
        </p:txBody>
      </p:sp>
      <p:pic>
        <p:nvPicPr>
          <p:cNvPr id="18" name="Image 4" descr="preencoded.png">    </p:cNvPr>
          <p:cNvPicPr>
            <a:picLocks noChangeAspect="1"/>
          </p:cNvPicPr>
          <p:nvPr/>
        </p:nvPicPr>
        <p:blipFill>
          <a:blip r:embed="rId5"/>
          <a:stretch>
            <a:fillRect/>
          </a:stretch>
        </p:blipFill>
        <p:spPr>
          <a:xfrm>
            <a:off x="5980176" y="3214116"/>
            <a:ext cx="201168" cy="201168"/>
          </a:xfrm>
          <a:prstGeom prst="rect">
            <a:avLst/>
          </a:prstGeom>
        </p:spPr>
      </p:pic>
      <p:sp>
        <p:nvSpPr>
          <p:cNvPr id="19" name="Shape 12"/>
          <p:cNvSpPr/>
          <p:nvPr/>
        </p:nvSpPr>
        <p:spPr>
          <a:xfrm>
            <a:off x="621792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3"/>
          <p:cNvSpPr/>
          <p:nvPr/>
        </p:nvSpPr>
        <p:spPr>
          <a:xfrm>
            <a:off x="6492240" y="2103120"/>
            <a:ext cx="658368" cy="658368"/>
          </a:xfrm>
          <a:prstGeom prst="roundRect">
            <a:avLst>
              <a:gd name="adj" fmla="val 27000"/>
            </a:avLst>
          </a:prstGeom>
          <a:solidFill>
            <a:srgbClr val="F97316"/>
          </a:solidFill>
          <a:ln/>
        </p:spPr>
      </p:sp>
      <p:pic>
        <p:nvPicPr>
          <p:cNvPr id="21" name="Image 5" descr="preencoded.png">    </p:cNvPr>
          <p:cNvPicPr>
            <a:picLocks noChangeAspect="1"/>
          </p:cNvPicPr>
          <p:nvPr/>
        </p:nvPicPr>
        <p:blipFill>
          <a:blip r:embed="rId6"/>
          <a:stretch>
            <a:fillRect/>
          </a:stretch>
        </p:blipFill>
        <p:spPr>
          <a:xfrm>
            <a:off x="6650248" y="2261128"/>
            <a:ext cx="342351" cy="342351"/>
          </a:xfrm>
          <a:prstGeom prst="rect">
            <a:avLst/>
          </a:prstGeom>
        </p:spPr>
      </p:pic>
      <p:sp>
        <p:nvSpPr>
          <p:cNvPr id="22" name="Text 14"/>
          <p:cNvSpPr txBox="1"/>
          <p:nvPr/>
        </p:nvSpPr>
        <p:spPr>
          <a:xfrm>
            <a:off x="731520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Share</a:t>
            </a:r>
            <a:endParaRPr lang="en-US" sz="1900" dirty="0"/>
          </a:p>
        </p:txBody>
      </p:sp>
      <p:sp>
        <p:nvSpPr>
          <p:cNvPr id="23" name="Text 15"/>
          <p:cNvSpPr txBox="1"/>
          <p:nvPr/>
        </p:nvSpPr>
        <p:spPr>
          <a:xfrm>
            <a:off x="649224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Invite link, WhatsApp, QR code, or a flyer in 9:16, 1:1 or 16:9 as PNG or JPG.</a:t>
            </a:r>
            <a:endParaRPr lang="en-US" sz="1350" dirty="0"/>
          </a:p>
        </p:txBody>
      </p:sp>
      <p:pic>
        <p:nvPicPr>
          <p:cNvPr id="24" name="Image 6" descr="preencoded.png">    </p:cNvPr>
          <p:cNvPicPr>
            <a:picLocks noChangeAspect="1"/>
          </p:cNvPicPr>
          <p:nvPr/>
        </p:nvPicPr>
        <p:blipFill>
          <a:blip r:embed="rId7"/>
          <a:stretch>
            <a:fillRect/>
          </a:stretch>
        </p:blipFill>
        <p:spPr>
          <a:xfrm>
            <a:off x="8769096" y="3214116"/>
            <a:ext cx="201168" cy="201168"/>
          </a:xfrm>
          <a:prstGeom prst="rect">
            <a:avLst/>
          </a:prstGeom>
        </p:spPr>
      </p:pic>
      <p:sp>
        <p:nvSpPr>
          <p:cNvPr id="25" name="Shape 16"/>
          <p:cNvSpPr/>
          <p:nvPr/>
        </p:nvSpPr>
        <p:spPr>
          <a:xfrm>
            <a:off x="900684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7"/>
          <p:cNvSpPr/>
          <p:nvPr/>
        </p:nvSpPr>
        <p:spPr>
          <a:xfrm>
            <a:off x="9281160" y="2103120"/>
            <a:ext cx="658368" cy="658368"/>
          </a:xfrm>
          <a:prstGeom prst="roundRect">
            <a:avLst>
              <a:gd name="adj" fmla="val 27000"/>
            </a:avLst>
          </a:prstGeom>
          <a:solidFill>
            <a:srgbClr val="F97316"/>
          </a:solidFill>
          <a:ln/>
        </p:spPr>
      </p:sp>
      <p:pic>
        <p:nvPicPr>
          <p:cNvPr id="27" name="Image 7" descr="preencoded.png">    </p:cNvPr>
          <p:cNvPicPr>
            <a:picLocks noChangeAspect="1"/>
          </p:cNvPicPr>
          <p:nvPr/>
        </p:nvPicPr>
        <p:blipFill>
          <a:blip r:embed="rId8"/>
          <a:stretch>
            <a:fillRect/>
          </a:stretch>
        </p:blipFill>
        <p:spPr>
          <a:xfrm>
            <a:off x="9439168" y="2261128"/>
            <a:ext cx="342351" cy="342351"/>
          </a:xfrm>
          <a:prstGeom prst="rect">
            <a:avLst/>
          </a:prstGeom>
        </p:spPr>
      </p:pic>
      <p:sp>
        <p:nvSpPr>
          <p:cNvPr id="28" name="Text 18"/>
          <p:cNvSpPr txBox="1"/>
          <p:nvPr/>
        </p:nvSpPr>
        <p:spPr>
          <a:xfrm>
            <a:off x="1010412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Manage</a:t>
            </a:r>
            <a:endParaRPr lang="en-US" sz="1900" dirty="0"/>
          </a:p>
        </p:txBody>
      </p:sp>
      <p:sp>
        <p:nvSpPr>
          <p:cNvPr id="29" name="Text 19"/>
          <p:cNvSpPr txBox="1"/>
          <p:nvPr/>
        </p:nvSpPr>
        <p:spPr>
          <a:xfrm>
            <a:off x="928116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Approve or decline requests, answer comments, edit details, or cancel.</a:t>
            </a:r>
            <a:endParaRPr lang="en-US" sz="1350" dirty="0"/>
          </a:p>
        </p:txBody>
      </p:sp>
      <p:sp>
        <p:nvSpPr>
          <p:cNvPr id="30" name="Text 20"/>
          <p:cNvSpPr txBox="1"/>
          <p:nvPr/>
        </p:nvSpPr>
        <p:spPr>
          <a:xfrm>
            <a:off x="640080" y="5029200"/>
            <a:ext cx="8229600" cy="320040"/>
          </a:xfrm>
          <a:prstGeom prst="rect">
            <a:avLst/>
          </a:prstGeom>
          <a:noFill/>
          <a:ln/>
        </p:spPr>
        <p:txBody>
          <a:bodyPr wrap="square" lIns="0" tIns="0" rIns="0" bIns="0" rtlCol="0" anchor="ctr"/>
          <a:lstStyle/>
          <a:p>
            <a:pPr indent="0" marL="0">
              <a:buNone/>
            </a:pPr>
            <a:r>
              <a:rPr lang="en-US" sz="1300" b="1" dirty="0">
                <a:solidFill>
                  <a:srgbClr val="44403C"/>
                </a:solidFill>
                <a:latin typeface="Arial" pitchFamily="34" charset="0"/>
                <a:ea typeface="Arial" pitchFamily="34" charset="-122"/>
                <a:cs typeface="Arial" pitchFamily="34" charset="-120"/>
              </a:rPr>
              <a:t>The status updates itself as people join and time passes:</a:t>
            </a:r>
            <a:endParaRPr lang="en-US" sz="1300" dirty="0"/>
          </a:p>
        </p:txBody>
      </p:sp>
      <p:sp>
        <p:nvSpPr>
          <p:cNvPr id="31" name="Shape 21"/>
          <p:cNvSpPr/>
          <p:nvPr/>
        </p:nvSpPr>
        <p:spPr>
          <a:xfrm>
            <a:off x="640080" y="5440680"/>
            <a:ext cx="868680" cy="411480"/>
          </a:xfrm>
          <a:prstGeom prst="roundRect">
            <a:avLst>
              <a:gd name="adj" fmla="val 50000"/>
            </a:avLst>
          </a:prstGeom>
          <a:solidFill>
            <a:srgbClr val="FFFFFF"/>
          </a:solidFill>
          <a:ln/>
        </p:spPr>
      </p:sp>
      <p:sp>
        <p:nvSpPr>
          <p:cNvPr id="32" name="Shape 22"/>
          <p:cNvSpPr/>
          <p:nvPr/>
        </p:nvSpPr>
        <p:spPr>
          <a:xfrm>
            <a:off x="795528" y="5582412"/>
            <a:ext cx="128016" cy="128016"/>
          </a:xfrm>
          <a:prstGeom prst="ellipse">
            <a:avLst/>
          </a:prstGeom>
          <a:solidFill>
            <a:srgbClr val="16A34A"/>
          </a:solidFill>
          <a:ln/>
        </p:spPr>
      </p:sp>
      <p:sp>
        <p:nvSpPr>
          <p:cNvPr id="33" name="Text 23"/>
          <p:cNvSpPr txBox="1"/>
          <p:nvPr/>
        </p:nvSpPr>
        <p:spPr>
          <a:xfrm>
            <a:off x="987552" y="5440680"/>
            <a:ext cx="45720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Open</a:t>
            </a:r>
            <a:endParaRPr lang="en-US" sz="1250" dirty="0"/>
          </a:p>
        </p:txBody>
      </p:sp>
      <p:pic>
        <p:nvPicPr>
          <p:cNvPr id="34" name="Image 8" descr="preencoded.png">    </p:cNvPr>
          <p:cNvPicPr>
            <a:picLocks noChangeAspect="1"/>
          </p:cNvPicPr>
          <p:nvPr/>
        </p:nvPicPr>
        <p:blipFill>
          <a:blip r:embed="rId9"/>
          <a:stretch>
            <a:fillRect/>
          </a:stretch>
        </p:blipFill>
        <p:spPr>
          <a:xfrm>
            <a:off x="1600200" y="5550408"/>
            <a:ext cx="182880" cy="182880"/>
          </a:xfrm>
          <a:prstGeom prst="rect">
            <a:avLst/>
          </a:prstGeom>
        </p:spPr>
      </p:pic>
      <p:sp>
        <p:nvSpPr>
          <p:cNvPr id="35" name="Shape 24"/>
          <p:cNvSpPr/>
          <p:nvPr/>
        </p:nvSpPr>
        <p:spPr>
          <a:xfrm>
            <a:off x="1892808" y="5440680"/>
            <a:ext cx="1508760" cy="411480"/>
          </a:xfrm>
          <a:prstGeom prst="roundRect">
            <a:avLst>
              <a:gd name="adj" fmla="val 50000"/>
            </a:avLst>
          </a:prstGeom>
          <a:solidFill>
            <a:srgbClr val="FFFFFF"/>
          </a:solidFill>
          <a:ln/>
        </p:spPr>
      </p:sp>
      <p:sp>
        <p:nvSpPr>
          <p:cNvPr id="36" name="Shape 25"/>
          <p:cNvSpPr/>
          <p:nvPr/>
        </p:nvSpPr>
        <p:spPr>
          <a:xfrm>
            <a:off x="2048256" y="5582412"/>
            <a:ext cx="128016" cy="128016"/>
          </a:xfrm>
          <a:prstGeom prst="ellipse">
            <a:avLst/>
          </a:prstGeom>
          <a:solidFill>
            <a:srgbClr val="F97316"/>
          </a:solidFill>
          <a:ln/>
        </p:spPr>
      </p:sp>
      <p:sp>
        <p:nvSpPr>
          <p:cNvPr id="37" name="Text 26"/>
          <p:cNvSpPr txBox="1"/>
          <p:nvPr/>
        </p:nvSpPr>
        <p:spPr>
          <a:xfrm>
            <a:off x="2240280" y="5440680"/>
            <a:ext cx="109728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Almost full</a:t>
            </a:r>
            <a:endParaRPr lang="en-US" sz="1250" dirty="0"/>
          </a:p>
        </p:txBody>
      </p:sp>
      <p:pic>
        <p:nvPicPr>
          <p:cNvPr id="38" name="Image 9" descr="preencoded.png">    </p:cNvPr>
          <p:cNvPicPr>
            <a:picLocks noChangeAspect="1"/>
          </p:cNvPicPr>
          <p:nvPr/>
        </p:nvPicPr>
        <p:blipFill>
          <a:blip r:embed="rId10"/>
          <a:stretch>
            <a:fillRect/>
          </a:stretch>
        </p:blipFill>
        <p:spPr>
          <a:xfrm>
            <a:off x="3493008" y="5550408"/>
            <a:ext cx="182880" cy="182880"/>
          </a:xfrm>
          <a:prstGeom prst="rect">
            <a:avLst/>
          </a:prstGeom>
        </p:spPr>
      </p:pic>
      <p:sp>
        <p:nvSpPr>
          <p:cNvPr id="39" name="Shape 27"/>
          <p:cNvSpPr/>
          <p:nvPr/>
        </p:nvSpPr>
        <p:spPr>
          <a:xfrm>
            <a:off x="3785616" y="5440680"/>
            <a:ext cx="868680" cy="411480"/>
          </a:xfrm>
          <a:prstGeom prst="roundRect">
            <a:avLst>
              <a:gd name="adj" fmla="val 50000"/>
            </a:avLst>
          </a:prstGeom>
          <a:solidFill>
            <a:srgbClr val="FFFFFF"/>
          </a:solidFill>
          <a:ln/>
        </p:spPr>
      </p:sp>
      <p:sp>
        <p:nvSpPr>
          <p:cNvPr id="40" name="Shape 28"/>
          <p:cNvSpPr/>
          <p:nvPr/>
        </p:nvSpPr>
        <p:spPr>
          <a:xfrm>
            <a:off x="3941064" y="5582412"/>
            <a:ext cx="128016" cy="128016"/>
          </a:xfrm>
          <a:prstGeom prst="ellipse">
            <a:avLst/>
          </a:prstGeom>
          <a:solidFill>
            <a:srgbClr val="C2410C"/>
          </a:solidFill>
          <a:ln/>
        </p:spPr>
      </p:sp>
      <p:sp>
        <p:nvSpPr>
          <p:cNvPr id="41" name="Text 29"/>
          <p:cNvSpPr txBox="1"/>
          <p:nvPr/>
        </p:nvSpPr>
        <p:spPr>
          <a:xfrm>
            <a:off x="4133088" y="5440680"/>
            <a:ext cx="45720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Full</a:t>
            </a:r>
            <a:endParaRPr lang="en-US" sz="1250" dirty="0"/>
          </a:p>
        </p:txBody>
      </p:sp>
      <p:pic>
        <p:nvPicPr>
          <p:cNvPr id="42" name="Image 10" descr="preencoded.png">    </p:cNvPr>
          <p:cNvPicPr>
            <a:picLocks noChangeAspect="1"/>
          </p:cNvPicPr>
          <p:nvPr/>
        </p:nvPicPr>
        <p:blipFill>
          <a:blip r:embed="rId11"/>
          <a:stretch>
            <a:fillRect/>
          </a:stretch>
        </p:blipFill>
        <p:spPr>
          <a:xfrm>
            <a:off x="4745736" y="5550408"/>
            <a:ext cx="182880" cy="182880"/>
          </a:xfrm>
          <a:prstGeom prst="rect">
            <a:avLst/>
          </a:prstGeom>
        </p:spPr>
      </p:pic>
      <p:sp>
        <p:nvSpPr>
          <p:cNvPr id="43" name="Shape 30"/>
          <p:cNvSpPr/>
          <p:nvPr/>
        </p:nvSpPr>
        <p:spPr>
          <a:xfrm>
            <a:off x="5038344" y="5440680"/>
            <a:ext cx="1143000" cy="411480"/>
          </a:xfrm>
          <a:prstGeom prst="roundRect">
            <a:avLst>
              <a:gd name="adj" fmla="val 50000"/>
            </a:avLst>
          </a:prstGeom>
          <a:solidFill>
            <a:srgbClr val="FFFFFF"/>
          </a:solidFill>
          <a:ln/>
        </p:spPr>
      </p:sp>
      <p:sp>
        <p:nvSpPr>
          <p:cNvPr id="44" name="Shape 31"/>
          <p:cNvSpPr/>
          <p:nvPr/>
        </p:nvSpPr>
        <p:spPr>
          <a:xfrm>
            <a:off x="5193792" y="5582412"/>
            <a:ext cx="128016" cy="128016"/>
          </a:xfrm>
          <a:prstGeom prst="ellipse">
            <a:avLst/>
          </a:prstGeom>
          <a:solidFill>
            <a:srgbClr val="2563EB"/>
          </a:solidFill>
          <a:ln/>
        </p:spPr>
      </p:sp>
      <p:sp>
        <p:nvSpPr>
          <p:cNvPr id="45" name="Text 32"/>
          <p:cNvSpPr txBox="1"/>
          <p:nvPr/>
        </p:nvSpPr>
        <p:spPr>
          <a:xfrm>
            <a:off x="5385816" y="5440680"/>
            <a:ext cx="73152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Ongoing</a:t>
            </a:r>
            <a:endParaRPr lang="en-US" sz="1250" dirty="0"/>
          </a:p>
        </p:txBody>
      </p:sp>
      <p:pic>
        <p:nvPicPr>
          <p:cNvPr id="46" name="Image 11" descr="preencoded.png">    </p:cNvPr>
          <p:cNvPicPr>
            <a:picLocks noChangeAspect="1"/>
          </p:cNvPicPr>
          <p:nvPr/>
        </p:nvPicPr>
        <p:blipFill>
          <a:blip r:embed="rId12"/>
          <a:stretch>
            <a:fillRect/>
          </a:stretch>
        </p:blipFill>
        <p:spPr>
          <a:xfrm>
            <a:off x="6272784" y="5550408"/>
            <a:ext cx="182880" cy="182880"/>
          </a:xfrm>
          <a:prstGeom prst="rect">
            <a:avLst/>
          </a:prstGeom>
        </p:spPr>
      </p:pic>
      <p:sp>
        <p:nvSpPr>
          <p:cNvPr id="47" name="Shape 33"/>
          <p:cNvSpPr/>
          <p:nvPr/>
        </p:nvSpPr>
        <p:spPr>
          <a:xfrm>
            <a:off x="6565392" y="5440680"/>
            <a:ext cx="1325880" cy="411480"/>
          </a:xfrm>
          <a:prstGeom prst="roundRect">
            <a:avLst>
              <a:gd name="adj" fmla="val 50000"/>
            </a:avLst>
          </a:prstGeom>
          <a:solidFill>
            <a:srgbClr val="FFFFFF"/>
          </a:solidFill>
          <a:ln/>
        </p:spPr>
      </p:sp>
      <p:sp>
        <p:nvSpPr>
          <p:cNvPr id="48" name="Shape 34"/>
          <p:cNvSpPr/>
          <p:nvPr/>
        </p:nvSpPr>
        <p:spPr>
          <a:xfrm>
            <a:off x="6720840" y="5582412"/>
            <a:ext cx="128016" cy="128016"/>
          </a:xfrm>
          <a:prstGeom prst="ellipse">
            <a:avLst/>
          </a:prstGeom>
          <a:solidFill>
            <a:srgbClr val="78716C"/>
          </a:solidFill>
          <a:ln/>
        </p:spPr>
      </p:sp>
      <p:sp>
        <p:nvSpPr>
          <p:cNvPr id="49" name="Text 35"/>
          <p:cNvSpPr txBox="1"/>
          <p:nvPr/>
        </p:nvSpPr>
        <p:spPr>
          <a:xfrm>
            <a:off x="6912864" y="5440680"/>
            <a:ext cx="91440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Completed</a:t>
            </a:r>
            <a:endParaRPr lang="en-US" sz="1250" dirty="0"/>
          </a:p>
        </p:txBody>
      </p:sp>
      <p:sp>
        <p:nvSpPr>
          <p:cNvPr id="50" name="Text 36"/>
          <p:cNvSpPr txBox="1"/>
          <p:nvPr/>
        </p:nvSpPr>
        <p:spPr>
          <a:xfrm>
            <a:off x="8092440" y="5440680"/>
            <a:ext cx="1828800" cy="41148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(or Cancelled)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EVERYTHING IN THE APP</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Feature map</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11 / 24</a:t>
            </a:r>
            <a:endParaRPr lang="en-US" sz="1100" dirty="0"/>
          </a:p>
        </p:txBody>
      </p:sp>
      <p:sp>
        <p:nvSpPr>
          <p:cNvPr id="7" name="Shape 4"/>
          <p:cNvSpPr/>
          <p:nvPr/>
        </p:nvSpPr>
        <p:spPr>
          <a:xfrm>
            <a:off x="64008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39112"/>
            <a:ext cx="658368" cy="658368"/>
          </a:xfrm>
          <a:prstGeom prst="roundRect">
            <a:avLst>
              <a:gd name="adj" fmla="val 27000"/>
            </a:avLst>
          </a:prstGeom>
          <a:solidFill>
            <a:srgbClr val="F8E8D0"/>
          </a:solidFill>
          <a:ln/>
        </p:spPr>
      </p:sp>
      <p:pic>
        <p:nvPicPr>
          <p:cNvPr id="9" name="Image 1" descr="preencoded.png">    </p:cNvPr>
          <p:cNvPicPr>
            <a:picLocks noChangeAspect="1"/>
          </p:cNvPicPr>
          <p:nvPr/>
        </p:nvPicPr>
        <p:blipFill>
          <a:blip r:embed="rId2"/>
          <a:stretch>
            <a:fillRect/>
          </a:stretch>
        </p:blipFill>
        <p:spPr>
          <a:xfrm>
            <a:off x="1026688" y="2197120"/>
            <a:ext cx="342351" cy="342351"/>
          </a:xfrm>
          <a:prstGeom prst="rect">
            <a:avLst/>
          </a:prstGeom>
        </p:spPr>
      </p:pic>
      <p:sp>
        <p:nvSpPr>
          <p:cNvPr id="10" name="Text 6"/>
          <p:cNvSpPr txBox="1"/>
          <p:nvPr/>
        </p:nvSpPr>
        <p:spPr>
          <a:xfrm>
            <a:off x="169164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Nearby dashboard</a:t>
            </a:r>
            <a:endParaRPr lang="en-US" sz="1600" dirty="0"/>
          </a:p>
        </p:txBody>
      </p:sp>
      <p:sp>
        <p:nvSpPr>
          <p:cNvPr id="11" name="Text 7"/>
          <p:cNvSpPr txBox="1"/>
          <p:nvPr/>
        </p:nvSpPr>
        <p:spPr>
          <a:xfrm>
            <a:off x="169164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Activities within 20 km, matched to your hobbies</a:t>
            </a:r>
            <a:endParaRPr lang="en-US" sz="1250" dirty="0"/>
          </a:p>
        </p:txBody>
      </p:sp>
      <p:sp>
        <p:nvSpPr>
          <p:cNvPr id="12" name="Shape 8"/>
          <p:cNvSpPr/>
          <p:nvPr/>
        </p:nvSpPr>
        <p:spPr>
          <a:xfrm>
            <a:off x="432054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4549140" y="2039112"/>
            <a:ext cx="658368" cy="658368"/>
          </a:xfrm>
          <a:prstGeom prst="roundRect">
            <a:avLst>
              <a:gd name="adj" fmla="val 27000"/>
            </a:avLst>
          </a:prstGeom>
          <a:solidFill>
            <a:srgbClr val="F8E8D0"/>
          </a:solidFill>
          <a:ln/>
        </p:spPr>
      </p:sp>
      <p:pic>
        <p:nvPicPr>
          <p:cNvPr id="14" name="Image 2" descr="preencoded.png">    </p:cNvPr>
          <p:cNvPicPr>
            <a:picLocks noChangeAspect="1"/>
          </p:cNvPicPr>
          <p:nvPr/>
        </p:nvPicPr>
        <p:blipFill>
          <a:blip r:embed="rId3"/>
          <a:stretch>
            <a:fillRect/>
          </a:stretch>
        </p:blipFill>
        <p:spPr>
          <a:xfrm>
            <a:off x="4707148" y="2197120"/>
            <a:ext cx="342351" cy="342351"/>
          </a:xfrm>
          <a:prstGeom prst="rect">
            <a:avLst/>
          </a:prstGeom>
        </p:spPr>
      </p:pic>
      <p:sp>
        <p:nvSpPr>
          <p:cNvPr id="15" name="Text 10"/>
          <p:cNvSpPr txBox="1"/>
          <p:nvPr/>
        </p:nvSpPr>
        <p:spPr>
          <a:xfrm>
            <a:off x="537210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Explore &amp; search</a:t>
            </a:r>
            <a:endParaRPr lang="en-US" sz="1600" dirty="0"/>
          </a:p>
        </p:txBody>
      </p:sp>
      <p:sp>
        <p:nvSpPr>
          <p:cNvPr id="16" name="Text 11"/>
          <p:cNvSpPr txBox="1"/>
          <p:nvPr/>
        </p:nvSpPr>
        <p:spPr>
          <a:xfrm>
            <a:off x="537210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Any distance; search by name, place or event code</a:t>
            </a:r>
            <a:endParaRPr lang="en-US" sz="1250" dirty="0"/>
          </a:p>
        </p:txBody>
      </p:sp>
      <p:sp>
        <p:nvSpPr>
          <p:cNvPr id="17" name="Shape 12"/>
          <p:cNvSpPr/>
          <p:nvPr/>
        </p:nvSpPr>
        <p:spPr>
          <a:xfrm>
            <a:off x="800100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229600" y="2039112"/>
            <a:ext cx="658368" cy="658368"/>
          </a:xfrm>
          <a:prstGeom prst="roundRect">
            <a:avLst>
              <a:gd name="adj" fmla="val 27000"/>
            </a:avLst>
          </a:prstGeom>
          <a:solidFill>
            <a:srgbClr val="F8E8D0"/>
          </a:solidFill>
          <a:ln/>
        </p:spPr>
      </p:sp>
      <p:pic>
        <p:nvPicPr>
          <p:cNvPr id="19" name="Image 3" descr="preencoded.png">    </p:cNvPr>
          <p:cNvPicPr>
            <a:picLocks noChangeAspect="1"/>
          </p:cNvPicPr>
          <p:nvPr/>
        </p:nvPicPr>
        <p:blipFill>
          <a:blip r:embed="rId4"/>
          <a:stretch>
            <a:fillRect/>
          </a:stretch>
        </p:blipFill>
        <p:spPr>
          <a:xfrm>
            <a:off x="8387608" y="2197120"/>
            <a:ext cx="342351" cy="342351"/>
          </a:xfrm>
          <a:prstGeom prst="rect">
            <a:avLst/>
          </a:prstGeom>
        </p:spPr>
      </p:pic>
      <p:sp>
        <p:nvSpPr>
          <p:cNvPr id="20" name="Text 14"/>
          <p:cNvSpPr txBox="1"/>
          <p:nvPr/>
        </p:nvSpPr>
        <p:spPr>
          <a:xfrm>
            <a:off x="905256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My activities</a:t>
            </a:r>
            <a:endParaRPr lang="en-US" sz="1600" dirty="0"/>
          </a:p>
        </p:txBody>
      </p:sp>
      <p:sp>
        <p:nvSpPr>
          <p:cNvPr id="21" name="Text 15"/>
          <p:cNvSpPr txBox="1"/>
          <p:nvPr/>
        </p:nvSpPr>
        <p:spPr>
          <a:xfrm>
            <a:off x="905256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What you organize and join, with check-in and ratings</a:t>
            </a:r>
            <a:endParaRPr lang="en-US" sz="1250" dirty="0"/>
          </a:p>
        </p:txBody>
      </p:sp>
      <p:sp>
        <p:nvSpPr>
          <p:cNvPr id="22" name="Shape 16"/>
          <p:cNvSpPr/>
          <p:nvPr/>
        </p:nvSpPr>
        <p:spPr>
          <a:xfrm>
            <a:off x="64008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868680" y="3410712"/>
            <a:ext cx="658368" cy="658368"/>
          </a:xfrm>
          <a:prstGeom prst="roundRect">
            <a:avLst>
              <a:gd name="adj" fmla="val 27000"/>
            </a:avLst>
          </a:prstGeom>
          <a:solidFill>
            <a:srgbClr val="F8E8D0"/>
          </a:solidFill>
          <a:ln/>
        </p:spPr>
      </p:sp>
      <p:pic>
        <p:nvPicPr>
          <p:cNvPr id="24" name="Image 4" descr="preencoded.png">    </p:cNvPr>
          <p:cNvPicPr>
            <a:picLocks noChangeAspect="1"/>
          </p:cNvPicPr>
          <p:nvPr/>
        </p:nvPicPr>
        <p:blipFill>
          <a:blip r:embed="rId5"/>
          <a:stretch>
            <a:fillRect/>
          </a:stretch>
        </p:blipFill>
        <p:spPr>
          <a:xfrm>
            <a:off x="1026688" y="3568720"/>
            <a:ext cx="342351" cy="342351"/>
          </a:xfrm>
          <a:prstGeom prst="rect">
            <a:avLst/>
          </a:prstGeom>
        </p:spPr>
      </p:pic>
      <p:sp>
        <p:nvSpPr>
          <p:cNvPr id="25" name="Text 18"/>
          <p:cNvSpPr txBox="1"/>
          <p:nvPr/>
        </p:nvSpPr>
        <p:spPr>
          <a:xfrm>
            <a:off x="169164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Share &amp; invite</a:t>
            </a:r>
            <a:endParaRPr lang="en-US" sz="1600" dirty="0"/>
          </a:p>
        </p:txBody>
      </p:sp>
      <p:sp>
        <p:nvSpPr>
          <p:cNvPr id="26" name="Text 19"/>
          <p:cNvSpPr txBox="1"/>
          <p:nvPr/>
        </p:nvSpPr>
        <p:spPr>
          <a:xfrm>
            <a:off x="169164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Link, WhatsApp, QR code and flyer generator</a:t>
            </a:r>
            <a:endParaRPr lang="en-US" sz="1250" dirty="0"/>
          </a:p>
        </p:txBody>
      </p:sp>
      <p:sp>
        <p:nvSpPr>
          <p:cNvPr id="27" name="Shape 20"/>
          <p:cNvSpPr/>
          <p:nvPr/>
        </p:nvSpPr>
        <p:spPr>
          <a:xfrm>
            <a:off x="432054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4549140" y="3410712"/>
            <a:ext cx="658368" cy="658368"/>
          </a:xfrm>
          <a:prstGeom prst="roundRect">
            <a:avLst>
              <a:gd name="adj" fmla="val 27000"/>
            </a:avLst>
          </a:prstGeom>
          <a:solidFill>
            <a:srgbClr val="F8E8D0"/>
          </a:solidFill>
          <a:ln/>
        </p:spPr>
      </p:sp>
      <p:pic>
        <p:nvPicPr>
          <p:cNvPr id="29" name="Image 5" descr="preencoded.png">    </p:cNvPr>
          <p:cNvPicPr>
            <a:picLocks noChangeAspect="1"/>
          </p:cNvPicPr>
          <p:nvPr/>
        </p:nvPicPr>
        <p:blipFill>
          <a:blip r:embed="rId6"/>
          <a:stretch>
            <a:fillRect/>
          </a:stretch>
        </p:blipFill>
        <p:spPr>
          <a:xfrm>
            <a:off x="4707148" y="3568720"/>
            <a:ext cx="342351" cy="342351"/>
          </a:xfrm>
          <a:prstGeom prst="rect">
            <a:avLst/>
          </a:prstGeom>
        </p:spPr>
      </p:pic>
      <p:sp>
        <p:nvSpPr>
          <p:cNvPr id="30" name="Text 22"/>
          <p:cNvSpPr txBox="1"/>
          <p:nvPr/>
        </p:nvSpPr>
        <p:spPr>
          <a:xfrm>
            <a:off x="537210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Comments</a:t>
            </a:r>
            <a:endParaRPr lang="en-US" sz="1600" dirty="0"/>
          </a:p>
        </p:txBody>
      </p:sp>
      <p:sp>
        <p:nvSpPr>
          <p:cNvPr id="31" name="Text 23"/>
          <p:cNvSpPr txBox="1"/>
          <p:nvPr/>
        </p:nvSpPr>
        <p:spPr>
          <a:xfrm>
            <a:off x="537210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Questions and replies on each activity, with reporting</a:t>
            </a:r>
            <a:endParaRPr lang="en-US" sz="1250" dirty="0"/>
          </a:p>
        </p:txBody>
      </p:sp>
      <p:sp>
        <p:nvSpPr>
          <p:cNvPr id="32" name="Shape 24"/>
          <p:cNvSpPr/>
          <p:nvPr/>
        </p:nvSpPr>
        <p:spPr>
          <a:xfrm>
            <a:off x="800100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3" name="Shape 25"/>
          <p:cNvSpPr/>
          <p:nvPr/>
        </p:nvSpPr>
        <p:spPr>
          <a:xfrm>
            <a:off x="8229600" y="3410712"/>
            <a:ext cx="658368" cy="658368"/>
          </a:xfrm>
          <a:prstGeom prst="roundRect">
            <a:avLst>
              <a:gd name="adj" fmla="val 27000"/>
            </a:avLst>
          </a:prstGeom>
          <a:solidFill>
            <a:srgbClr val="F8E8D0"/>
          </a:solidFill>
          <a:ln/>
        </p:spPr>
      </p:sp>
      <p:pic>
        <p:nvPicPr>
          <p:cNvPr id="34" name="Image 6" descr="preencoded.png">    </p:cNvPr>
          <p:cNvPicPr>
            <a:picLocks noChangeAspect="1"/>
          </p:cNvPicPr>
          <p:nvPr/>
        </p:nvPicPr>
        <p:blipFill>
          <a:blip r:embed="rId7"/>
          <a:stretch>
            <a:fillRect/>
          </a:stretch>
        </p:blipFill>
        <p:spPr>
          <a:xfrm>
            <a:off x="8387608" y="3568720"/>
            <a:ext cx="342351" cy="342351"/>
          </a:xfrm>
          <a:prstGeom prst="rect">
            <a:avLst/>
          </a:prstGeom>
        </p:spPr>
      </p:pic>
      <p:sp>
        <p:nvSpPr>
          <p:cNvPr id="35" name="Text 26"/>
          <p:cNvSpPr txBox="1"/>
          <p:nvPr/>
        </p:nvSpPr>
        <p:spPr>
          <a:xfrm>
            <a:off x="905256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Private messages</a:t>
            </a:r>
            <a:endParaRPr lang="en-US" sz="1600" dirty="0"/>
          </a:p>
        </p:txBody>
      </p:sp>
      <p:sp>
        <p:nvSpPr>
          <p:cNvPr id="36" name="Text 27"/>
          <p:cNvSpPr txBox="1"/>
          <p:nvPr/>
        </p:nvSpPr>
        <p:spPr>
          <a:xfrm>
            <a:off x="905256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Realtime 1:1 chat, mute, archive and block</a:t>
            </a:r>
            <a:endParaRPr lang="en-US" sz="1250" dirty="0"/>
          </a:p>
        </p:txBody>
      </p:sp>
      <p:sp>
        <p:nvSpPr>
          <p:cNvPr id="37" name="Shape 28"/>
          <p:cNvSpPr/>
          <p:nvPr/>
        </p:nvSpPr>
        <p:spPr>
          <a:xfrm>
            <a:off x="64008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8" name="Shape 29"/>
          <p:cNvSpPr/>
          <p:nvPr/>
        </p:nvSpPr>
        <p:spPr>
          <a:xfrm>
            <a:off x="868680" y="4782312"/>
            <a:ext cx="658368" cy="658368"/>
          </a:xfrm>
          <a:prstGeom prst="roundRect">
            <a:avLst>
              <a:gd name="adj" fmla="val 27000"/>
            </a:avLst>
          </a:prstGeom>
          <a:solidFill>
            <a:srgbClr val="F8E8D0"/>
          </a:solidFill>
          <a:ln/>
        </p:spPr>
      </p:sp>
      <p:pic>
        <p:nvPicPr>
          <p:cNvPr id="39" name="Image 7" descr="preencoded.png">    </p:cNvPr>
          <p:cNvPicPr>
            <a:picLocks noChangeAspect="1"/>
          </p:cNvPicPr>
          <p:nvPr/>
        </p:nvPicPr>
        <p:blipFill>
          <a:blip r:embed="rId8"/>
          <a:stretch>
            <a:fillRect/>
          </a:stretch>
        </p:blipFill>
        <p:spPr>
          <a:xfrm>
            <a:off x="1026688" y="4940320"/>
            <a:ext cx="342351" cy="342351"/>
          </a:xfrm>
          <a:prstGeom prst="rect">
            <a:avLst/>
          </a:prstGeom>
        </p:spPr>
      </p:pic>
      <p:sp>
        <p:nvSpPr>
          <p:cNvPr id="40" name="Text 30"/>
          <p:cNvSpPr txBox="1"/>
          <p:nvPr/>
        </p:nvSpPr>
        <p:spPr>
          <a:xfrm>
            <a:off x="169164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Community</a:t>
            </a:r>
            <a:endParaRPr lang="en-US" sz="1600" dirty="0"/>
          </a:p>
        </p:txBody>
      </p:sp>
      <p:sp>
        <p:nvSpPr>
          <p:cNvPr id="41" name="Text 31"/>
          <p:cNvSpPr txBox="1"/>
          <p:nvPr/>
        </p:nvSpPr>
        <p:spPr>
          <a:xfrm>
            <a:off x="169164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Profiles, friends, groups, and which friends are going</a:t>
            </a:r>
            <a:endParaRPr lang="en-US" sz="1250" dirty="0"/>
          </a:p>
        </p:txBody>
      </p:sp>
      <p:sp>
        <p:nvSpPr>
          <p:cNvPr id="42" name="Shape 32"/>
          <p:cNvSpPr/>
          <p:nvPr/>
        </p:nvSpPr>
        <p:spPr>
          <a:xfrm>
            <a:off x="432054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43" name="Shape 33"/>
          <p:cNvSpPr/>
          <p:nvPr/>
        </p:nvSpPr>
        <p:spPr>
          <a:xfrm>
            <a:off x="4549140" y="4782312"/>
            <a:ext cx="658368" cy="658368"/>
          </a:xfrm>
          <a:prstGeom prst="roundRect">
            <a:avLst>
              <a:gd name="adj" fmla="val 27000"/>
            </a:avLst>
          </a:prstGeom>
          <a:solidFill>
            <a:srgbClr val="F8E8D0"/>
          </a:solidFill>
          <a:ln/>
        </p:spPr>
      </p:sp>
      <p:pic>
        <p:nvPicPr>
          <p:cNvPr id="44" name="Image 8" descr="preencoded.png">    </p:cNvPr>
          <p:cNvPicPr>
            <a:picLocks noChangeAspect="1"/>
          </p:cNvPicPr>
          <p:nvPr/>
        </p:nvPicPr>
        <p:blipFill>
          <a:blip r:embed="rId9"/>
          <a:stretch>
            <a:fillRect/>
          </a:stretch>
        </p:blipFill>
        <p:spPr>
          <a:xfrm>
            <a:off x="4707148" y="4940320"/>
            <a:ext cx="342351" cy="342351"/>
          </a:xfrm>
          <a:prstGeom prst="rect">
            <a:avLst/>
          </a:prstGeom>
        </p:spPr>
      </p:pic>
      <p:sp>
        <p:nvSpPr>
          <p:cNvPr id="45" name="Text 34"/>
          <p:cNvSpPr txBox="1"/>
          <p:nvPr/>
        </p:nvSpPr>
        <p:spPr>
          <a:xfrm>
            <a:off x="537210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Notifications</a:t>
            </a:r>
            <a:endParaRPr lang="en-US" sz="1600" dirty="0"/>
          </a:p>
        </p:txBody>
      </p:sp>
      <p:sp>
        <p:nvSpPr>
          <p:cNvPr id="46" name="Text 35"/>
          <p:cNvSpPr txBox="1"/>
          <p:nvPr/>
        </p:nvSpPr>
        <p:spPr>
          <a:xfrm>
            <a:off x="537210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Reminders, alerts and approvals, by email and push</a:t>
            </a:r>
            <a:endParaRPr lang="en-US" sz="1250" dirty="0"/>
          </a:p>
        </p:txBody>
      </p:sp>
      <p:sp>
        <p:nvSpPr>
          <p:cNvPr id="47" name="Shape 36"/>
          <p:cNvSpPr/>
          <p:nvPr/>
        </p:nvSpPr>
        <p:spPr>
          <a:xfrm>
            <a:off x="800100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48" name="Shape 37"/>
          <p:cNvSpPr/>
          <p:nvPr/>
        </p:nvSpPr>
        <p:spPr>
          <a:xfrm>
            <a:off x="8229600" y="4782312"/>
            <a:ext cx="658368" cy="658368"/>
          </a:xfrm>
          <a:prstGeom prst="roundRect">
            <a:avLst>
              <a:gd name="adj" fmla="val 27000"/>
            </a:avLst>
          </a:prstGeom>
          <a:solidFill>
            <a:srgbClr val="F8E8D0"/>
          </a:solidFill>
          <a:ln/>
        </p:spPr>
      </p:sp>
      <p:pic>
        <p:nvPicPr>
          <p:cNvPr id="49" name="Image 9" descr="preencoded.png">    </p:cNvPr>
          <p:cNvPicPr>
            <a:picLocks noChangeAspect="1"/>
          </p:cNvPicPr>
          <p:nvPr/>
        </p:nvPicPr>
        <p:blipFill>
          <a:blip r:embed="rId10"/>
          <a:stretch>
            <a:fillRect/>
          </a:stretch>
        </p:blipFill>
        <p:spPr>
          <a:xfrm>
            <a:off x="8387608" y="4940320"/>
            <a:ext cx="342351" cy="342351"/>
          </a:xfrm>
          <a:prstGeom prst="rect">
            <a:avLst/>
          </a:prstGeom>
        </p:spPr>
      </p:pic>
      <p:sp>
        <p:nvSpPr>
          <p:cNvPr id="50" name="Text 38"/>
          <p:cNvSpPr txBox="1"/>
          <p:nvPr/>
        </p:nvSpPr>
        <p:spPr>
          <a:xfrm>
            <a:off x="905256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Help &amp; support</a:t>
            </a:r>
            <a:endParaRPr lang="en-US" sz="1600" dirty="0"/>
          </a:p>
        </p:txBody>
      </p:sp>
      <p:sp>
        <p:nvSpPr>
          <p:cNvPr id="51" name="Text 39"/>
          <p:cNvSpPr txBox="1"/>
          <p:nvPr/>
        </p:nvSpPr>
        <p:spPr>
          <a:xfrm>
            <a:off x="905256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Complaint tickets with attachments, emailed to admins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03</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How it's built</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Architecture, stack and delivery</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ARCHITECTURE</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Three layers, with security in the database</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13 / 24</a:t>
            </a:r>
            <a:endParaRPr lang="en-US" sz="1100" dirty="0"/>
          </a:p>
        </p:txBody>
      </p:sp>
      <p:sp>
        <p:nvSpPr>
          <p:cNvPr id="7" name="Shape 4"/>
          <p:cNvSpPr/>
          <p:nvPr/>
        </p:nvSpPr>
        <p:spPr>
          <a:xfrm>
            <a:off x="6400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57400"/>
            <a:ext cx="548640" cy="54864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00354" y="2189074"/>
            <a:ext cx="285293" cy="285293"/>
          </a:xfrm>
          <a:prstGeom prst="rect">
            <a:avLst/>
          </a:prstGeom>
        </p:spPr>
      </p:pic>
      <p:sp>
        <p:nvSpPr>
          <p:cNvPr id="10" name="Text 6"/>
          <p:cNvSpPr txBox="1"/>
          <p:nvPr/>
        </p:nvSpPr>
        <p:spPr>
          <a:xfrm>
            <a:off x="15544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Browser</a:t>
            </a:r>
            <a:endParaRPr lang="en-US" sz="1600" dirty="0"/>
          </a:p>
        </p:txBody>
      </p:sp>
      <p:sp>
        <p:nvSpPr>
          <p:cNvPr id="11" name="Text 7"/>
          <p:cNvSpPr txBox="1"/>
          <p:nvPr/>
        </p:nvSpPr>
        <p:spPr>
          <a:xfrm>
            <a:off x="8686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React 19 pages and forms</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Live GPS read on the device</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Leaflet maps (OpenStreetMap)</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Flyer and chart images drawn here</a:t>
            </a:r>
            <a:endParaRPr lang="en-US" sz="1250" dirty="0"/>
          </a:p>
        </p:txBody>
      </p:sp>
      <p:sp>
        <p:nvSpPr>
          <p:cNvPr id="12" name="Shape 8"/>
          <p:cNvSpPr/>
          <p:nvPr/>
        </p:nvSpPr>
        <p:spPr>
          <a:xfrm>
            <a:off x="45262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4754880" y="2057400"/>
            <a:ext cx="548640" cy="548640"/>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4886554" y="2189074"/>
            <a:ext cx="285293" cy="285293"/>
          </a:xfrm>
          <a:prstGeom prst="rect">
            <a:avLst/>
          </a:prstGeom>
        </p:spPr>
      </p:pic>
      <p:sp>
        <p:nvSpPr>
          <p:cNvPr id="15" name="Text 10"/>
          <p:cNvSpPr txBox="1"/>
          <p:nvPr/>
        </p:nvSpPr>
        <p:spPr>
          <a:xfrm>
            <a:off x="54406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Vercel · Next.js 16</a:t>
            </a:r>
            <a:endParaRPr lang="en-US" sz="1600" dirty="0"/>
          </a:p>
        </p:txBody>
      </p:sp>
      <p:sp>
        <p:nvSpPr>
          <p:cNvPr id="16" name="Text 11"/>
          <p:cNvSpPr txBox="1"/>
          <p:nvPr/>
        </p:nvSpPr>
        <p:spPr>
          <a:xfrm>
            <a:off x="47548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Server-rendered pages (App Router)</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5 API routes: PIN sign-in, PIN recovery, alert emails</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Login check on every request</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Secrets kept server-side</a:t>
            </a:r>
            <a:endParaRPr lang="en-US" sz="1250" dirty="0"/>
          </a:p>
        </p:txBody>
      </p:sp>
      <p:sp>
        <p:nvSpPr>
          <p:cNvPr id="17" name="Shape 12"/>
          <p:cNvSpPr/>
          <p:nvPr/>
        </p:nvSpPr>
        <p:spPr>
          <a:xfrm>
            <a:off x="84124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641080" y="2057400"/>
            <a:ext cx="548640" cy="548640"/>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8772754" y="2189074"/>
            <a:ext cx="285293" cy="285293"/>
          </a:xfrm>
          <a:prstGeom prst="rect">
            <a:avLst/>
          </a:prstGeom>
        </p:spPr>
      </p:pic>
      <p:sp>
        <p:nvSpPr>
          <p:cNvPr id="20" name="Text 14"/>
          <p:cNvSpPr txBox="1"/>
          <p:nvPr/>
        </p:nvSpPr>
        <p:spPr>
          <a:xfrm>
            <a:off x="93268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Supabase</a:t>
            </a:r>
            <a:endParaRPr lang="en-US" sz="1600" dirty="0"/>
          </a:p>
        </p:txBody>
      </p:sp>
      <p:sp>
        <p:nvSpPr>
          <p:cNvPr id="21" name="Text 15"/>
          <p:cNvSpPr txBox="1"/>
          <p:nvPr/>
        </p:nvSpPr>
        <p:spPr>
          <a:xfrm>
            <a:off x="86410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Postgres + row-level security</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Auth: accounts, sessions, email codes</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Storage: banners, attachments</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Realtime: live messages</a:t>
            </a:r>
            <a:endParaRPr lang="en-US" sz="1250" dirty="0"/>
          </a:p>
        </p:txBody>
      </p:sp>
      <p:sp>
        <p:nvSpPr>
          <p:cNvPr id="22" name="Shape 16"/>
          <p:cNvSpPr/>
          <p:nvPr/>
        </p:nvSpPr>
        <p:spPr>
          <a:xfrm>
            <a:off x="3794760" y="3291840"/>
            <a:ext cx="685800" cy="0"/>
          </a:xfrm>
          <a:prstGeom prst="line">
            <a:avLst/>
          </a:prstGeom>
          <a:noFill/>
          <a:ln w="25400">
            <a:solidFill>
              <a:srgbClr val="F97316"/>
            </a:solidFill>
            <a:prstDash val="solid"/>
            <a:headEnd type="triangle"/>
            <a:tailEnd type="triangle"/>
          </a:ln>
        </p:spPr>
      </p:sp>
      <p:sp>
        <p:nvSpPr>
          <p:cNvPr id="23" name="Text 17"/>
          <p:cNvSpPr txBox="1"/>
          <p:nvPr/>
        </p:nvSpPr>
        <p:spPr>
          <a:xfrm>
            <a:off x="3611880" y="2944368"/>
            <a:ext cx="1051560" cy="274320"/>
          </a:xfrm>
          <a:prstGeom prst="rect">
            <a:avLst/>
          </a:prstGeom>
          <a:noFill/>
          <a:ln/>
        </p:spPr>
        <p:txBody>
          <a:bodyPr wrap="square" lIns="0" tIns="0" rIns="0" bIns="0" rtlCol="0" anchor="ctr"/>
          <a:lstStyle/>
          <a:p>
            <a:pPr algn="ctr" indent="0" marL="0">
              <a:buNone/>
            </a:pPr>
            <a:r>
              <a:rPr lang="en-US" sz="1050" dirty="0">
                <a:solidFill>
                  <a:srgbClr val="78716C"/>
                </a:solidFill>
                <a:latin typeface="Arial" pitchFamily="34" charset="0"/>
                <a:ea typeface="Arial" pitchFamily="34" charset="-122"/>
                <a:cs typeface="Arial" pitchFamily="34" charset="-120"/>
              </a:rPr>
              <a:t>HTTPS</a:t>
            </a:r>
            <a:endParaRPr lang="en-US" sz="1050" dirty="0"/>
          </a:p>
        </p:txBody>
      </p:sp>
      <p:sp>
        <p:nvSpPr>
          <p:cNvPr id="24" name="Shape 18"/>
          <p:cNvSpPr/>
          <p:nvPr/>
        </p:nvSpPr>
        <p:spPr>
          <a:xfrm>
            <a:off x="7680960" y="3291840"/>
            <a:ext cx="685800" cy="0"/>
          </a:xfrm>
          <a:prstGeom prst="line">
            <a:avLst/>
          </a:prstGeom>
          <a:noFill/>
          <a:ln w="25400">
            <a:solidFill>
              <a:srgbClr val="F97316"/>
            </a:solidFill>
            <a:prstDash val="solid"/>
            <a:headEnd type="triangle"/>
            <a:tailEnd type="triangle"/>
          </a:ln>
        </p:spPr>
      </p:sp>
      <p:sp>
        <p:nvSpPr>
          <p:cNvPr id="25" name="Text 19"/>
          <p:cNvSpPr txBox="1"/>
          <p:nvPr/>
        </p:nvSpPr>
        <p:spPr>
          <a:xfrm>
            <a:off x="7498080" y="2944368"/>
            <a:ext cx="1051560" cy="274320"/>
          </a:xfrm>
          <a:prstGeom prst="rect">
            <a:avLst/>
          </a:prstGeom>
          <a:noFill/>
          <a:ln/>
        </p:spPr>
        <p:txBody>
          <a:bodyPr wrap="square" lIns="0" tIns="0" rIns="0" bIns="0" rtlCol="0" anchor="ctr"/>
          <a:lstStyle/>
          <a:p>
            <a:pPr algn="ctr" indent="0" marL="0">
              <a:buNone/>
            </a:pPr>
            <a:r>
              <a:rPr lang="en-US" sz="1050" dirty="0">
                <a:solidFill>
                  <a:srgbClr val="78716C"/>
                </a:solidFill>
                <a:latin typeface="Arial" pitchFamily="34" charset="0"/>
                <a:ea typeface="Arial" pitchFamily="34" charset="-122"/>
                <a:cs typeface="Arial" pitchFamily="34" charset="-120"/>
              </a:rPr>
              <a:t>SQL · RPC</a:t>
            </a:r>
            <a:endParaRPr lang="en-US" sz="1050" dirty="0"/>
          </a:p>
        </p:txBody>
      </p:sp>
      <p:sp>
        <p:nvSpPr>
          <p:cNvPr id="26" name="Shape 20"/>
          <p:cNvSpPr/>
          <p:nvPr/>
        </p:nvSpPr>
        <p:spPr>
          <a:xfrm>
            <a:off x="640080" y="5074920"/>
            <a:ext cx="3108960" cy="777240"/>
          </a:xfrm>
          <a:prstGeom prst="roundRect">
            <a:avLst>
              <a:gd name="adj" fmla="val 50000"/>
            </a:avLst>
          </a:prstGeom>
          <a:solidFill>
            <a:srgbClr val="FFFFFF"/>
          </a:solidFill>
          <a:ln/>
        </p:spPr>
      </p:sp>
      <p:sp>
        <p:nvSpPr>
          <p:cNvPr id="27" name="Shape 21"/>
          <p:cNvSpPr/>
          <p:nvPr/>
        </p:nvSpPr>
        <p:spPr>
          <a:xfrm>
            <a:off x="777240" y="5175504"/>
            <a:ext cx="576072" cy="576072"/>
          </a:xfrm>
          <a:prstGeom prst="roundRect">
            <a:avLst>
              <a:gd name="adj" fmla="val 27000"/>
            </a:avLst>
          </a:prstGeom>
          <a:solidFill>
            <a:srgbClr val="F8E8D0"/>
          </a:solidFill>
          <a:ln/>
        </p:spPr>
      </p:sp>
      <p:pic>
        <p:nvPicPr>
          <p:cNvPr id="28" name="Image 4" descr="preencoded.png">    </p:cNvPr>
          <p:cNvPicPr>
            <a:picLocks noChangeAspect="1"/>
          </p:cNvPicPr>
          <p:nvPr/>
        </p:nvPicPr>
        <p:blipFill>
          <a:blip r:embed="rId5"/>
          <a:stretch>
            <a:fillRect/>
          </a:stretch>
        </p:blipFill>
        <p:spPr>
          <a:xfrm>
            <a:off x="915497" y="5313761"/>
            <a:ext cx="299557" cy="299557"/>
          </a:xfrm>
          <a:prstGeom prst="rect">
            <a:avLst/>
          </a:prstGeom>
        </p:spPr>
      </p:pic>
      <p:sp>
        <p:nvSpPr>
          <p:cNvPr id="29" name="Text 22"/>
          <p:cNvSpPr txBox="1"/>
          <p:nvPr/>
        </p:nvSpPr>
        <p:spPr>
          <a:xfrm>
            <a:off x="15087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OpenStreetMap</a:t>
            </a:r>
            <a:endParaRPr lang="en-US" sz="1250" dirty="0"/>
          </a:p>
        </p:txBody>
      </p:sp>
      <p:sp>
        <p:nvSpPr>
          <p:cNvPr id="30" name="Text 23"/>
          <p:cNvSpPr txBox="1"/>
          <p:nvPr/>
        </p:nvSpPr>
        <p:spPr>
          <a:xfrm>
            <a:off x="15087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Map tiles and area lookup</a:t>
            </a:r>
            <a:endParaRPr lang="en-US" sz="1100" dirty="0"/>
          </a:p>
        </p:txBody>
      </p:sp>
      <p:sp>
        <p:nvSpPr>
          <p:cNvPr id="31" name="Shape 24"/>
          <p:cNvSpPr/>
          <p:nvPr/>
        </p:nvSpPr>
        <p:spPr>
          <a:xfrm>
            <a:off x="4526280" y="5074920"/>
            <a:ext cx="3108960" cy="777240"/>
          </a:xfrm>
          <a:prstGeom prst="roundRect">
            <a:avLst>
              <a:gd name="adj" fmla="val 50000"/>
            </a:avLst>
          </a:prstGeom>
          <a:solidFill>
            <a:srgbClr val="FFFFFF"/>
          </a:solidFill>
          <a:ln/>
        </p:spPr>
      </p:sp>
      <p:sp>
        <p:nvSpPr>
          <p:cNvPr id="32" name="Shape 25"/>
          <p:cNvSpPr/>
          <p:nvPr/>
        </p:nvSpPr>
        <p:spPr>
          <a:xfrm>
            <a:off x="4663440" y="5175504"/>
            <a:ext cx="576072" cy="576072"/>
          </a:xfrm>
          <a:prstGeom prst="roundRect">
            <a:avLst>
              <a:gd name="adj" fmla="val 27000"/>
            </a:avLst>
          </a:prstGeom>
          <a:solidFill>
            <a:srgbClr val="F8E8D0"/>
          </a:solidFill>
          <a:ln/>
        </p:spPr>
      </p:sp>
      <p:pic>
        <p:nvPicPr>
          <p:cNvPr id="33" name="Image 5" descr="preencoded.png">    </p:cNvPr>
          <p:cNvPicPr>
            <a:picLocks noChangeAspect="1"/>
          </p:cNvPicPr>
          <p:nvPr/>
        </p:nvPicPr>
        <p:blipFill>
          <a:blip r:embed="rId6"/>
          <a:stretch>
            <a:fillRect/>
          </a:stretch>
        </p:blipFill>
        <p:spPr>
          <a:xfrm>
            <a:off x="4801697" y="5313761"/>
            <a:ext cx="299557" cy="299557"/>
          </a:xfrm>
          <a:prstGeom prst="rect">
            <a:avLst/>
          </a:prstGeom>
        </p:spPr>
      </p:pic>
      <p:sp>
        <p:nvSpPr>
          <p:cNvPr id="34" name="Text 26"/>
          <p:cNvSpPr txBox="1"/>
          <p:nvPr/>
        </p:nvSpPr>
        <p:spPr>
          <a:xfrm>
            <a:off x="53949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SMTP email</a:t>
            </a:r>
            <a:endParaRPr lang="en-US" sz="1250" dirty="0"/>
          </a:p>
        </p:txBody>
      </p:sp>
      <p:sp>
        <p:nvSpPr>
          <p:cNvPr id="35" name="Text 27"/>
          <p:cNvSpPr txBox="1"/>
          <p:nvPr/>
        </p:nvSpPr>
        <p:spPr>
          <a:xfrm>
            <a:off x="53949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Sign-in codes, complaint alerts</a:t>
            </a:r>
            <a:endParaRPr lang="en-US" sz="1100" dirty="0"/>
          </a:p>
        </p:txBody>
      </p:sp>
      <p:sp>
        <p:nvSpPr>
          <p:cNvPr id="36" name="Shape 28"/>
          <p:cNvSpPr/>
          <p:nvPr/>
        </p:nvSpPr>
        <p:spPr>
          <a:xfrm>
            <a:off x="8412480" y="5074920"/>
            <a:ext cx="3108960" cy="777240"/>
          </a:xfrm>
          <a:prstGeom prst="roundRect">
            <a:avLst>
              <a:gd name="adj" fmla="val 50000"/>
            </a:avLst>
          </a:prstGeom>
          <a:solidFill>
            <a:srgbClr val="FFFFFF"/>
          </a:solidFill>
          <a:ln/>
        </p:spPr>
      </p:sp>
      <p:sp>
        <p:nvSpPr>
          <p:cNvPr id="37" name="Shape 29"/>
          <p:cNvSpPr/>
          <p:nvPr/>
        </p:nvSpPr>
        <p:spPr>
          <a:xfrm>
            <a:off x="8549640" y="5175504"/>
            <a:ext cx="576072" cy="576072"/>
          </a:xfrm>
          <a:prstGeom prst="roundRect">
            <a:avLst>
              <a:gd name="adj" fmla="val 27000"/>
            </a:avLst>
          </a:prstGeom>
          <a:solidFill>
            <a:srgbClr val="F8E8D0"/>
          </a:solidFill>
          <a:ln/>
        </p:spPr>
      </p:sp>
      <p:pic>
        <p:nvPicPr>
          <p:cNvPr id="38" name="Image 6" descr="preencoded.png">    </p:cNvPr>
          <p:cNvPicPr>
            <a:picLocks noChangeAspect="1"/>
          </p:cNvPicPr>
          <p:nvPr/>
        </p:nvPicPr>
        <p:blipFill>
          <a:blip r:embed="rId7"/>
          <a:stretch>
            <a:fillRect/>
          </a:stretch>
        </p:blipFill>
        <p:spPr>
          <a:xfrm>
            <a:off x="8687897" y="5313761"/>
            <a:ext cx="299557" cy="299557"/>
          </a:xfrm>
          <a:prstGeom prst="rect">
            <a:avLst/>
          </a:prstGeom>
        </p:spPr>
      </p:pic>
      <p:sp>
        <p:nvSpPr>
          <p:cNvPr id="39" name="Text 30"/>
          <p:cNvSpPr txBox="1"/>
          <p:nvPr/>
        </p:nvSpPr>
        <p:spPr>
          <a:xfrm>
            <a:off x="92811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GitHub</a:t>
            </a:r>
            <a:endParaRPr lang="en-US" sz="1250" dirty="0"/>
          </a:p>
        </p:txBody>
      </p:sp>
      <p:sp>
        <p:nvSpPr>
          <p:cNvPr id="40" name="Text 31"/>
          <p:cNvSpPr txBox="1"/>
          <p:nvPr/>
        </p:nvSpPr>
        <p:spPr>
          <a:xfrm>
            <a:off x="92811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Code, history, triggers deploys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TECH STACK</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Modern, free-tier friendly tools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14 / 24</a:t>
            </a:r>
            <a:endParaRPr lang="en-US" sz="1100" dirty="0"/>
          </a:p>
        </p:txBody>
      </p:sp>
      <p:sp>
        <p:nvSpPr>
          <p:cNvPr id="7" name="Shape 4"/>
          <p:cNvSpPr/>
          <p:nvPr/>
        </p:nvSpPr>
        <p:spPr>
          <a:xfrm>
            <a:off x="640080" y="18288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84832"/>
            <a:ext cx="676656" cy="676656"/>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31077" y="2247229"/>
            <a:ext cx="351861" cy="351861"/>
          </a:xfrm>
          <a:prstGeom prst="rect">
            <a:avLst/>
          </a:prstGeom>
        </p:spPr>
      </p:pic>
      <p:sp>
        <p:nvSpPr>
          <p:cNvPr id="10" name="Text 6"/>
          <p:cNvSpPr txBox="1"/>
          <p:nvPr/>
        </p:nvSpPr>
        <p:spPr>
          <a:xfrm>
            <a:off x="1737360" y="20116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Next.js 16 · React 19 · TypeScript</a:t>
            </a:r>
            <a:endParaRPr lang="en-US" sz="1550" dirty="0"/>
          </a:p>
        </p:txBody>
      </p:sp>
      <p:sp>
        <p:nvSpPr>
          <p:cNvPr id="11" name="Text 7"/>
          <p:cNvSpPr txBox="1"/>
          <p:nvPr/>
        </p:nvSpPr>
        <p:spPr>
          <a:xfrm>
            <a:off x="1737360" y="23774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App Router, server components; one typed codebase for pages and API routes.</a:t>
            </a:r>
            <a:endParaRPr lang="en-US" sz="1250" dirty="0"/>
          </a:p>
        </p:txBody>
      </p:sp>
      <p:sp>
        <p:nvSpPr>
          <p:cNvPr id="12" name="Shape 8"/>
          <p:cNvSpPr/>
          <p:nvPr/>
        </p:nvSpPr>
        <p:spPr>
          <a:xfrm>
            <a:off x="6217920" y="18288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6446520" y="2084832"/>
            <a:ext cx="676656" cy="676656"/>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6608917" y="2247229"/>
            <a:ext cx="351861" cy="351861"/>
          </a:xfrm>
          <a:prstGeom prst="rect">
            <a:avLst/>
          </a:prstGeom>
        </p:spPr>
      </p:pic>
      <p:sp>
        <p:nvSpPr>
          <p:cNvPr id="15" name="Text 10"/>
          <p:cNvSpPr txBox="1"/>
          <p:nvPr/>
        </p:nvSpPr>
        <p:spPr>
          <a:xfrm>
            <a:off x="7315200" y="20116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Tailwind CSS 3</a:t>
            </a:r>
            <a:endParaRPr lang="en-US" sz="1550" dirty="0"/>
          </a:p>
        </p:txBody>
      </p:sp>
      <p:sp>
        <p:nvSpPr>
          <p:cNvPr id="16" name="Text 11"/>
          <p:cNvSpPr txBox="1"/>
          <p:nvPr/>
        </p:nvSpPr>
        <p:spPr>
          <a:xfrm>
            <a:off x="7315200" y="23774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Design tokens for the Orange/Cream palette, light and dark themes.</a:t>
            </a:r>
            <a:endParaRPr lang="en-US" sz="1250" dirty="0"/>
          </a:p>
        </p:txBody>
      </p:sp>
      <p:sp>
        <p:nvSpPr>
          <p:cNvPr id="17" name="Shape 12"/>
          <p:cNvSpPr/>
          <p:nvPr/>
        </p:nvSpPr>
        <p:spPr>
          <a:xfrm>
            <a:off x="640080" y="32004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68680" y="3456432"/>
            <a:ext cx="676656" cy="676656"/>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1031077" y="3618829"/>
            <a:ext cx="351861" cy="351861"/>
          </a:xfrm>
          <a:prstGeom prst="rect">
            <a:avLst/>
          </a:prstGeom>
        </p:spPr>
      </p:pic>
      <p:sp>
        <p:nvSpPr>
          <p:cNvPr id="20" name="Text 14"/>
          <p:cNvSpPr txBox="1"/>
          <p:nvPr/>
        </p:nvSpPr>
        <p:spPr>
          <a:xfrm>
            <a:off x="1737360" y="33832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Supabase</a:t>
            </a:r>
            <a:endParaRPr lang="en-US" sz="1550" dirty="0"/>
          </a:p>
        </p:txBody>
      </p:sp>
      <p:sp>
        <p:nvSpPr>
          <p:cNvPr id="21" name="Text 15"/>
          <p:cNvSpPr txBox="1"/>
          <p:nvPr/>
        </p:nvSpPr>
        <p:spPr>
          <a:xfrm>
            <a:off x="1737360" y="37490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Postgres, Auth, Storage, Realtime. Rules live in SQL: RLS and security-definer functions.</a:t>
            </a:r>
            <a:endParaRPr lang="en-US" sz="1250" dirty="0"/>
          </a:p>
        </p:txBody>
      </p:sp>
      <p:sp>
        <p:nvSpPr>
          <p:cNvPr id="22" name="Shape 16"/>
          <p:cNvSpPr/>
          <p:nvPr/>
        </p:nvSpPr>
        <p:spPr>
          <a:xfrm>
            <a:off x="6217920" y="32004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6446520" y="3456432"/>
            <a:ext cx="676656" cy="676656"/>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6608917" y="3618829"/>
            <a:ext cx="351861" cy="351861"/>
          </a:xfrm>
          <a:prstGeom prst="rect">
            <a:avLst/>
          </a:prstGeom>
        </p:spPr>
      </p:pic>
      <p:sp>
        <p:nvSpPr>
          <p:cNvPr id="25" name="Text 18"/>
          <p:cNvSpPr txBox="1"/>
          <p:nvPr/>
        </p:nvSpPr>
        <p:spPr>
          <a:xfrm>
            <a:off x="7315200" y="33832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Leaflet + OpenStreetMap</a:t>
            </a:r>
            <a:endParaRPr lang="en-US" sz="1550" dirty="0"/>
          </a:p>
        </p:txBody>
      </p:sp>
      <p:sp>
        <p:nvSpPr>
          <p:cNvPr id="26" name="Text 19"/>
          <p:cNvSpPr txBox="1"/>
          <p:nvPr/>
        </p:nvSpPr>
        <p:spPr>
          <a:xfrm>
            <a:off x="7315200" y="37490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Maps and place lookup with no API key and no cost.</a:t>
            </a:r>
            <a:endParaRPr lang="en-US" sz="1250" dirty="0"/>
          </a:p>
        </p:txBody>
      </p:sp>
      <p:sp>
        <p:nvSpPr>
          <p:cNvPr id="27" name="Shape 20"/>
          <p:cNvSpPr/>
          <p:nvPr/>
        </p:nvSpPr>
        <p:spPr>
          <a:xfrm>
            <a:off x="640080" y="45720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868680" y="4828032"/>
            <a:ext cx="676656" cy="676656"/>
          </a:xfrm>
          <a:prstGeom prst="roundRect">
            <a:avLst>
              <a:gd name="adj" fmla="val 27000"/>
            </a:avLst>
          </a:prstGeom>
          <a:solidFill>
            <a:srgbClr val="F97316"/>
          </a:solidFill>
          <a:ln/>
        </p:spPr>
      </p:sp>
      <p:pic>
        <p:nvPicPr>
          <p:cNvPr id="29" name="Image 5" descr="preencoded.png">    </p:cNvPr>
          <p:cNvPicPr>
            <a:picLocks noChangeAspect="1"/>
          </p:cNvPicPr>
          <p:nvPr/>
        </p:nvPicPr>
        <p:blipFill>
          <a:blip r:embed="rId6"/>
          <a:stretch>
            <a:fillRect/>
          </a:stretch>
        </p:blipFill>
        <p:spPr>
          <a:xfrm>
            <a:off x="1031077" y="4990429"/>
            <a:ext cx="351861" cy="351861"/>
          </a:xfrm>
          <a:prstGeom prst="rect">
            <a:avLst/>
          </a:prstGeom>
        </p:spPr>
      </p:pic>
      <p:sp>
        <p:nvSpPr>
          <p:cNvPr id="30" name="Text 22"/>
          <p:cNvSpPr txBox="1"/>
          <p:nvPr/>
        </p:nvSpPr>
        <p:spPr>
          <a:xfrm>
            <a:off x="1737360" y="47548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Recharts · ExcelJS · docx</a:t>
            </a:r>
            <a:endParaRPr lang="en-US" sz="1550" dirty="0"/>
          </a:p>
        </p:txBody>
      </p:sp>
      <p:sp>
        <p:nvSpPr>
          <p:cNvPr id="31" name="Text 23"/>
          <p:cNvSpPr txBox="1"/>
          <p:nvPr/>
        </p:nvSpPr>
        <p:spPr>
          <a:xfrm>
            <a:off x="1737360" y="51206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Admin charts, and Excel and Word exports built in the browser.</a:t>
            </a:r>
            <a:endParaRPr lang="en-US" sz="1250" dirty="0"/>
          </a:p>
        </p:txBody>
      </p:sp>
      <p:sp>
        <p:nvSpPr>
          <p:cNvPr id="32" name="Shape 24"/>
          <p:cNvSpPr/>
          <p:nvPr/>
        </p:nvSpPr>
        <p:spPr>
          <a:xfrm>
            <a:off x="6217920" y="45720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3" name="Shape 25"/>
          <p:cNvSpPr/>
          <p:nvPr/>
        </p:nvSpPr>
        <p:spPr>
          <a:xfrm>
            <a:off x="6446520" y="4828032"/>
            <a:ext cx="676656" cy="676656"/>
          </a:xfrm>
          <a:prstGeom prst="roundRect">
            <a:avLst>
              <a:gd name="adj" fmla="val 27000"/>
            </a:avLst>
          </a:prstGeom>
          <a:solidFill>
            <a:srgbClr val="F97316"/>
          </a:solidFill>
          <a:ln/>
        </p:spPr>
      </p:sp>
      <p:pic>
        <p:nvPicPr>
          <p:cNvPr id="34" name="Image 6" descr="preencoded.png">    </p:cNvPr>
          <p:cNvPicPr>
            <a:picLocks noChangeAspect="1"/>
          </p:cNvPicPr>
          <p:nvPr/>
        </p:nvPicPr>
        <p:blipFill>
          <a:blip r:embed="rId7"/>
          <a:stretch>
            <a:fillRect/>
          </a:stretch>
        </p:blipFill>
        <p:spPr>
          <a:xfrm>
            <a:off x="6608917" y="4990429"/>
            <a:ext cx="351861" cy="351861"/>
          </a:xfrm>
          <a:prstGeom prst="rect">
            <a:avLst/>
          </a:prstGeom>
        </p:spPr>
      </p:pic>
      <p:sp>
        <p:nvSpPr>
          <p:cNvPr id="35" name="Text 26"/>
          <p:cNvSpPr txBox="1"/>
          <p:nvPr/>
        </p:nvSpPr>
        <p:spPr>
          <a:xfrm>
            <a:off x="7315200" y="47548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qrcode.react · html-to-image</a:t>
            </a:r>
            <a:endParaRPr lang="en-US" sz="1550" dirty="0"/>
          </a:p>
        </p:txBody>
      </p:sp>
      <p:sp>
        <p:nvSpPr>
          <p:cNvPr id="36" name="Text 27"/>
          <p:cNvSpPr txBox="1"/>
          <p:nvPr/>
        </p:nvSpPr>
        <p:spPr>
          <a:xfrm>
            <a:off x="7315200" y="51206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QR codes, and PNG/JPG export for charts and flyers.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HOW WE BUILD &amp; SHIP</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Every change is checked before it goes live</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15 / 24</a:t>
            </a:r>
            <a:endParaRPr lang="en-US" sz="1100" dirty="0"/>
          </a:p>
        </p:txBody>
      </p:sp>
      <p:sp>
        <p:nvSpPr>
          <p:cNvPr id="7" name="Shape 4"/>
          <p:cNvSpPr/>
          <p:nvPr/>
        </p:nvSpPr>
        <p:spPr>
          <a:xfrm>
            <a:off x="64008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03120"/>
            <a:ext cx="621792" cy="621792"/>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63630" y="2252350"/>
            <a:ext cx="323332" cy="323332"/>
          </a:xfrm>
          <a:prstGeom prst="rect">
            <a:avLst/>
          </a:prstGeom>
        </p:spPr>
      </p:pic>
      <p:sp>
        <p:nvSpPr>
          <p:cNvPr id="10" name="Text 6"/>
          <p:cNvSpPr txBox="1"/>
          <p:nvPr/>
        </p:nvSpPr>
        <p:spPr>
          <a:xfrm>
            <a:off x="91440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Code locally</a:t>
            </a:r>
            <a:endParaRPr lang="en-US" sz="1600" dirty="0"/>
          </a:p>
        </p:txBody>
      </p:sp>
      <p:sp>
        <p:nvSpPr>
          <p:cNvPr id="11" name="Text 7"/>
          <p:cNvSpPr txBox="1"/>
          <p:nvPr/>
        </p:nvSpPr>
        <p:spPr>
          <a:xfrm>
            <a:off x="91440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npm run dev at localhost:3000</a:t>
            </a:r>
            <a:endParaRPr lang="en-US" sz="1200" dirty="0"/>
          </a:p>
        </p:txBody>
      </p:sp>
      <p:pic>
        <p:nvPicPr>
          <p:cNvPr id="12" name="Image 2" descr="preencoded.png">    </p:cNvPr>
          <p:cNvPicPr>
            <a:picLocks noChangeAspect="1"/>
          </p:cNvPicPr>
          <p:nvPr/>
        </p:nvPicPr>
        <p:blipFill>
          <a:blip r:embed="rId3"/>
          <a:stretch>
            <a:fillRect/>
          </a:stretch>
        </p:blipFill>
        <p:spPr>
          <a:xfrm>
            <a:off x="2642616" y="2802636"/>
            <a:ext cx="201168" cy="201168"/>
          </a:xfrm>
          <a:prstGeom prst="rect">
            <a:avLst/>
          </a:prstGeom>
        </p:spPr>
      </p:pic>
      <p:sp>
        <p:nvSpPr>
          <p:cNvPr id="13" name="Shape 8"/>
          <p:cNvSpPr/>
          <p:nvPr/>
        </p:nvSpPr>
        <p:spPr>
          <a:xfrm>
            <a:off x="288036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9"/>
          <p:cNvSpPr/>
          <p:nvPr/>
        </p:nvSpPr>
        <p:spPr>
          <a:xfrm>
            <a:off x="3154680" y="2103120"/>
            <a:ext cx="621792" cy="621792"/>
          </a:xfrm>
          <a:prstGeom prst="roundRect">
            <a:avLst>
              <a:gd name="adj" fmla="val 27000"/>
            </a:avLst>
          </a:prstGeom>
          <a:solidFill>
            <a:srgbClr val="F97316"/>
          </a:solidFill>
          <a:ln/>
        </p:spPr>
      </p:sp>
      <p:pic>
        <p:nvPicPr>
          <p:cNvPr id="15" name="Image 3" descr="preencoded.png">    </p:cNvPr>
          <p:cNvPicPr>
            <a:picLocks noChangeAspect="1"/>
          </p:cNvPicPr>
          <p:nvPr/>
        </p:nvPicPr>
        <p:blipFill>
          <a:blip r:embed="rId4"/>
          <a:stretch>
            <a:fillRect/>
          </a:stretch>
        </p:blipFill>
        <p:spPr>
          <a:xfrm>
            <a:off x="3303910" y="2252350"/>
            <a:ext cx="323332" cy="323332"/>
          </a:xfrm>
          <a:prstGeom prst="rect">
            <a:avLst/>
          </a:prstGeom>
        </p:spPr>
      </p:pic>
      <p:sp>
        <p:nvSpPr>
          <p:cNvPr id="16" name="Text 10"/>
          <p:cNvSpPr txBox="1"/>
          <p:nvPr/>
        </p:nvSpPr>
        <p:spPr>
          <a:xfrm>
            <a:off x="315468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Check</a:t>
            </a:r>
            <a:endParaRPr lang="en-US" sz="1600" dirty="0"/>
          </a:p>
        </p:txBody>
      </p:sp>
      <p:sp>
        <p:nvSpPr>
          <p:cNvPr id="17" name="Text 11"/>
          <p:cNvSpPr txBox="1"/>
          <p:nvPr/>
        </p:nvSpPr>
        <p:spPr>
          <a:xfrm>
            <a:off x="315468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Lint (0 errors), type check, production build</a:t>
            </a:r>
            <a:endParaRPr lang="en-US" sz="1200" dirty="0"/>
          </a:p>
        </p:txBody>
      </p:sp>
      <p:pic>
        <p:nvPicPr>
          <p:cNvPr id="18" name="Image 4" descr="preencoded.png">    </p:cNvPr>
          <p:cNvPicPr>
            <a:picLocks noChangeAspect="1"/>
          </p:cNvPicPr>
          <p:nvPr/>
        </p:nvPicPr>
        <p:blipFill>
          <a:blip r:embed="rId5"/>
          <a:stretch>
            <a:fillRect/>
          </a:stretch>
        </p:blipFill>
        <p:spPr>
          <a:xfrm>
            <a:off x="4882896" y="2802636"/>
            <a:ext cx="201168" cy="201168"/>
          </a:xfrm>
          <a:prstGeom prst="rect">
            <a:avLst/>
          </a:prstGeom>
        </p:spPr>
      </p:pic>
      <p:sp>
        <p:nvSpPr>
          <p:cNvPr id="19" name="Shape 12"/>
          <p:cNvSpPr/>
          <p:nvPr/>
        </p:nvSpPr>
        <p:spPr>
          <a:xfrm>
            <a:off x="512064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3"/>
          <p:cNvSpPr/>
          <p:nvPr/>
        </p:nvSpPr>
        <p:spPr>
          <a:xfrm>
            <a:off x="5394960" y="2103120"/>
            <a:ext cx="621792" cy="621792"/>
          </a:xfrm>
          <a:prstGeom prst="roundRect">
            <a:avLst>
              <a:gd name="adj" fmla="val 27000"/>
            </a:avLst>
          </a:prstGeom>
          <a:solidFill>
            <a:srgbClr val="F97316"/>
          </a:solidFill>
          <a:ln/>
        </p:spPr>
      </p:sp>
      <p:pic>
        <p:nvPicPr>
          <p:cNvPr id="21" name="Image 5" descr="preencoded.png">    </p:cNvPr>
          <p:cNvPicPr>
            <a:picLocks noChangeAspect="1"/>
          </p:cNvPicPr>
          <p:nvPr/>
        </p:nvPicPr>
        <p:blipFill>
          <a:blip r:embed="rId6"/>
          <a:stretch>
            <a:fillRect/>
          </a:stretch>
        </p:blipFill>
        <p:spPr>
          <a:xfrm>
            <a:off x="5544190" y="2252350"/>
            <a:ext cx="323332" cy="323332"/>
          </a:xfrm>
          <a:prstGeom prst="rect">
            <a:avLst/>
          </a:prstGeom>
        </p:spPr>
      </p:pic>
      <p:sp>
        <p:nvSpPr>
          <p:cNvPr id="22" name="Text 14"/>
          <p:cNvSpPr txBox="1"/>
          <p:nvPr/>
        </p:nvSpPr>
        <p:spPr>
          <a:xfrm>
            <a:off x="539496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Push to main</a:t>
            </a:r>
            <a:endParaRPr lang="en-US" sz="1600" dirty="0"/>
          </a:p>
        </p:txBody>
      </p:sp>
      <p:sp>
        <p:nvSpPr>
          <p:cNvPr id="23" name="Text 15"/>
          <p:cNvSpPr txBox="1"/>
          <p:nvPr/>
        </p:nvSpPr>
        <p:spPr>
          <a:xfrm>
            <a:off x="539496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GitHub: NebsPutra/Capstone-Dummy</a:t>
            </a:r>
            <a:endParaRPr lang="en-US" sz="1200" dirty="0"/>
          </a:p>
        </p:txBody>
      </p:sp>
      <p:pic>
        <p:nvPicPr>
          <p:cNvPr id="24" name="Image 6" descr="preencoded.png">    </p:cNvPr>
          <p:cNvPicPr>
            <a:picLocks noChangeAspect="1"/>
          </p:cNvPicPr>
          <p:nvPr/>
        </p:nvPicPr>
        <p:blipFill>
          <a:blip r:embed="rId7"/>
          <a:stretch>
            <a:fillRect/>
          </a:stretch>
        </p:blipFill>
        <p:spPr>
          <a:xfrm>
            <a:off x="7123176" y="2802636"/>
            <a:ext cx="201168" cy="201168"/>
          </a:xfrm>
          <a:prstGeom prst="rect">
            <a:avLst/>
          </a:prstGeom>
        </p:spPr>
      </p:pic>
      <p:sp>
        <p:nvSpPr>
          <p:cNvPr id="25" name="Shape 16"/>
          <p:cNvSpPr/>
          <p:nvPr/>
        </p:nvSpPr>
        <p:spPr>
          <a:xfrm>
            <a:off x="736092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7"/>
          <p:cNvSpPr/>
          <p:nvPr/>
        </p:nvSpPr>
        <p:spPr>
          <a:xfrm>
            <a:off x="7635240" y="2103120"/>
            <a:ext cx="621792" cy="621792"/>
          </a:xfrm>
          <a:prstGeom prst="roundRect">
            <a:avLst>
              <a:gd name="adj" fmla="val 27000"/>
            </a:avLst>
          </a:prstGeom>
          <a:solidFill>
            <a:srgbClr val="F97316"/>
          </a:solidFill>
          <a:ln/>
        </p:spPr>
      </p:sp>
      <p:pic>
        <p:nvPicPr>
          <p:cNvPr id="27" name="Image 7" descr="preencoded.png">    </p:cNvPr>
          <p:cNvPicPr>
            <a:picLocks noChangeAspect="1"/>
          </p:cNvPicPr>
          <p:nvPr/>
        </p:nvPicPr>
        <p:blipFill>
          <a:blip r:embed="rId8"/>
          <a:stretch>
            <a:fillRect/>
          </a:stretch>
        </p:blipFill>
        <p:spPr>
          <a:xfrm>
            <a:off x="7784470" y="2252350"/>
            <a:ext cx="323332" cy="323332"/>
          </a:xfrm>
          <a:prstGeom prst="rect">
            <a:avLst/>
          </a:prstGeom>
        </p:spPr>
      </p:pic>
      <p:sp>
        <p:nvSpPr>
          <p:cNvPr id="28" name="Text 18"/>
          <p:cNvSpPr txBox="1"/>
          <p:nvPr/>
        </p:nvSpPr>
        <p:spPr>
          <a:xfrm>
            <a:off x="763524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Auto-deploy</a:t>
            </a:r>
            <a:endParaRPr lang="en-US" sz="1600" dirty="0"/>
          </a:p>
        </p:txBody>
      </p:sp>
      <p:sp>
        <p:nvSpPr>
          <p:cNvPr id="29" name="Text 19"/>
          <p:cNvSpPr txBox="1"/>
          <p:nvPr/>
        </p:nvSpPr>
        <p:spPr>
          <a:xfrm>
            <a:off x="763524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Vercel builds and publishes in about a minute</a:t>
            </a:r>
            <a:endParaRPr lang="en-US" sz="1200" dirty="0"/>
          </a:p>
        </p:txBody>
      </p:sp>
      <p:pic>
        <p:nvPicPr>
          <p:cNvPr id="30" name="Image 8" descr="preencoded.png">    </p:cNvPr>
          <p:cNvPicPr>
            <a:picLocks noChangeAspect="1"/>
          </p:cNvPicPr>
          <p:nvPr/>
        </p:nvPicPr>
        <p:blipFill>
          <a:blip r:embed="rId9"/>
          <a:stretch>
            <a:fillRect/>
          </a:stretch>
        </p:blipFill>
        <p:spPr>
          <a:xfrm>
            <a:off x="9363456" y="2802636"/>
            <a:ext cx="201168" cy="201168"/>
          </a:xfrm>
          <a:prstGeom prst="rect">
            <a:avLst/>
          </a:prstGeom>
        </p:spPr>
      </p:pic>
      <p:sp>
        <p:nvSpPr>
          <p:cNvPr id="31" name="Shape 20"/>
          <p:cNvSpPr/>
          <p:nvPr/>
        </p:nvSpPr>
        <p:spPr>
          <a:xfrm>
            <a:off x="9601200" y="1828800"/>
            <a:ext cx="1965960" cy="2148840"/>
          </a:xfrm>
          <a:prstGeom prst="roundRect">
            <a:avLst>
              <a:gd name="adj" fmla="val 9302"/>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1"/>
          <p:cNvSpPr/>
          <p:nvPr/>
        </p:nvSpPr>
        <p:spPr>
          <a:xfrm>
            <a:off x="9875520" y="2103120"/>
            <a:ext cx="621792" cy="621792"/>
          </a:xfrm>
          <a:prstGeom prst="roundRect">
            <a:avLst>
              <a:gd name="adj" fmla="val 27000"/>
            </a:avLst>
          </a:prstGeom>
          <a:solidFill>
            <a:srgbClr val="F97316"/>
          </a:solidFill>
          <a:ln/>
        </p:spPr>
      </p:sp>
      <p:pic>
        <p:nvPicPr>
          <p:cNvPr id="33" name="Image 9" descr="preencoded.png">    </p:cNvPr>
          <p:cNvPicPr>
            <a:picLocks noChangeAspect="1"/>
          </p:cNvPicPr>
          <p:nvPr/>
        </p:nvPicPr>
        <p:blipFill>
          <a:blip r:embed="rId10"/>
          <a:stretch>
            <a:fillRect/>
          </a:stretch>
        </p:blipFill>
        <p:spPr>
          <a:xfrm>
            <a:off x="10024750" y="2252350"/>
            <a:ext cx="323332" cy="323332"/>
          </a:xfrm>
          <a:prstGeom prst="rect">
            <a:avLst/>
          </a:prstGeom>
        </p:spPr>
      </p:pic>
      <p:sp>
        <p:nvSpPr>
          <p:cNvPr id="34" name="Text 22"/>
          <p:cNvSpPr txBox="1"/>
          <p:nvPr/>
        </p:nvSpPr>
        <p:spPr>
          <a:xfrm>
            <a:off x="987552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Live</a:t>
            </a:r>
            <a:endParaRPr lang="en-US" sz="1600" dirty="0"/>
          </a:p>
        </p:txBody>
      </p:sp>
      <p:sp>
        <p:nvSpPr>
          <p:cNvPr id="35" name="Text 23"/>
          <p:cNvSpPr txBox="1"/>
          <p:nvPr/>
        </p:nvSpPr>
        <p:spPr>
          <a:xfrm>
            <a:off x="987552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Everyone gets the new version</a:t>
            </a:r>
            <a:endParaRPr lang="en-US" sz="1200" dirty="0"/>
          </a:p>
        </p:txBody>
      </p:sp>
      <p:sp>
        <p:nvSpPr>
          <p:cNvPr id="36" name="Shape 24"/>
          <p:cNvSpPr/>
          <p:nvPr/>
        </p:nvSpPr>
        <p:spPr>
          <a:xfrm>
            <a:off x="640080" y="4297680"/>
            <a:ext cx="10881360" cy="1691640"/>
          </a:xfrm>
          <a:prstGeom prst="roundRect">
            <a:avLst>
              <a:gd name="adj" fmla="val 1081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7" name="Shape 25"/>
          <p:cNvSpPr/>
          <p:nvPr/>
        </p:nvSpPr>
        <p:spPr>
          <a:xfrm>
            <a:off x="914400" y="4572000"/>
            <a:ext cx="658368" cy="658368"/>
          </a:xfrm>
          <a:prstGeom prst="roundRect">
            <a:avLst>
              <a:gd name="adj" fmla="val 27000"/>
            </a:avLst>
          </a:prstGeom>
          <a:solidFill>
            <a:srgbClr val="F8E8D0"/>
          </a:solidFill>
          <a:ln/>
        </p:spPr>
      </p:sp>
      <p:pic>
        <p:nvPicPr>
          <p:cNvPr id="38" name="Image 10" descr="preencoded.png">    </p:cNvPr>
          <p:cNvPicPr>
            <a:picLocks noChangeAspect="1"/>
          </p:cNvPicPr>
          <p:nvPr/>
        </p:nvPicPr>
        <p:blipFill>
          <a:blip r:embed="rId11"/>
          <a:stretch>
            <a:fillRect/>
          </a:stretch>
        </p:blipFill>
        <p:spPr>
          <a:xfrm>
            <a:off x="1072408" y="4730008"/>
            <a:ext cx="342351" cy="342351"/>
          </a:xfrm>
          <a:prstGeom prst="rect">
            <a:avLst/>
          </a:prstGeom>
        </p:spPr>
      </p:pic>
      <p:sp>
        <p:nvSpPr>
          <p:cNvPr id="39" name="Text 26"/>
          <p:cNvSpPr txBox="1"/>
          <p:nvPr/>
        </p:nvSpPr>
        <p:spPr>
          <a:xfrm>
            <a:off x="1783080" y="4526280"/>
            <a:ext cx="941832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Database changes follow their own path</a:t>
            </a:r>
            <a:endParaRPr lang="en-US" sz="1600" dirty="0"/>
          </a:p>
        </p:txBody>
      </p:sp>
      <p:sp>
        <p:nvSpPr>
          <p:cNvPr id="40" name="Text 27"/>
          <p:cNvSpPr txBox="1"/>
          <p:nvPr/>
        </p:nvSpPr>
        <p:spPr>
          <a:xfrm>
            <a:off x="1783080" y="4919472"/>
            <a:ext cx="9418320" cy="9144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Each change is a numbered SQL file (schema.sql, then migrations 002 to 010). Every file is safe to run twice, and a team member runs it by hand, in order, in the Supabase SQL Editor. Secrets live only in Vercel and on the developer's machine, never in GitHub.</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04</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Data stores</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Where data lives and how it's protected</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DATA STORES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Five places data lives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17 / 24</a:t>
            </a:r>
            <a:endParaRPr lang="en-US" sz="1100" dirty="0"/>
          </a:p>
        </p:txBody>
      </p:sp>
      <p:sp>
        <p:nvSpPr>
          <p:cNvPr id="7" name="Shape 4"/>
          <p:cNvSpPr/>
          <p:nvPr/>
        </p:nvSpPr>
        <p:spPr>
          <a:xfrm>
            <a:off x="640080" y="1828800"/>
            <a:ext cx="2011680" cy="4023360"/>
          </a:xfrm>
          <a:prstGeom prst="roundRect">
            <a:avLst>
              <a:gd name="adj" fmla="val 9091"/>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96112" y="2103120"/>
            <a:ext cx="685800" cy="685800"/>
          </a:xfrm>
          <a:prstGeom prst="roundRect">
            <a:avLst>
              <a:gd name="adj" fmla="val 27000"/>
            </a:avLst>
          </a:prstGeom>
          <a:solidFill>
            <a:srgbClr val="C2410C"/>
          </a:solidFill>
          <a:ln/>
        </p:spPr>
      </p:sp>
      <p:pic>
        <p:nvPicPr>
          <p:cNvPr id="9" name="Image 1" descr="preencoded.png">    </p:cNvPr>
          <p:cNvPicPr>
            <a:picLocks noChangeAspect="1"/>
          </p:cNvPicPr>
          <p:nvPr/>
        </p:nvPicPr>
        <p:blipFill>
          <a:blip r:embed="rId2"/>
          <a:stretch>
            <a:fillRect/>
          </a:stretch>
        </p:blipFill>
        <p:spPr>
          <a:xfrm>
            <a:off x="1060704" y="2267712"/>
            <a:ext cx="356616" cy="356616"/>
          </a:xfrm>
          <a:prstGeom prst="rect">
            <a:avLst/>
          </a:prstGeom>
        </p:spPr>
      </p:pic>
      <p:sp>
        <p:nvSpPr>
          <p:cNvPr id="10" name="Text 6"/>
          <p:cNvSpPr txBox="1"/>
          <p:nvPr/>
        </p:nvSpPr>
        <p:spPr>
          <a:xfrm>
            <a:off x="89611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Postgres</a:t>
            </a:r>
            <a:endParaRPr lang="en-US" sz="1600" dirty="0"/>
          </a:p>
        </p:txBody>
      </p:sp>
      <p:sp>
        <p:nvSpPr>
          <p:cNvPr id="11" name="Text 7"/>
          <p:cNvSpPr txBox="1"/>
          <p:nvPr/>
        </p:nvSpPr>
        <p:spPr>
          <a:xfrm>
            <a:off x="89611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41 tables · 2 views</a:t>
            </a:r>
            <a:endParaRPr lang="en-US" sz="1200" dirty="0"/>
          </a:p>
        </p:txBody>
      </p:sp>
      <p:sp>
        <p:nvSpPr>
          <p:cNvPr id="12" name="Text 8"/>
          <p:cNvSpPr txBox="1"/>
          <p:nvPr/>
        </p:nvSpPr>
        <p:spPr>
          <a:xfrm>
            <a:off x="89611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Profiles, activities, participants, comments, messages, complaints, notifications, audit log. Row-level security on every table.</a:t>
            </a:r>
            <a:endParaRPr lang="en-US" sz="1200" dirty="0"/>
          </a:p>
        </p:txBody>
      </p:sp>
      <p:sp>
        <p:nvSpPr>
          <p:cNvPr id="13" name="Shape 9"/>
          <p:cNvSpPr/>
          <p:nvPr/>
        </p:nvSpPr>
        <p:spPr>
          <a:xfrm>
            <a:off x="285750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3113532" y="2103120"/>
            <a:ext cx="685800" cy="685800"/>
          </a:xfrm>
          <a:prstGeom prst="roundRect">
            <a:avLst>
              <a:gd name="adj" fmla="val 27000"/>
            </a:avLst>
          </a:prstGeom>
          <a:solidFill>
            <a:srgbClr val="F97316"/>
          </a:solidFill>
          <a:ln/>
        </p:spPr>
      </p:sp>
      <p:pic>
        <p:nvPicPr>
          <p:cNvPr id="15" name="Image 2" descr="preencoded.png">    </p:cNvPr>
          <p:cNvPicPr>
            <a:picLocks noChangeAspect="1"/>
          </p:cNvPicPr>
          <p:nvPr/>
        </p:nvPicPr>
        <p:blipFill>
          <a:blip r:embed="rId3"/>
          <a:stretch>
            <a:fillRect/>
          </a:stretch>
        </p:blipFill>
        <p:spPr>
          <a:xfrm>
            <a:off x="3278124" y="2267712"/>
            <a:ext cx="356616" cy="356616"/>
          </a:xfrm>
          <a:prstGeom prst="rect">
            <a:avLst/>
          </a:prstGeom>
        </p:spPr>
      </p:pic>
      <p:sp>
        <p:nvSpPr>
          <p:cNvPr id="16" name="Text 11"/>
          <p:cNvSpPr txBox="1"/>
          <p:nvPr/>
        </p:nvSpPr>
        <p:spPr>
          <a:xfrm>
            <a:off x="311353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Auth</a:t>
            </a:r>
            <a:endParaRPr lang="en-US" sz="1600" dirty="0"/>
          </a:p>
        </p:txBody>
      </p:sp>
      <p:sp>
        <p:nvSpPr>
          <p:cNvPr id="17" name="Text 12"/>
          <p:cNvSpPr txBox="1"/>
          <p:nvPr/>
        </p:nvSpPr>
        <p:spPr>
          <a:xfrm>
            <a:off x="311353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Accounts &amp; sessions</a:t>
            </a:r>
            <a:endParaRPr lang="en-US" sz="1200" dirty="0"/>
          </a:p>
        </p:txBody>
      </p:sp>
      <p:sp>
        <p:nvSpPr>
          <p:cNvPr id="18" name="Text 13"/>
          <p:cNvSpPr txBox="1"/>
          <p:nvPr/>
        </p:nvSpPr>
        <p:spPr>
          <a:xfrm>
            <a:off x="311353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Email and password, 6-digit email codes, sessions. The sign-in PIN is stored separately, bcrypt-hashed.</a:t>
            </a:r>
            <a:endParaRPr lang="en-US" sz="1200" dirty="0"/>
          </a:p>
        </p:txBody>
      </p:sp>
      <p:sp>
        <p:nvSpPr>
          <p:cNvPr id="19" name="Shape 14"/>
          <p:cNvSpPr/>
          <p:nvPr/>
        </p:nvSpPr>
        <p:spPr>
          <a:xfrm>
            <a:off x="507492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5"/>
          <p:cNvSpPr/>
          <p:nvPr/>
        </p:nvSpPr>
        <p:spPr>
          <a:xfrm>
            <a:off x="5330952" y="2103120"/>
            <a:ext cx="685800" cy="685800"/>
          </a:xfrm>
          <a:prstGeom prst="roundRect">
            <a:avLst>
              <a:gd name="adj" fmla="val 27000"/>
            </a:avLst>
          </a:prstGeom>
          <a:solidFill>
            <a:srgbClr val="F97316"/>
          </a:solidFill>
          <a:ln/>
        </p:spPr>
      </p:sp>
      <p:pic>
        <p:nvPicPr>
          <p:cNvPr id="21" name="Image 3" descr="preencoded.png">    </p:cNvPr>
          <p:cNvPicPr>
            <a:picLocks noChangeAspect="1"/>
          </p:cNvPicPr>
          <p:nvPr/>
        </p:nvPicPr>
        <p:blipFill>
          <a:blip r:embed="rId4"/>
          <a:stretch>
            <a:fillRect/>
          </a:stretch>
        </p:blipFill>
        <p:spPr>
          <a:xfrm>
            <a:off x="5495544" y="2267712"/>
            <a:ext cx="356616" cy="356616"/>
          </a:xfrm>
          <a:prstGeom prst="rect">
            <a:avLst/>
          </a:prstGeom>
        </p:spPr>
      </p:pic>
      <p:sp>
        <p:nvSpPr>
          <p:cNvPr id="22" name="Text 16"/>
          <p:cNvSpPr txBox="1"/>
          <p:nvPr/>
        </p:nvSpPr>
        <p:spPr>
          <a:xfrm>
            <a:off x="533095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Storage</a:t>
            </a:r>
            <a:endParaRPr lang="en-US" sz="1600" dirty="0"/>
          </a:p>
        </p:txBody>
      </p:sp>
      <p:sp>
        <p:nvSpPr>
          <p:cNvPr id="23" name="Text 17"/>
          <p:cNvSpPr txBox="1"/>
          <p:nvPr/>
        </p:nvSpPr>
        <p:spPr>
          <a:xfrm>
            <a:off x="533095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2 file buckets</a:t>
            </a:r>
            <a:endParaRPr lang="en-US" sz="1200" dirty="0"/>
          </a:p>
        </p:txBody>
      </p:sp>
      <p:sp>
        <p:nvSpPr>
          <p:cNvPr id="24" name="Text 18"/>
          <p:cNvSpPr txBox="1"/>
          <p:nvPr/>
        </p:nvSpPr>
        <p:spPr>
          <a:xfrm>
            <a:off x="533095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event-banners (public images) and complaint-attachments (private, staff and reporter only).</a:t>
            </a:r>
            <a:endParaRPr lang="en-US" sz="1200" dirty="0"/>
          </a:p>
        </p:txBody>
      </p:sp>
      <p:sp>
        <p:nvSpPr>
          <p:cNvPr id="25" name="Shape 19"/>
          <p:cNvSpPr/>
          <p:nvPr/>
        </p:nvSpPr>
        <p:spPr>
          <a:xfrm>
            <a:off x="729234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20"/>
          <p:cNvSpPr/>
          <p:nvPr/>
        </p:nvSpPr>
        <p:spPr>
          <a:xfrm>
            <a:off x="7548372" y="2103120"/>
            <a:ext cx="685800" cy="685800"/>
          </a:xfrm>
          <a:prstGeom prst="roundRect">
            <a:avLst>
              <a:gd name="adj" fmla="val 27000"/>
            </a:avLst>
          </a:prstGeom>
          <a:solidFill>
            <a:srgbClr val="F97316"/>
          </a:solidFill>
          <a:ln/>
        </p:spPr>
      </p:sp>
      <p:pic>
        <p:nvPicPr>
          <p:cNvPr id="27" name="Image 4" descr="preencoded.png">    </p:cNvPr>
          <p:cNvPicPr>
            <a:picLocks noChangeAspect="1"/>
          </p:cNvPicPr>
          <p:nvPr/>
        </p:nvPicPr>
        <p:blipFill>
          <a:blip r:embed="rId5"/>
          <a:stretch>
            <a:fillRect/>
          </a:stretch>
        </p:blipFill>
        <p:spPr>
          <a:xfrm>
            <a:off x="7712964" y="2267712"/>
            <a:ext cx="356616" cy="356616"/>
          </a:xfrm>
          <a:prstGeom prst="rect">
            <a:avLst/>
          </a:prstGeom>
        </p:spPr>
      </p:pic>
      <p:sp>
        <p:nvSpPr>
          <p:cNvPr id="28" name="Text 21"/>
          <p:cNvSpPr txBox="1"/>
          <p:nvPr/>
        </p:nvSpPr>
        <p:spPr>
          <a:xfrm>
            <a:off x="754837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The user's device</a:t>
            </a:r>
            <a:endParaRPr lang="en-US" sz="1600" dirty="0"/>
          </a:p>
        </p:txBody>
      </p:sp>
      <p:sp>
        <p:nvSpPr>
          <p:cNvPr id="29" name="Text 22"/>
          <p:cNvSpPr txBox="1"/>
          <p:nvPr/>
        </p:nvSpPr>
        <p:spPr>
          <a:xfrm>
            <a:off x="754837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Cookie &amp; browser</a:t>
            </a:r>
            <a:endParaRPr lang="en-US" sz="1200" dirty="0"/>
          </a:p>
        </p:txBody>
      </p:sp>
      <p:sp>
        <p:nvSpPr>
          <p:cNvPr id="30" name="Text 23"/>
          <p:cNvSpPr txBox="1"/>
          <p:nvPr/>
        </p:nvSpPr>
        <p:spPr>
          <a:xfrm>
            <a:off x="754837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Language choice and the chosen area or GPS preference. Live GPS stays on the device.</a:t>
            </a:r>
            <a:endParaRPr lang="en-US" sz="1200" dirty="0"/>
          </a:p>
        </p:txBody>
      </p:sp>
      <p:sp>
        <p:nvSpPr>
          <p:cNvPr id="31" name="Shape 24"/>
          <p:cNvSpPr/>
          <p:nvPr/>
        </p:nvSpPr>
        <p:spPr>
          <a:xfrm>
            <a:off x="950976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5"/>
          <p:cNvSpPr/>
          <p:nvPr/>
        </p:nvSpPr>
        <p:spPr>
          <a:xfrm>
            <a:off x="9765792" y="2103120"/>
            <a:ext cx="685800" cy="685800"/>
          </a:xfrm>
          <a:prstGeom prst="roundRect">
            <a:avLst>
              <a:gd name="adj" fmla="val 27000"/>
            </a:avLst>
          </a:prstGeom>
          <a:solidFill>
            <a:srgbClr val="F97316"/>
          </a:solidFill>
          <a:ln/>
        </p:spPr>
      </p:sp>
      <p:pic>
        <p:nvPicPr>
          <p:cNvPr id="33" name="Image 5" descr="preencoded.png">    </p:cNvPr>
          <p:cNvPicPr>
            <a:picLocks noChangeAspect="1"/>
          </p:cNvPicPr>
          <p:nvPr/>
        </p:nvPicPr>
        <p:blipFill>
          <a:blip r:embed="rId6"/>
          <a:stretch>
            <a:fillRect/>
          </a:stretch>
        </p:blipFill>
        <p:spPr>
          <a:xfrm>
            <a:off x="9930384" y="2267712"/>
            <a:ext cx="356616" cy="356616"/>
          </a:xfrm>
          <a:prstGeom prst="rect">
            <a:avLst/>
          </a:prstGeom>
        </p:spPr>
      </p:pic>
      <p:sp>
        <p:nvSpPr>
          <p:cNvPr id="34" name="Text 26"/>
          <p:cNvSpPr txBox="1"/>
          <p:nvPr/>
        </p:nvSpPr>
        <p:spPr>
          <a:xfrm>
            <a:off x="976579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Vercel environment</a:t>
            </a:r>
            <a:endParaRPr lang="en-US" sz="1600" dirty="0"/>
          </a:p>
        </p:txBody>
      </p:sp>
      <p:sp>
        <p:nvSpPr>
          <p:cNvPr id="35" name="Text 27"/>
          <p:cNvSpPr txBox="1"/>
          <p:nvPr/>
        </p:nvSpPr>
        <p:spPr>
          <a:xfrm>
            <a:off x="976579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Server secrets</a:t>
            </a:r>
            <a:endParaRPr lang="en-US" sz="1200" dirty="0"/>
          </a:p>
        </p:txBody>
      </p:sp>
      <p:sp>
        <p:nvSpPr>
          <p:cNvPr id="36" name="Text 28"/>
          <p:cNvSpPr txBox="1"/>
          <p:nvPr/>
        </p:nvSpPr>
        <p:spPr>
          <a:xfrm>
            <a:off x="976579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Service-role key, SMTP password and the push-notification key. Server-only, never sent to browsers or committed.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DATA MODEL</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41 tables in five groups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18 / 24</a:t>
            </a:r>
            <a:endParaRPr lang="en-US" sz="1100" dirty="0"/>
          </a:p>
        </p:txBody>
      </p:sp>
      <p:sp>
        <p:nvSpPr>
          <p:cNvPr id="7" name="Shape 4"/>
          <p:cNvSpPr/>
          <p:nvPr/>
        </p:nvSpPr>
        <p:spPr>
          <a:xfrm>
            <a:off x="64008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11680"/>
            <a:ext cx="548640" cy="54864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00354" y="2143354"/>
            <a:ext cx="285293" cy="285293"/>
          </a:xfrm>
          <a:prstGeom prst="rect">
            <a:avLst/>
          </a:prstGeom>
        </p:spPr>
      </p:pic>
      <p:sp>
        <p:nvSpPr>
          <p:cNvPr id="10" name="Text 6"/>
          <p:cNvSpPr txBox="1"/>
          <p:nvPr/>
        </p:nvSpPr>
        <p:spPr>
          <a:xfrm>
            <a:off x="150876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People</a:t>
            </a:r>
            <a:endParaRPr lang="en-US" sz="1500" dirty="0"/>
          </a:p>
        </p:txBody>
      </p:sp>
      <p:sp>
        <p:nvSpPr>
          <p:cNvPr id="11" name="Text 7"/>
          <p:cNvSpPr txBox="1"/>
          <p:nvPr/>
        </p:nvSpPr>
        <p:spPr>
          <a:xfrm>
            <a:off x="86868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10 tables</a:t>
            </a:r>
            <a:endParaRPr lang="en-US" sz="1150" dirty="0"/>
          </a:p>
        </p:txBody>
      </p:sp>
      <p:sp>
        <p:nvSpPr>
          <p:cNvPr id="12" name="Text 8"/>
          <p:cNvSpPr txBox="1"/>
          <p:nvPr/>
        </p:nvSpPr>
        <p:spPr>
          <a:xfrm>
            <a:off x="86868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profiles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user_pins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privacy_settings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social_links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friendships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user_blocks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username_history</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reserved_usernames</a:t>
            </a:r>
            <a:endParaRPr lang="en-US" sz="1050" dirty="0"/>
          </a:p>
        </p:txBody>
      </p:sp>
      <p:sp>
        <p:nvSpPr>
          <p:cNvPr id="13" name="Shape 9"/>
          <p:cNvSpPr/>
          <p:nvPr/>
        </p:nvSpPr>
        <p:spPr>
          <a:xfrm>
            <a:off x="285750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3086100" y="2011680"/>
            <a:ext cx="548640" cy="548640"/>
          </a:xfrm>
          <a:prstGeom prst="roundRect">
            <a:avLst>
              <a:gd name="adj" fmla="val 27000"/>
            </a:avLst>
          </a:prstGeom>
          <a:solidFill>
            <a:srgbClr val="F97316"/>
          </a:solidFill>
          <a:ln/>
        </p:spPr>
      </p:sp>
      <p:pic>
        <p:nvPicPr>
          <p:cNvPr id="15" name="Image 2" descr="preencoded.png">    </p:cNvPr>
          <p:cNvPicPr>
            <a:picLocks noChangeAspect="1"/>
          </p:cNvPicPr>
          <p:nvPr/>
        </p:nvPicPr>
        <p:blipFill>
          <a:blip r:embed="rId3"/>
          <a:stretch>
            <a:fillRect/>
          </a:stretch>
        </p:blipFill>
        <p:spPr>
          <a:xfrm>
            <a:off x="3217774" y="2143354"/>
            <a:ext cx="285293" cy="285293"/>
          </a:xfrm>
          <a:prstGeom prst="rect">
            <a:avLst/>
          </a:prstGeom>
        </p:spPr>
      </p:pic>
      <p:sp>
        <p:nvSpPr>
          <p:cNvPr id="16" name="Text 11"/>
          <p:cNvSpPr txBox="1"/>
          <p:nvPr/>
        </p:nvSpPr>
        <p:spPr>
          <a:xfrm>
            <a:off x="372618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Activities</a:t>
            </a:r>
            <a:endParaRPr lang="en-US" sz="1500" dirty="0"/>
          </a:p>
        </p:txBody>
      </p:sp>
      <p:sp>
        <p:nvSpPr>
          <p:cNvPr id="17" name="Text 12"/>
          <p:cNvSpPr txBox="1"/>
          <p:nvPr/>
        </p:nvSpPr>
        <p:spPr>
          <a:xfrm>
            <a:off x="308610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9 tables</a:t>
            </a:r>
            <a:endParaRPr lang="en-US" sz="1150" dirty="0"/>
          </a:p>
        </p:txBody>
      </p:sp>
      <p:sp>
        <p:nvSpPr>
          <p:cNvPr id="18" name="Text 13"/>
          <p:cNvSpPr txBox="1"/>
          <p:nvPr/>
        </p:nvSpPr>
        <p:spPr>
          <a:xfrm>
            <a:off x="308610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categories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event_participants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event_contacts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event_waitlist</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event_checkin_codes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event_ratings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event_comments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comment_reports</a:t>
            </a:r>
            <a:endParaRPr lang="en-US" sz="1050" dirty="0"/>
          </a:p>
        </p:txBody>
      </p:sp>
      <p:sp>
        <p:nvSpPr>
          <p:cNvPr id="19" name="Shape 14"/>
          <p:cNvSpPr/>
          <p:nvPr/>
        </p:nvSpPr>
        <p:spPr>
          <a:xfrm>
            <a:off x="507492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5"/>
          <p:cNvSpPr/>
          <p:nvPr/>
        </p:nvSpPr>
        <p:spPr>
          <a:xfrm>
            <a:off x="5303520" y="2011680"/>
            <a:ext cx="548640" cy="548640"/>
          </a:xfrm>
          <a:prstGeom prst="roundRect">
            <a:avLst>
              <a:gd name="adj" fmla="val 27000"/>
            </a:avLst>
          </a:prstGeom>
          <a:solidFill>
            <a:srgbClr val="F97316"/>
          </a:solidFill>
          <a:ln/>
        </p:spPr>
      </p:sp>
      <p:pic>
        <p:nvPicPr>
          <p:cNvPr id="21" name="Image 3" descr="preencoded.png">    </p:cNvPr>
          <p:cNvPicPr>
            <a:picLocks noChangeAspect="1"/>
          </p:cNvPicPr>
          <p:nvPr/>
        </p:nvPicPr>
        <p:blipFill>
          <a:blip r:embed="rId4"/>
          <a:stretch>
            <a:fillRect/>
          </a:stretch>
        </p:blipFill>
        <p:spPr>
          <a:xfrm>
            <a:off x="5435194" y="2143354"/>
            <a:ext cx="285293" cy="285293"/>
          </a:xfrm>
          <a:prstGeom prst="rect">
            <a:avLst/>
          </a:prstGeom>
        </p:spPr>
      </p:pic>
      <p:sp>
        <p:nvSpPr>
          <p:cNvPr id="22" name="Text 16"/>
          <p:cNvSpPr txBox="1"/>
          <p:nvPr/>
        </p:nvSpPr>
        <p:spPr>
          <a:xfrm>
            <a:off x="594360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Groups &amp; chat</a:t>
            </a:r>
            <a:endParaRPr lang="en-US" sz="1500" dirty="0"/>
          </a:p>
        </p:txBody>
      </p:sp>
      <p:sp>
        <p:nvSpPr>
          <p:cNvPr id="23" name="Text 17"/>
          <p:cNvSpPr txBox="1"/>
          <p:nvPr/>
        </p:nvSpPr>
        <p:spPr>
          <a:xfrm>
            <a:off x="530352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8 tables</a:t>
            </a:r>
            <a:endParaRPr lang="en-US" sz="1150" dirty="0"/>
          </a:p>
        </p:txBody>
      </p:sp>
      <p:sp>
        <p:nvSpPr>
          <p:cNvPr id="24" name="Text 18"/>
          <p:cNvSpPr txBox="1"/>
          <p:nvPr/>
        </p:nvSpPr>
        <p:spPr>
          <a:xfrm>
            <a:off x="530352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groups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group_members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play_requests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play_request_interests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conversations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conversation_members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messages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message_reports</a:t>
            </a:r>
            <a:endParaRPr lang="en-US" sz="1050" dirty="0"/>
          </a:p>
        </p:txBody>
      </p:sp>
      <p:sp>
        <p:nvSpPr>
          <p:cNvPr id="25" name="Shape 19"/>
          <p:cNvSpPr/>
          <p:nvPr/>
        </p:nvSpPr>
        <p:spPr>
          <a:xfrm>
            <a:off x="729234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20"/>
          <p:cNvSpPr/>
          <p:nvPr/>
        </p:nvSpPr>
        <p:spPr>
          <a:xfrm>
            <a:off x="7520940" y="2011680"/>
            <a:ext cx="548640" cy="548640"/>
          </a:xfrm>
          <a:prstGeom prst="roundRect">
            <a:avLst>
              <a:gd name="adj" fmla="val 27000"/>
            </a:avLst>
          </a:prstGeom>
          <a:solidFill>
            <a:srgbClr val="F97316"/>
          </a:solidFill>
          <a:ln/>
        </p:spPr>
      </p:sp>
      <p:pic>
        <p:nvPicPr>
          <p:cNvPr id="27" name="Image 4" descr="preencoded.png">    </p:cNvPr>
          <p:cNvPicPr>
            <a:picLocks noChangeAspect="1"/>
          </p:cNvPicPr>
          <p:nvPr/>
        </p:nvPicPr>
        <p:blipFill>
          <a:blip r:embed="rId5"/>
          <a:stretch>
            <a:fillRect/>
          </a:stretch>
        </p:blipFill>
        <p:spPr>
          <a:xfrm>
            <a:off x="7652614" y="2143354"/>
            <a:ext cx="285293" cy="285293"/>
          </a:xfrm>
          <a:prstGeom prst="rect">
            <a:avLst/>
          </a:prstGeom>
        </p:spPr>
      </p:pic>
      <p:sp>
        <p:nvSpPr>
          <p:cNvPr id="28" name="Text 21"/>
          <p:cNvSpPr txBox="1"/>
          <p:nvPr/>
        </p:nvSpPr>
        <p:spPr>
          <a:xfrm>
            <a:off x="816102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Support</a:t>
            </a:r>
            <a:endParaRPr lang="en-US" sz="1500" dirty="0"/>
          </a:p>
        </p:txBody>
      </p:sp>
      <p:sp>
        <p:nvSpPr>
          <p:cNvPr id="29" name="Text 22"/>
          <p:cNvSpPr txBox="1"/>
          <p:nvPr/>
        </p:nvSpPr>
        <p:spPr>
          <a:xfrm>
            <a:off x="752094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8 tables</a:t>
            </a:r>
            <a:endParaRPr lang="en-US" sz="1150" dirty="0"/>
          </a:p>
        </p:txBody>
      </p:sp>
      <p:sp>
        <p:nvSpPr>
          <p:cNvPr id="30" name="Text 23"/>
          <p:cNvSpPr txBox="1"/>
          <p:nvPr/>
        </p:nvSpPr>
        <p:spPr>
          <a:xfrm>
            <a:off x="752094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complaint_messages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complaint_attachments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complaint_status_history</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notifications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notification_prefs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push_subscriptions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calendar_tokens</a:t>
            </a:r>
            <a:endParaRPr lang="en-US" sz="1050" dirty="0"/>
          </a:p>
        </p:txBody>
      </p:sp>
      <p:sp>
        <p:nvSpPr>
          <p:cNvPr id="31" name="Shape 24"/>
          <p:cNvSpPr/>
          <p:nvPr/>
        </p:nvSpPr>
        <p:spPr>
          <a:xfrm>
            <a:off x="950976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5"/>
          <p:cNvSpPr/>
          <p:nvPr/>
        </p:nvSpPr>
        <p:spPr>
          <a:xfrm>
            <a:off x="9738360" y="2011680"/>
            <a:ext cx="548640" cy="548640"/>
          </a:xfrm>
          <a:prstGeom prst="roundRect">
            <a:avLst>
              <a:gd name="adj" fmla="val 27000"/>
            </a:avLst>
          </a:prstGeom>
          <a:solidFill>
            <a:srgbClr val="F97316"/>
          </a:solidFill>
          <a:ln/>
        </p:spPr>
      </p:sp>
      <p:pic>
        <p:nvPicPr>
          <p:cNvPr id="33" name="Image 5" descr="preencoded.png">    </p:cNvPr>
          <p:cNvPicPr>
            <a:picLocks noChangeAspect="1"/>
          </p:cNvPicPr>
          <p:nvPr/>
        </p:nvPicPr>
        <p:blipFill>
          <a:blip r:embed="rId6"/>
          <a:stretch>
            <a:fillRect/>
          </a:stretch>
        </p:blipFill>
        <p:spPr>
          <a:xfrm>
            <a:off x="9870034" y="2143354"/>
            <a:ext cx="285293" cy="285293"/>
          </a:xfrm>
          <a:prstGeom prst="rect">
            <a:avLst/>
          </a:prstGeom>
        </p:spPr>
      </p:pic>
      <p:sp>
        <p:nvSpPr>
          <p:cNvPr id="34" name="Text 26"/>
          <p:cNvSpPr txBox="1"/>
          <p:nvPr/>
        </p:nvSpPr>
        <p:spPr>
          <a:xfrm>
            <a:off x="1037844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Admin &amp; safety</a:t>
            </a:r>
            <a:endParaRPr lang="en-US" sz="1500" dirty="0"/>
          </a:p>
        </p:txBody>
      </p:sp>
      <p:sp>
        <p:nvSpPr>
          <p:cNvPr id="35" name="Text 27"/>
          <p:cNvSpPr txBox="1"/>
          <p:nvPr/>
        </p:nvSpPr>
        <p:spPr>
          <a:xfrm>
            <a:off x="973836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6 tables</a:t>
            </a:r>
            <a:endParaRPr lang="en-US" sz="1150" dirty="0"/>
          </a:p>
        </p:txBody>
      </p:sp>
      <p:sp>
        <p:nvSpPr>
          <p:cNvPr id="36" name="Text 28"/>
          <p:cNvSpPr txBox="1"/>
          <p:nvPr/>
        </p:nvSpPr>
        <p:spPr>
          <a:xfrm>
            <a:off x="973836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audit_logs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security_events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admin_events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platform_settings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saved_views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export_jobs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SECURITY &amp; PRIVACY</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Rules enforced in the database, not just the screens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19 / 24</a:t>
            </a:r>
            <a:endParaRPr lang="en-US" sz="1100" dirty="0"/>
          </a:p>
        </p:txBody>
      </p:sp>
      <p:sp>
        <p:nvSpPr>
          <p:cNvPr id="7" name="Shape 4"/>
          <p:cNvSpPr/>
          <p:nvPr/>
        </p:nvSpPr>
        <p:spPr>
          <a:xfrm>
            <a:off x="640080" y="1828800"/>
            <a:ext cx="731520" cy="731520"/>
          </a:xfrm>
          <a:prstGeom prst="roundRect">
            <a:avLst>
              <a:gd name="adj" fmla="val 27000"/>
            </a:avLst>
          </a:prstGeom>
          <a:solidFill>
            <a:srgbClr val="F8E8D0"/>
          </a:solidFill>
          <a:ln/>
        </p:spPr>
      </p:sp>
      <p:pic>
        <p:nvPicPr>
          <p:cNvPr id="8" name="Image 1" descr="preencoded.png">    </p:cNvPr>
          <p:cNvPicPr>
            <a:picLocks noChangeAspect="1"/>
          </p:cNvPicPr>
          <p:nvPr/>
        </p:nvPicPr>
        <p:blipFill>
          <a:blip r:embed="rId2"/>
          <a:stretch>
            <a:fillRect/>
          </a:stretch>
        </p:blipFill>
        <p:spPr>
          <a:xfrm>
            <a:off x="815645" y="2004365"/>
            <a:ext cx="380390" cy="380390"/>
          </a:xfrm>
          <a:prstGeom prst="rect">
            <a:avLst/>
          </a:prstGeom>
        </p:spPr>
      </p:pic>
      <p:sp>
        <p:nvSpPr>
          <p:cNvPr id="9" name="Text 5"/>
          <p:cNvSpPr txBox="1"/>
          <p:nvPr/>
        </p:nvSpPr>
        <p:spPr>
          <a:xfrm>
            <a:off x="1600200" y="18105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Row-level security everywhere</a:t>
            </a:r>
            <a:endParaRPr lang="en-US" sz="1700" dirty="0"/>
          </a:p>
        </p:txBody>
      </p:sp>
      <p:sp>
        <p:nvSpPr>
          <p:cNvPr id="10" name="Text 6"/>
          <p:cNvSpPr txBox="1"/>
          <p:nvPr/>
        </p:nvSpPr>
        <p:spPr>
          <a:xfrm>
            <a:off x="1600200" y="21945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All 41 tables have RLS. 190+ SQL functions check roles before acting.</a:t>
            </a:r>
            <a:endParaRPr lang="en-US" sz="1300" dirty="0"/>
          </a:p>
        </p:txBody>
      </p:sp>
      <p:sp>
        <p:nvSpPr>
          <p:cNvPr id="11" name="Shape 7"/>
          <p:cNvSpPr/>
          <p:nvPr/>
        </p:nvSpPr>
        <p:spPr>
          <a:xfrm>
            <a:off x="6217920" y="1828800"/>
            <a:ext cx="731520" cy="731520"/>
          </a:xfrm>
          <a:prstGeom prst="roundRect">
            <a:avLst>
              <a:gd name="adj" fmla="val 27000"/>
            </a:avLst>
          </a:prstGeom>
          <a:solidFill>
            <a:srgbClr val="F8E8D0"/>
          </a:solidFill>
          <a:ln/>
        </p:spPr>
      </p:sp>
      <p:pic>
        <p:nvPicPr>
          <p:cNvPr id="12" name="Image 2" descr="preencoded.png">    </p:cNvPr>
          <p:cNvPicPr>
            <a:picLocks noChangeAspect="1"/>
          </p:cNvPicPr>
          <p:nvPr/>
        </p:nvPicPr>
        <p:blipFill>
          <a:blip r:embed="rId3"/>
          <a:stretch>
            <a:fillRect/>
          </a:stretch>
        </p:blipFill>
        <p:spPr>
          <a:xfrm>
            <a:off x="6393485" y="2004365"/>
            <a:ext cx="380390" cy="380390"/>
          </a:xfrm>
          <a:prstGeom prst="rect">
            <a:avLst/>
          </a:prstGeom>
        </p:spPr>
      </p:pic>
      <p:sp>
        <p:nvSpPr>
          <p:cNvPr id="13" name="Text 8"/>
          <p:cNvSpPr txBox="1"/>
          <p:nvPr/>
        </p:nvSpPr>
        <p:spPr>
          <a:xfrm>
            <a:off x="7178040" y="18105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Location privacy</a:t>
            </a:r>
            <a:endParaRPr lang="en-US" sz="1700" dirty="0"/>
          </a:p>
        </p:txBody>
      </p:sp>
      <p:sp>
        <p:nvSpPr>
          <p:cNvPr id="14" name="Text 9"/>
          <p:cNvSpPr txBox="1"/>
          <p:nvPr/>
        </p:nvSpPr>
        <p:spPr>
          <a:xfrm>
            <a:off x="7178040" y="21945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Live GPS is used per request and never stored. Profiles keep only an area's centre.</a:t>
            </a:r>
            <a:endParaRPr lang="en-US" sz="1300" dirty="0"/>
          </a:p>
        </p:txBody>
      </p:sp>
      <p:sp>
        <p:nvSpPr>
          <p:cNvPr id="15" name="Shape 10"/>
          <p:cNvSpPr/>
          <p:nvPr/>
        </p:nvSpPr>
        <p:spPr>
          <a:xfrm>
            <a:off x="640080" y="3200400"/>
            <a:ext cx="731520" cy="731520"/>
          </a:xfrm>
          <a:prstGeom prst="roundRect">
            <a:avLst>
              <a:gd name="adj" fmla="val 27000"/>
            </a:avLst>
          </a:prstGeom>
          <a:solidFill>
            <a:srgbClr val="F8E8D0"/>
          </a:solidFill>
          <a:ln/>
        </p:spPr>
      </p:sp>
      <p:pic>
        <p:nvPicPr>
          <p:cNvPr id="16" name="Image 3" descr="preencoded.png">    </p:cNvPr>
          <p:cNvPicPr>
            <a:picLocks noChangeAspect="1"/>
          </p:cNvPicPr>
          <p:nvPr/>
        </p:nvPicPr>
        <p:blipFill>
          <a:blip r:embed="rId4"/>
          <a:stretch>
            <a:fillRect/>
          </a:stretch>
        </p:blipFill>
        <p:spPr>
          <a:xfrm>
            <a:off x="815645" y="3375965"/>
            <a:ext cx="380390" cy="380390"/>
          </a:xfrm>
          <a:prstGeom prst="rect">
            <a:avLst/>
          </a:prstGeom>
        </p:spPr>
      </p:pic>
      <p:sp>
        <p:nvSpPr>
          <p:cNvPr id="17" name="Text 11"/>
          <p:cNvSpPr txBox="1"/>
          <p:nvPr/>
        </p:nvSpPr>
        <p:spPr>
          <a:xfrm>
            <a:off x="1600200" y="31821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PIN sign-in</a:t>
            </a:r>
            <a:endParaRPr lang="en-US" sz="1700" dirty="0"/>
          </a:p>
        </p:txBody>
      </p:sp>
      <p:sp>
        <p:nvSpPr>
          <p:cNvPr id="18" name="Text 12"/>
          <p:cNvSpPr txBox="1"/>
          <p:nvPr/>
        </p:nvSpPr>
        <p:spPr>
          <a:xfrm>
            <a:off x="1600200" y="35661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bcrypt-hashed, 15-minute lockout after failed tries, and throttling per network.</a:t>
            </a:r>
            <a:endParaRPr lang="en-US" sz="1300" dirty="0"/>
          </a:p>
        </p:txBody>
      </p:sp>
      <p:sp>
        <p:nvSpPr>
          <p:cNvPr id="19" name="Shape 13"/>
          <p:cNvSpPr/>
          <p:nvPr/>
        </p:nvSpPr>
        <p:spPr>
          <a:xfrm>
            <a:off x="6217920" y="3200400"/>
            <a:ext cx="731520" cy="731520"/>
          </a:xfrm>
          <a:prstGeom prst="roundRect">
            <a:avLst>
              <a:gd name="adj" fmla="val 27000"/>
            </a:avLst>
          </a:prstGeom>
          <a:solidFill>
            <a:srgbClr val="F8E8D0"/>
          </a:solidFill>
          <a:ln/>
        </p:spPr>
      </p:sp>
      <p:pic>
        <p:nvPicPr>
          <p:cNvPr id="20" name="Image 4" descr="preencoded.png">    </p:cNvPr>
          <p:cNvPicPr>
            <a:picLocks noChangeAspect="1"/>
          </p:cNvPicPr>
          <p:nvPr/>
        </p:nvPicPr>
        <p:blipFill>
          <a:blip r:embed="rId5"/>
          <a:stretch>
            <a:fillRect/>
          </a:stretch>
        </p:blipFill>
        <p:spPr>
          <a:xfrm>
            <a:off x="6393485" y="3375965"/>
            <a:ext cx="380390" cy="380390"/>
          </a:xfrm>
          <a:prstGeom prst="rect">
            <a:avLst/>
          </a:prstGeom>
        </p:spPr>
      </p:pic>
      <p:sp>
        <p:nvSpPr>
          <p:cNvPr id="21" name="Text 14"/>
          <p:cNvSpPr txBox="1"/>
          <p:nvPr/>
        </p:nvSpPr>
        <p:spPr>
          <a:xfrm>
            <a:off x="7178040" y="31821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Private profile data</a:t>
            </a:r>
            <a:endParaRPr lang="en-US" sz="1700" dirty="0"/>
          </a:p>
        </p:txBody>
      </p:sp>
      <p:sp>
        <p:nvSpPr>
          <p:cNvPr id="22" name="Text 15"/>
          <p:cNvSpPr txBox="1"/>
          <p:nvPr/>
        </p:nvSpPr>
        <p:spPr>
          <a:xfrm>
            <a:off x="7178040" y="35661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Full name, WhatsApp, age and exact area can't be read by other members.</a:t>
            </a:r>
            <a:endParaRPr lang="en-US" sz="1300" dirty="0"/>
          </a:p>
        </p:txBody>
      </p:sp>
      <p:sp>
        <p:nvSpPr>
          <p:cNvPr id="23" name="Shape 16"/>
          <p:cNvSpPr/>
          <p:nvPr/>
        </p:nvSpPr>
        <p:spPr>
          <a:xfrm>
            <a:off x="640080" y="4572000"/>
            <a:ext cx="731520" cy="731520"/>
          </a:xfrm>
          <a:prstGeom prst="roundRect">
            <a:avLst>
              <a:gd name="adj" fmla="val 27000"/>
            </a:avLst>
          </a:prstGeom>
          <a:solidFill>
            <a:srgbClr val="F8E8D0"/>
          </a:solidFill>
          <a:ln/>
        </p:spPr>
      </p:sp>
      <p:pic>
        <p:nvPicPr>
          <p:cNvPr id="24" name="Image 5" descr="preencoded.png">    </p:cNvPr>
          <p:cNvPicPr>
            <a:picLocks noChangeAspect="1"/>
          </p:cNvPicPr>
          <p:nvPr/>
        </p:nvPicPr>
        <p:blipFill>
          <a:blip r:embed="rId6"/>
          <a:stretch>
            <a:fillRect/>
          </a:stretch>
        </p:blipFill>
        <p:spPr>
          <a:xfrm>
            <a:off x="815645" y="4747565"/>
            <a:ext cx="380390" cy="380390"/>
          </a:xfrm>
          <a:prstGeom prst="rect">
            <a:avLst/>
          </a:prstGeom>
        </p:spPr>
      </p:pic>
      <p:sp>
        <p:nvSpPr>
          <p:cNvPr id="25" name="Text 17"/>
          <p:cNvSpPr txBox="1"/>
          <p:nvPr/>
        </p:nvSpPr>
        <p:spPr>
          <a:xfrm>
            <a:off x="1600200" y="45537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Audit trail</a:t>
            </a:r>
            <a:endParaRPr lang="en-US" sz="1700" dirty="0"/>
          </a:p>
        </p:txBody>
      </p:sp>
      <p:sp>
        <p:nvSpPr>
          <p:cNvPr id="26" name="Text 18"/>
          <p:cNvSpPr txBox="1"/>
          <p:nvPr/>
        </p:nvSpPr>
        <p:spPr>
          <a:xfrm>
            <a:off x="1600200" y="49377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Every admin change goes into an append-only audit log; security events are recorded.</a:t>
            </a:r>
            <a:endParaRPr lang="en-US" sz="1300" dirty="0"/>
          </a:p>
        </p:txBody>
      </p:sp>
      <p:sp>
        <p:nvSpPr>
          <p:cNvPr id="27" name="Shape 19"/>
          <p:cNvSpPr/>
          <p:nvPr/>
        </p:nvSpPr>
        <p:spPr>
          <a:xfrm>
            <a:off x="6217920" y="4572000"/>
            <a:ext cx="731520" cy="731520"/>
          </a:xfrm>
          <a:prstGeom prst="roundRect">
            <a:avLst>
              <a:gd name="adj" fmla="val 27000"/>
            </a:avLst>
          </a:prstGeom>
          <a:solidFill>
            <a:srgbClr val="F8E8D0"/>
          </a:solidFill>
          <a:ln/>
        </p:spPr>
      </p:sp>
      <p:pic>
        <p:nvPicPr>
          <p:cNvPr id="28" name="Image 6" descr="preencoded.png">    </p:cNvPr>
          <p:cNvPicPr>
            <a:picLocks noChangeAspect="1"/>
          </p:cNvPicPr>
          <p:nvPr/>
        </p:nvPicPr>
        <p:blipFill>
          <a:blip r:embed="rId7"/>
          <a:stretch>
            <a:fillRect/>
          </a:stretch>
        </p:blipFill>
        <p:spPr>
          <a:xfrm>
            <a:off x="6393485" y="4747565"/>
            <a:ext cx="380390" cy="380390"/>
          </a:xfrm>
          <a:prstGeom prst="rect">
            <a:avLst/>
          </a:prstGeom>
        </p:spPr>
      </p:pic>
      <p:sp>
        <p:nvSpPr>
          <p:cNvPr id="29" name="Text 20"/>
          <p:cNvSpPr txBox="1"/>
          <p:nvPr/>
        </p:nvSpPr>
        <p:spPr>
          <a:xfrm>
            <a:off x="7178040" y="45537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Community safety</a:t>
            </a:r>
            <a:endParaRPr lang="en-US" sz="1700" dirty="0"/>
          </a:p>
        </p:txBody>
      </p:sp>
      <p:sp>
        <p:nvSpPr>
          <p:cNvPr id="30" name="Text 21"/>
          <p:cNvSpPr txBox="1"/>
          <p:nvPr/>
        </p:nvSpPr>
        <p:spPr>
          <a:xfrm>
            <a:off x="7178040" y="49377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Report comments and messages, block users, and file complaints to staff.</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05</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End results</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What we delivered, and what's next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END RESULTS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What we delivered</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21 / 24</a:t>
            </a:r>
            <a:endParaRPr lang="en-US" sz="1100" dirty="0"/>
          </a:p>
        </p:txBody>
      </p:sp>
      <p:sp>
        <p:nvSpPr>
          <p:cNvPr id="7" name="Shape 4"/>
          <p:cNvSpPr/>
          <p:nvPr/>
        </p:nvSpPr>
        <p:spPr>
          <a:xfrm>
            <a:off x="64008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91440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52</a:t>
            </a:r>
            <a:endParaRPr lang="en-US" sz="4400" dirty="0"/>
          </a:p>
        </p:txBody>
      </p:sp>
      <p:sp>
        <p:nvSpPr>
          <p:cNvPr id="9" name="Text 6"/>
          <p:cNvSpPr txBox="1"/>
          <p:nvPr/>
        </p:nvSpPr>
        <p:spPr>
          <a:xfrm>
            <a:off x="91440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screens</a:t>
            </a:r>
            <a:endParaRPr lang="en-US" sz="1600" dirty="0"/>
          </a:p>
        </p:txBody>
      </p:sp>
      <p:sp>
        <p:nvSpPr>
          <p:cNvPr id="10" name="Text 7"/>
          <p:cNvSpPr txBox="1"/>
          <p:nvPr/>
        </p:nvSpPr>
        <p:spPr>
          <a:xfrm>
            <a:off x="91440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Member app, admin and sign-in</a:t>
            </a:r>
            <a:endParaRPr lang="en-US" sz="1250" dirty="0"/>
          </a:p>
        </p:txBody>
      </p:sp>
      <p:sp>
        <p:nvSpPr>
          <p:cNvPr id="11" name="Shape 8"/>
          <p:cNvSpPr/>
          <p:nvPr/>
        </p:nvSpPr>
        <p:spPr>
          <a:xfrm>
            <a:off x="432054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459486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74</a:t>
            </a:r>
            <a:endParaRPr lang="en-US" sz="4400" dirty="0"/>
          </a:p>
        </p:txBody>
      </p:sp>
      <p:sp>
        <p:nvSpPr>
          <p:cNvPr id="13" name="Text 10"/>
          <p:cNvSpPr txBox="1"/>
          <p:nvPr/>
        </p:nvSpPr>
        <p:spPr>
          <a:xfrm>
            <a:off x="459486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UI components</a:t>
            </a:r>
            <a:endParaRPr lang="en-US" sz="1600" dirty="0"/>
          </a:p>
        </p:txBody>
      </p:sp>
      <p:sp>
        <p:nvSpPr>
          <p:cNvPr id="14" name="Text 11"/>
          <p:cNvSpPr txBox="1"/>
          <p:nvPr/>
        </p:nvSpPr>
        <p:spPr>
          <a:xfrm>
            <a:off x="459486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Shared building blocks</a:t>
            </a:r>
            <a:endParaRPr lang="en-US" sz="1250" dirty="0"/>
          </a:p>
        </p:txBody>
      </p:sp>
      <p:sp>
        <p:nvSpPr>
          <p:cNvPr id="15" name="Shape 12"/>
          <p:cNvSpPr/>
          <p:nvPr/>
        </p:nvSpPr>
        <p:spPr>
          <a:xfrm>
            <a:off x="800100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827532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25.6k</a:t>
            </a:r>
            <a:endParaRPr lang="en-US" sz="4400" dirty="0"/>
          </a:p>
        </p:txBody>
      </p:sp>
      <p:sp>
        <p:nvSpPr>
          <p:cNvPr id="17" name="Text 14"/>
          <p:cNvSpPr txBox="1"/>
          <p:nvPr/>
        </p:nvSpPr>
        <p:spPr>
          <a:xfrm>
            <a:off x="827532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lines of TypeScript</a:t>
            </a:r>
            <a:endParaRPr lang="en-US" sz="1600" dirty="0"/>
          </a:p>
        </p:txBody>
      </p:sp>
      <p:sp>
        <p:nvSpPr>
          <p:cNvPr id="18" name="Text 15"/>
          <p:cNvSpPr txBox="1"/>
          <p:nvPr/>
        </p:nvSpPr>
        <p:spPr>
          <a:xfrm>
            <a:off x="827532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Across 194 source files, 43 unit tests</a:t>
            </a:r>
            <a:endParaRPr lang="en-US" sz="1250" dirty="0"/>
          </a:p>
        </p:txBody>
      </p:sp>
      <p:sp>
        <p:nvSpPr>
          <p:cNvPr id="19" name="Shape 16"/>
          <p:cNvSpPr/>
          <p:nvPr/>
        </p:nvSpPr>
        <p:spPr>
          <a:xfrm>
            <a:off x="64008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91440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5.9k</a:t>
            </a:r>
            <a:endParaRPr lang="en-US" sz="4400" dirty="0"/>
          </a:p>
        </p:txBody>
      </p:sp>
      <p:sp>
        <p:nvSpPr>
          <p:cNvPr id="21" name="Text 18"/>
          <p:cNvSpPr txBox="1"/>
          <p:nvPr/>
        </p:nvSpPr>
        <p:spPr>
          <a:xfrm>
            <a:off x="91440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lines of SQL</a:t>
            </a:r>
            <a:endParaRPr lang="en-US" sz="1600" dirty="0"/>
          </a:p>
        </p:txBody>
      </p:sp>
      <p:sp>
        <p:nvSpPr>
          <p:cNvPr id="22" name="Text 19"/>
          <p:cNvSpPr txBox="1"/>
          <p:nvPr/>
        </p:nvSpPr>
        <p:spPr>
          <a:xfrm>
            <a:off x="91440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Schema plus 26 migrations</a:t>
            </a:r>
            <a:endParaRPr lang="en-US" sz="1250" dirty="0"/>
          </a:p>
        </p:txBody>
      </p:sp>
      <p:sp>
        <p:nvSpPr>
          <p:cNvPr id="23" name="Shape 20"/>
          <p:cNvSpPr/>
          <p:nvPr/>
        </p:nvSpPr>
        <p:spPr>
          <a:xfrm>
            <a:off x="432054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459486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41</a:t>
            </a:r>
            <a:endParaRPr lang="en-US" sz="4400" dirty="0"/>
          </a:p>
        </p:txBody>
      </p:sp>
      <p:sp>
        <p:nvSpPr>
          <p:cNvPr id="25" name="Text 22"/>
          <p:cNvSpPr txBox="1"/>
          <p:nvPr/>
        </p:nvSpPr>
        <p:spPr>
          <a:xfrm>
            <a:off x="459486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database tables</a:t>
            </a:r>
            <a:endParaRPr lang="en-US" sz="1600" dirty="0"/>
          </a:p>
        </p:txBody>
      </p:sp>
      <p:sp>
        <p:nvSpPr>
          <p:cNvPr id="26" name="Text 23"/>
          <p:cNvSpPr txBox="1"/>
          <p:nvPr/>
        </p:nvSpPr>
        <p:spPr>
          <a:xfrm>
            <a:off x="459486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All with row-level security</a:t>
            </a:r>
            <a:endParaRPr lang="en-US" sz="1250" dirty="0"/>
          </a:p>
        </p:txBody>
      </p:sp>
      <p:sp>
        <p:nvSpPr>
          <p:cNvPr id="27" name="Shape 24"/>
          <p:cNvSpPr/>
          <p:nvPr/>
        </p:nvSpPr>
        <p:spPr>
          <a:xfrm>
            <a:off x="800100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Text 25"/>
          <p:cNvSpPr txBox="1"/>
          <p:nvPr/>
        </p:nvSpPr>
        <p:spPr>
          <a:xfrm>
            <a:off x="827532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1,700+</a:t>
            </a:r>
            <a:endParaRPr lang="en-US" sz="4400" dirty="0"/>
          </a:p>
        </p:txBody>
      </p:sp>
      <p:sp>
        <p:nvSpPr>
          <p:cNvPr id="29" name="Text 26"/>
          <p:cNvSpPr txBox="1"/>
          <p:nvPr/>
        </p:nvSpPr>
        <p:spPr>
          <a:xfrm>
            <a:off x="827532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strings × 2 languages</a:t>
            </a:r>
            <a:endParaRPr lang="en-US" sz="1600" dirty="0"/>
          </a:p>
        </p:txBody>
      </p:sp>
      <p:sp>
        <p:nvSpPr>
          <p:cNvPr id="30" name="Text 27"/>
          <p:cNvSpPr txBox="1"/>
          <p:nvPr/>
        </p:nvSpPr>
        <p:spPr>
          <a:xfrm>
            <a:off x="827532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English and Bahasa Indonesia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END RESULTS · LATEST</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Newest features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22 / 24</a:t>
            </a:r>
            <a:endParaRPr lang="en-US" sz="1100" dirty="0"/>
          </a:p>
        </p:txBody>
      </p:sp>
      <p:sp>
        <p:nvSpPr>
          <p:cNvPr id="7" name="Shape 4"/>
          <p:cNvSpPr/>
          <p:nvPr/>
        </p:nvSpPr>
        <p:spPr>
          <a:xfrm>
            <a:off x="640080" y="178308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22960" y="1938528"/>
            <a:ext cx="603504" cy="603504"/>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967801" y="2083369"/>
            <a:ext cx="313822" cy="313822"/>
          </a:xfrm>
          <a:prstGeom prst="rect">
            <a:avLst/>
          </a:prstGeom>
        </p:spPr>
      </p:pic>
      <p:sp>
        <p:nvSpPr>
          <p:cNvPr id="10" name="Text 6"/>
          <p:cNvSpPr txBox="1"/>
          <p:nvPr/>
        </p:nvSpPr>
        <p:spPr>
          <a:xfrm>
            <a:off x="1645920" y="189280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Waiting list &amp; alerts</a:t>
            </a:r>
            <a:endParaRPr lang="en-US" sz="1550" dirty="0"/>
          </a:p>
        </p:txBody>
      </p:sp>
      <p:sp>
        <p:nvSpPr>
          <p:cNvPr id="11" name="Text 7"/>
          <p:cNvSpPr txBox="1"/>
          <p:nvPr/>
        </p:nvSpPr>
        <p:spPr>
          <a:xfrm>
            <a:off x="1645920" y="221284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Full activities keep a waiting list that moves up by itself. Alerts for new activities in your hobbies and groups.</a:t>
            </a:r>
            <a:endParaRPr lang="en-US" sz="1200" dirty="0"/>
          </a:p>
        </p:txBody>
      </p:sp>
      <p:sp>
        <p:nvSpPr>
          <p:cNvPr id="12" name="Shape 8"/>
          <p:cNvSpPr/>
          <p:nvPr/>
        </p:nvSpPr>
        <p:spPr>
          <a:xfrm>
            <a:off x="640080" y="283464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822960" y="2990088"/>
            <a:ext cx="603504" cy="603504"/>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967801" y="3134929"/>
            <a:ext cx="313822" cy="313822"/>
          </a:xfrm>
          <a:prstGeom prst="rect">
            <a:avLst/>
          </a:prstGeom>
        </p:spPr>
      </p:pic>
      <p:sp>
        <p:nvSpPr>
          <p:cNvPr id="15" name="Text 10"/>
          <p:cNvSpPr txBox="1"/>
          <p:nvPr/>
        </p:nvSpPr>
        <p:spPr>
          <a:xfrm>
            <a:off x="1645920" y="294436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Check-in &amp; ratings</a:t>
            </a:r>
            <a:endParaRPr lang="en-US" sz="1550" dirty="0"/>
          </a:p>
        </p:txBody>
      </p:sp>
      <p:sp>
        <p:nvSpPr>
          <p:cNvPr id="16" name="Text 11"/>
          <p:cNvSpPr txBox="1"/>
          <p:nvPr/>
        </p:nvSpPr>
        <p:spPr>
          <a:xfrm>
            <a:off x="1645920" y="326440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Organizers show a QR code at the venue; people who came rate the activity, which builds the organizer's score.</a:t>
            </a:r>
            <a:endParaRPr lang="en-US" sz="1200" dirty="0"/>
          </a:p>
        </p:txBody>
      </p:sp>
      <p:sp>
        <p:nvSpPr>
          <p:cNvPr id="17" name="Shape 12"/>
          <p:cNvSpPr/>
          <p:nvPr/>
        </p:nvSpPr>
        <p:spPr>
          <a:xfrm>
            <a:off x="640080" y="388620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22960" y="4041648"/>
            <a:ext cx="603504" cy="603504"/>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967801" y="4186489"/>
            <a:ext cx="313822" cy="313822"/>
          </a:xfrm>
          <a:prstGeom prst="rect">
            <a:avLst/>
          </a:prstGeom>
        </p:spPr>
      </p:pic>
      <p:sp>
        <p:nvSpPr>
          <p:cNvPr id="20" name="Text 14"/>
          <p:cNvSpPr txBox="1"/>
          <p:nvPr/>
        </p:nvSpPr>
        <p:spPr>
          <a:xfrm>
            <a:off x="1645920" y="399592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Reminders &amp; push</a:t>
            </a:r>
            <a:endParaRPr lang="en-US" sz="1550" dirty="0"/>
          </a:p>
        </p:txBody>
      </p:sp>
      <p:sp>
        <p:nvSpPr>
          <p:cNvPr id="21" name="Text 15"/>
          <p:cNvSpPr txBox="1"/>
          <p:nvPr/>
        </p:nvSpPr>
        <p:spPr>
          <a:xfrm>
            <a:off x="1645920" y="431596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A reminder the day before and a "How was it?" prompt after, by email and phone notification.</a:t>
            </a:r>
            <a:endParaRPr lang="en-US" sz="1200" dirty="0"/>
          </a:p>
        </p:txBody>
      </p:sp>
      <p:sp>
        <p:nvSpPr>
          <p:cNvPr id="22" name="Shape 16"/>
          <p:cNvSpPr/>
          <p:nvPr/>
        </p:nvSpPr>
        <p:spPr>
          <a:xfrm>
            <a:off x="640080" y="493776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822960" y="5093208"/>
            <a:ext cx="603504" cy="603504"/>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967801" y="5238049"/>
            <a:ext cx="313822" cy="313822"/>
          </a:xfrm>
          <a:prstGeom prst="rect">
            <a:avLst/>
          </a:prstGeom>
        </p:spPr>
      </p:pic>
      <p:sp>
        <p:nvSpPr>
          <p:cNvPr id="25" name="Text 18"/>
          <p:cNvSpPr txBox="1"/>
          <p:nvPr/>
        </p:nvSpPr>
        <p:spPr>
          <a:xfrm>
            <a:off x="1645920" y="504748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Organizer tools</a:t>
            </a:r>
            <a:endParaRPr lang="en-US" sz="1550" dirty="0"/>
          </a:p>
        </p:txBody>
      </p:sp>
      <p:sp>
        <p:nvSpPr>
          <p:cNvPr id="26" name="Text 19"/>
          <p:cNvSpPr txBox="1"/>
          <p:nvPr/>
        </p:nvSpPr>
        <p:spPr>
          <a:xfrm>
            <a:off x="1645920" y="536752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Duplicate, edit a weekly series at once, export to CSV, a big-screen QR, friends going and a calendar feed.</a:t>
            </a:r>
            <a:endParaRPr lang="en-US" sz="1200" dirty="0"/>
          </a:p>
        </p:txBody>
      </p:sp>
      <p:sp>
        <p:nvSpPr>
          <p:cNvPr id="27" name="Shape 20"/>
          <p:cNvSpPr/>
          <p:nvPr/>
        </p:nvSpPr>
        <p:spPr>
          <a:xfrm>
            <a:off x="8001000" y="1783080"/>
            <a:ext cx="3520440" cy="4069080"/>
          </a:xfrm>
          <a:prstGeom prst="roundRect">
            <a:avLst>
              <a:gd name="adj" fmla="val 519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28" name="Image 5" descr="preencoded.png">    </p:cNvPr>
          <p:cNvPicPr>
            <a:picLocks noChangeAspect="1"/>
          </p:cNvPicPr>
          <p:nvPr/>
        </p:nvPicPr>
        <p:blipFill>
          <a:blip r:embed="rId6"/>
          <a:stretch>
            <a:fillRect/>
          </a:stretch>
        </p:blipFill>
        <p:spPr>
          <a:xfrm>
            <a:off x="8503920" y="2148840"/>
            <a:ext cx="2514600" cy="2514600"/>
          </a:xfrm>
          <a:prstGeom prst="rect">
            <a:avLst/>
          </a:prstGeom>
        </p:spPr>
      </p:pic>
      <p:sp>
        <p:nvSpPr>
          <p:cNvPr id="29" name="Text 21"/>
          <p:cNvSpPr txBox="1"/>
          <p:nvPr/>
        </p:nvSpPr>
        <p:spPr>
          <a:xfrm>
            <a:off x="8001000" y="4846320"/>
            <a:ext cx="3520440" cy="365760"/>
          </a:xfrm>
          <a:prstGeom prst="rect">
            <a:avLst/>
          </a:prstGeom>
          <a:noFill/>
          <a:ln/>
        </p:spPr>
        <p:txBody>
          <a:bodyPr wrap="square" lIns="0" tIns="0" rIns="0" bIns="0" rtlCol="0" anchor="ctr"/>
          <a:lstStyle/>
          <a:p>
            <a:pPr algn="ctr" indent="0" marL="0">
              <a:buNone/>
            </a:pPr>
            <a:r>
              <a:rPr lang="en-US" sz="1700" b="1" dirty="0">
                <a:solidFill>
                  <a:srgbClr val="292524"/>
                </a:solidFill>
                <a:latin typeface="Arial" pitchFamily="34" charset="0"/>
                <a:ea typeface="Arial" pitchFamily="34" charset="-122"/>
                <a:cs typeface="Arial" pitchFamily="34" charset="-120"/>
              </a:rPr>
              <a:t>Try it now</a:t>
            </a:r>
            <a:endParaRPr lang="en-US" sz="1700" dirty="0"/>
          </a:p>
        </p:txBody>
      </p:sp>
      <p:sp>
        <p:nvSpPr>
          <p:cNvPr id="30" name="Text 22"/>
          <p:cNvSpPr txBox="1"/>
          <p:nvPr/>
        </p:nvSpPr>
        <p:spPr>
          <a:xfrm>
            <a:off x="8001000" y="5212080"/>
            <a:ext cx="3520440" cy="320040"/>
          </a:xfrm>
          <a:prstGeom prst="rect">
            <a:avLst/>
          </a:prstGeom>
          <a:noFill/>
          <a:ln/>
        </p:spPr>
        <p:txBody>
          <a:bodyPr wrap="square" lIns="0" tIns="0" rIns="0" bIns="0" rtlCol="0" anchor="ctr"/>
          <a:lstStyle/>
          <a:p>
            <a:pPr algn="ctr" indent="0" marL="0">
              <a:buNone/>
            </a:pPr>
            <a:r>
              <a:rPr lang="en-US" sz="1300" dirty="0">
                <a:solidFill>
                  <a:srgbClr val="C2410C"/>
                </a:solidFill>
                <a:latin typeface="Arial" pitchFamily="34" charset="0"/>
                <a:ea typeface="Arial" pitchFamily="34" charset="-122"/>
                <a:cs typeface="Arial" pitchFamily="34" charset="-120"/>
              </a:rPr>
              <a:t>komunitasa.vercel.app</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WHAT'S NEXT</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Known gaps and next steps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Capstone Project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23 / 24</a:t>
            </a:r>
            <a:endParaRPr lang="en-US" sz="1100" dirty="0"/>
          </a:p>
        </p:txBody>
      </p:sp>
      <p:sp>
        <p:nvSpPr>
          <p:cNvPr id="7" name="Shape 4"/>
          <p:cNvSpPr/>
          <p:nvPr/>
        </p:nvSpPr>
        <p:spPr>
          <a:xfrm>
            <a:off x="640080" y="182880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868680" y="205740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1</a:t>
            </a:r>
            <a:endParaRPr lang="en-US" sz="3000" dirty="0"/>
          </a:p>
        </p:txBody>
      </p:sp>
      <p:sp>
        <p:nvSpPr>
          <p:cNvPr id="9" name="Text 6"/>
          <p:cNvSpPr txBox="1"/>
          <p:nvPr/>
        </p:nvSpPr>
        <p:spPr>
          <a:xfrm>
            <a:off x="1463040" y="201168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Stronger second factor</a:t>
            </a:r>
            <a:endParaRPr lang="en-US" sz="1600" dirty="0"/>
          </a:p>
        </p:txBody>
      </p:sp>
      <p:sp>
        <p:nvSpPr>
          <p:cNvPr id="10" name="Text 7"/>
          <p:cNvSpPr txBox="1"/>
          <p:nvPr/>
        </p:nvSpPr>
        <p:spPr>
          <a:xfrm>
            <a:off x="1463040" y="235915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Move the email-code step into a server-side login endpoint, or use Supabase MFA.</a:t>
            </a:r>
            <a:endParaRPr lang="en-US" sz="1250" dirty="0"/>
          </a:p>
        </p:txBody>
      </p:sp>
      <p:sp>
        <p:nvSpPr>
          <p:cNvPr id="11" name="Shape 8"/>
          <p:cNvSpPr/>
          <p:nvPr/>
        </p:nvSpPr>
        <p:spPr>
          <a:xfrm>
            <a:off x="6217920" y="182880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6446520" y="205740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2</a:t>
            </a:r>
            <a:endParaRPr lang="en-US" sz="3000" dirty="0"/>
          </a:p>
        </p:txBody>
      </p:sp>
      <p:sp>
        <p:nvSpPr>
          <p:cNvPr id="13" name="Text 10"/>
          <p:cNvSpPr txBox="1"/>
          <p:nvPr/>
        </p:nvSpPr>
        <p:spPr>
          <a:xfrm>
            <a:off x="7040880" y="201168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Scheduled reports</a:t>
            </a:r>
            <a:endParaRPr lang="en-US" sz="1600" dirty="0"/>
          </a:p>
        </p:txBody>
      </p:sp>
      <p:sp>
        <p:nvSpPr>
          <p:cNvPr id="14" name="Text 11"/>
          <p:cNvSpPr txBox="1"/>
          <p:nvPr/>
        </p:nvSpPr>
        <p:spPr>
          <a:xfrm>
            <a:off x="7040880" y="235915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The scheduler now runs reminders; weekly admin emails can build on it.</a:t>
            </a:r>
            <a:endParaRPr lang="en-US" sz="1250" dirty="0"/>
          </a:p>
        </p:txBody>
      </p:sp>
      <p:sp>
        <p:nvSpPr>
          <p:cNvPr id="15" name="Shape 12"/>
          <p:cNvSpPr/>
          <p:nvPr/>
        </p:nvSpPr>
        <p:spPr>
          <a:xfrm>
            <a:off x="640080" y="315468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868680" y="338328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3</a:t>
            </a:r>
            <a:endParaRPr lang="en-US" sz="3000" dirty="0"/>
          </a:p>
        </p:txBody>
      </p:sp>
      <p:sp>
        <p:nvSpPr>
          <p:cNvPr id="17" name="Text 14"/>
          <p:cNvSpPr txBox="1"/>
          <p:nvPr/>
        </p:nvSpPr>
        <p:spPr>
          <a:xfrm>
            <a:off x="1463040" y="333756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Payments</a:t>
            </a:r>
            <a:endParaRPr lang="en-US" sz="1600" dirty="0"/>
          </a:p>
        </p:txBody>
      </p:sp>
      <p:sp>
        <p:nvSpPr>
          <p:cNvPr id="18" name="Text 15"/>
          <p:cNvSpPr txBox="1"/>
          <p:nvPr/>
        </p:nvSpPr>
        <p:spPr>
          <a:xfrm>
            <a:off x="1463040" y="368503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Paid activities are settled outside the app today; in-app payment comes later.</a:t>
            </a:r>
            <a:endParaRPr lang="en-US" sz="1250" dirty="0"/>
          </a:p>
        </p:txBody>
      </p:sp>
      <p:sp>
        <p:nvSpPr>
          <p:cNvPr id="19" name="Shape 16"/>
          <p:cNvSpPr/>
          <p:nvPr/>
        </p:nvSpPr>
        <p:spPr>
          <a:xfrm>
            <a:off x="6217920" y="315468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6446520" y="338328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4</a:t>
            </a:r>
            <a:endParaRPr lang="en-US" sz="3000" dirty="0"/>
          </a:p>
        </p:txBody>
      </p:sp>
      <p:sp>
        <p:nvSpPr>
          <p:cNvPr id="21" name="Text 18"/>
          <p:cNvSpPr txBox="1"/>
          <p:nvPr/>
        </p:nvSpPr>
        <p:spPr>
          <a:xfrm>
            <a:off x="7040880" y="333756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Full account deletion</a:t>
            </a:r>
            <a:endParaRPr lang="en-US" sz="1600" dirty="0"/>
          </a:p>
        </p:txBody>
      </p:sp>
      <p:sp>
        <p:nvSpPr>
          <p:cNvPr id="22" name="Text 19"/>
          <p:cNvSpPr txBox="1"/>
          <p:nvPr/>
        </p:nvSpPr>
        <p:spPr>
          <a:xfrm>
            <a:off x="7040880" y="368503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Anonymizing works today; removing the login needs a server-side step.</a:t>
            </a:r>
            <a:endParaRPr lang="en-US" sz="1250" dirty="0"/>
          </a:p>
        </p:txBody>
      </p:sp>
      <p:sp>
        <p:nvSpPr>
          <p:cNvPr id="23" name="Shape 20"/>
          <p:cNvSpPr/>
          <p:nvPr/>
        </p:nvSpPr>
        <p:spPr>
          <a:xfrm>
            <a:off x="640080" y="448056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868680" y="470916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5</a:t>
            </a:r>
            <a:endParaRPr lang="en-US" sz="3000" dirty="0"/>
          </a:p>
        </p:txBody>
      </p:sp>
      <p:sp>
        <p:nvSpPr>
          <p:cNvPr id="25" name="Text 22"/>
          <p:cNvSpPr txBox="1"/>
          <p:nvPr/>
        </p:nvSpPr>
        <p:spPr>
          <a:xfrm>
            <a:off x="1463040" y="466344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Big exports</a:t>
            </a:r>
            <a:endParaRPr lang="en-US" sz="1600" dirty="0"/>
          </a:p>
        </p:txBody>
      </p:sp>
      <p:sp>
        <p:nvSpPr>
          <p:cNvPr id="26" name="Text 23"/>
          <p:cNvSpPr txBox="1"/>
          <p:nvPr/>
        </p:nvSpPr>
        <p:spPr>
          <a:xfrm>
            <a:off x="1463040" y="501091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Exports run in the browser and cap at 10,000 rows per dataset.</a:t>
            </a:r>
            <a:endParaRPr lang="en-US" sz="1250" dirty="0"/>
          </a:p>
        </p:txBody>
      </p:sp>
      <p:sp>
        <p:nvSpPr>
          <p:cNvPr id="27" name="Shape 24"/>
          <p:cNvSpPr/>
          <p:nvPr/>
        </p:nvSpPr>
        <p:spPr>
          <a:xfrm>
            <a:off x="6217920" y="448056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Text 25"/>
          <p:cNvSpPr txBox="1"/>
          <p:nvPr/>
        </p:nvSpPr>
        <p:spPr>
          <a:xfrm>
            <a:off x="6446520" y="470916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6</a:t>
            </a:r>
            <a:endParaRPr lang="en-US" sz="3000" dirty="0"/>
          </a:p>
        </p:txBody>
      </p:sp>
      <p:sp>
        <p:nvSpPr>
          <p:cNvPr id="29" name="Text 26"/>
          <p:cNvSpPr txBox="1"/>
          <p:nvPr/>
        </p:nvSpPr>
        <p:spPr>
          <a:xfrm>
            <a:off x="7040880" y="466344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Group chat &amp; photos</a:t>
            </a:r>
            <a:endParaRPr lang="en-US" sz="1600" dirty="0"/>
          </a:p>
        </p:txBody>
      </p:sp>
      <p:sp>
        <p:nvSpPr>
          <p:cNvPr id="30" name="Text 27"/>
          <p:cNvSpPr txBox="1"/>
          <p:nvPr/>
        </p:nvSpPr>
        <p:spPr>
          <a:xfrm>
            <a:off x="7040880" y="501091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 chat per activity and shared photo albums after it.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547208" y="1097280"/>
            <a:ext cx="1097280" cy="1097280"/>
          </a:xfrm>
          <a:prstGeom prst="rect">
            <a:avLst/>
          </a:prstGeom>
        </p:spPr>
      </p:pic>
      <p:sp>
        <p:nvSpPr>
          <p:cNvPr id="3" name="Text 0"/>
          <p:cNvSpPr txBox="1"/>
          <p:nvPr/>
        </p:nvSpPr>
        <p:spPr>
          <a:xfrm>
            <a:off x="640080" y="2468880"/>
            <a:ext cx="10911535" cy="914400"/>
          </a:xfrm>
          <a:prstGeom prst="rect">
            <a:avLst/>
          </a:prstGeom>
          <a:noFill/>
          <a:ln/>
        </p:spPr>
        <p:txBody>
          <a:bodyPr wrap="square" lIns="0" tIns="0" rIns="0" bIns="0" rtlCol="0" anchor="ctr"/>
          <a:lstStyle/>
          <a:p>
            <a:pPr algn="ctr" indent="0" marL="0">
              <a:buNone/>
            </a:pPr>
            <a:r>
              <a:rPr lang="en-US" sz="5400" b="1" dirty="0">
                <a:solidFill>
                  <a:srgbClr val="FFF8ED"/>
                </a:solidFill>
                <a:latin typeface="Arial" pitchFamily="34" charset="0"/>
                <a:ea typeface="Arial" pitchFamily="34" charset="-122"/>
                <a:cs typeface="Arial" pitchFamily="34" charset="-120"/>
              </a:rPr>
              <a:t>Thank you</a:t>
            </a:r>
            <a:endParaRPr lang="en-US" sz="5400" dirty="0"/>
          </a:p>
        </p:txBody>
      </p:sp>
      <p:sp>
        <p:nvSpPr>
          <p:cNvPr id="4" name="Text 1"/>
          <p:cNvSpPr txBox="1"/>
          <p:nvPr/>
        </p:nvSpPr>
        <p:spPr>
          <a:xfrm>
            <a:off x="640080" y="3383280"/>
            <a:ext cx="10911535" cy="548640"/>
          </a:xfrm>
          <a:prstGeom prst="rect">
            <a:avLst/>
          </a:prstGeom>
          <a:noFill/>
          <a:ln/>
        </p:spPr>
        <p:txBody>
          <a:bodyPr wrap="square" lIns="0" tIns="0" rIns="0" bIns="0" rtlCol="0" anchor="ctr"/>
          <a:lstStyle/>
          <a:p>
            <a:pPr algn="ctr" indent="0" marL="0">
              <a:buNone/>
            </a:pPr>
            <a:r>
              <a:rPr lang="en-US" sz="2200" dirty="0">
                <a:solidFill>
                  <a:srgbClr val="FED7AA"/>
                </a:solidFill>
                <a:latin typeface="Arial" pitchFamily="34" charset="0"/>
                <a:ea typeface="Arial" pitchFamily="34" charset="-122"/>
                <a:cs typeface="Arial" pitchFamily="34" charset="-120"/>
              </a:rPr>
              <a:t>Find activities. Meet people. Build community.</a:t>
            </a:r>
            <a:endParaRPr lang="en-US" sz="2200" dirty="0"/>
          </a:p>
        </p:txBody>
      </p:sp>
      <p:sp>
        <p:nvSpPr>
          <p:cNvPr id="5" name="Shape 2"/>
          <p:cNvSpPr/>
          <p:nvPr/>
        </p:nvSpPr>
        <p:spPr>
          <a:xfrm>
            <a:off x="3718408" y="4343400"/>
            <a:ext cx="4754880" cy="685800"/>
          </a:xfrm>
          <a:prstGeom prst="roundRect">
            <a:avLst>
              <a:gd name="adj" fmla="val 50000"/>
            </a:avLst>
          </a:prstGeom>
          <a:solidFill>
            <a:srgbClr val="FFF8ED"/>
          </a:solidFill>
          <a:ln/>
        </p:spPr>
      </p:sp>
      <p:sp>
        <p:nvSpPr>
          <p:cNvPr id="6" name="Text 3"/>
          <p:cNvSpPr txBox="1"/>
          <p:nvPr/>
        </p:nvSpPr>
        <p:spPr>
          <a:xfrm>
            <a:off x="3718408" y="4343400"/>
            <a:ext cx="4754880" cy="685800"/>
          </a:xfrm>
          <a:prstGeom prst="rect">
            <a:avLst/>
          </a:prstGeom>
          <a:noFill/>
          <a:ln/>
        </p:spPr>
        <p:txBody>
          <a:bodyPr wrap="square" lIns="0" tIns="0" rIns="0" bIns="0" rtlCol="0" anchor="ctr"/>
          <a:lstStyle/>
          <a:p>
            <a:pPr algn="ctr" indent="0" marL="0">
              <a:buNone/>
            </a:pPr>
            <a:r>
              <a:rPr lang="en-US" sz="2400" b="1" dirty="0">
                <a:solidFill>
                  <a:srgbClr val="C2410C"/>
                </a:solidFill>
                <a:latin typeface="Arial" pitchFamily="34" charset="0"/>
                <a:ea typeface="Arial" pitchFamily="34" charset="-122"/>
                <a:cs typeface="Arial" pitchFamily="34" charset="-120"/>
              </a:rPr>
              <a:t>komunitasa.vercel.app</a:t>
            </a:r>
            <a:endParaRPr lang="en-US" sz="2400" dirty="0"/>
          </a:p>
        </p:txBody>
      </p:sp>
      <p:sp>
        <p:nvSpPr>
          <p:cNvPr id="7" name="Text 4"/>
          <p:cNvSpPr txBox="1"/>
          <p:nvPr/>
        </p:nvSpPr>
        <p:spPr>
          <a:xfrm>
            <a:off x="640080" y="5760720"/>
            <a:ext cx="10911535" cy="365760"/>
          </a:xfrm>
          <a:prstGeom prst="rect">
            <a:avLst/>
          </a:prstGeom>
          <a:noFill/>
          <a:ln/>
        </p:spPr>
        <p:txBody>
          <a:bodyPr wrap="square" lIns="0" tIns="0" rIns="0" bIns="0" rtlCol="0" anchor="ctr"/>
          <a:lstStyle/>
          <a:p>
            <a:pPr algn="ctr" indent="0" marL="0">
              <a:buNone/>
            </a:pPr>
            <a:r>
              <a:rPr lang="en-US" sz="1500" b="1" dirty="0">
                <a:solidFill>
                  <a:srgbClr val="FED7AA"/>
                </a:solidFill>
                <a:latin typeface="Arial" pitchFamily="34" charset="0"/>
                <a:ea typeface="Arial" pitchFamily="34" charset="-122"/>
                <a:cs typeface="Arial" pitchFamily="34" charset="-120"/>
              </a:rPr>
              <a:t>A Team · Capstone Project · Universitas Terbuka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Komunitas: Project Overview</dc:title>
  <dc:subject>PptxGenJS Presentation</dc:subject>
  <dc:creator>A Team</dc:creator>
  <cp:lastModifiedBy>A Team</cp:lastModifiedBy>
  <cp:revision>1</cp:revision>
  <dcterms:created xsi:type="dcterms:W3CDTF">2026-10-03T09:47:47Z</dcterms:created>
  <dcterms:modified xsi:type="dcterms:W3CDTF">2026-10-03T09:47:47Z</dcterms:modified>
</cp:coreProperties>
</file>